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7556500" cy="10693400"/>
  <p:notesSz cx="7556500" cy="10693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13231" y="2872740"/>
            <a:ext cx="2752725" cy="0"/>
          </a:xfrm>
          <a:custGeom>
            <a:avLst/>
            <a:gdLst/>
            <a:ahLst/>
            <a:cxnLst/>
            <a:rect l="l" t="t" r="r" b="b"/>
            <a:pathLst>
              <a:path w="2752725" h="0">
                <a:moveTo>
                  <a:pt x="0" y="0"/>
                </a:moveTo>
                <a:lnTo>
                  <a:pt x="2752343" y="0"/>
                </a:lnTo>
              </a:path>
            </a:pathLst>
          </a:custGeom>
          <a:ln w="4572">
            <a:solidFill>
              <a:srgbClr val="073472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703575" y="2046732"/>
            <a:ext cx="925067" cy="106984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Relationship Id="rId3" Type="http://schemas.openxmlformats.org/officeDocument/2006/relationships/image" Target="../media/image1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Relationship Id="rId10" Type="http://schemas.openxmlformats.org/officeDocument/2006/relationships/image" Target="../media/image9.jpg"/><Relationship Id="rId11" Type="http://schemas.openxmlformats.org/officeDocument/2006/relationships/image" Target="../media/image10.jpg"/><Relationship Id="rId12" Type="http://schemas.openxmlformats.org/officeDocument/2006/relationships/image" Target="../media/image11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Relationship Id="rId4" Type="http://schemas.openxmlformats.org/officeDocument/2006/relationships/image" Target="../media/image14.jpg"/><Relationship Id="rId5" Type="http://schemas.openxmlformats.org/officeDocument/2006/relationships/image" Target="../media/image15.jpg"/><Relationship Id="rId6" Type="http://schemas.openxmlformats.org/officeDocument/2006/relationships/image" Target="../media/image8.jpg"/><Relationship Id="rId7" Type="http://schemas.openxmlformats.org/officeDocument/2006/relationships/image" Target="../media/image16.jpg"/><Relationship Id="rId8" Type="http://schemas.openxmlformats.org/officeDocument/2006/relationships/image" Target="../media/image17.jpg"/><Relationship Id="rId9" Type="http://schemas.openxmlformats.org/officeDocument/2006/relationships/image" Target="../media/image18.jpg"/><Relationship Id="rId10" Type="http://schemas.openxmlformats.org/officeDocument/2006/relationships/image" Target="../media/image19.jpg"/><Relationship Id="rId11" Type="http://schemas.openxmlformats.org/officeDocument/2006/relationships/image" Target="../media/image20.png"/><Relationship Id="rId12" Type="http://schemas.openxmlformats.org/officeDocument/2006/relationships/image" Target="../media/image21.jpg"/><Relationship Id="rId13" Type="http://schemas.openxmlformats.org/officeDocument/2006/relationships/image" Target="../media/image5.jpg"/><Relationship Id="rId14" Type="http://schemas.openxmlformats.org/officeDocument/2006/relationships/image" Target="../media/image6.jpg"/><Relationship Id="rId15" Type="http://schemas.openxmlformats.org/officeDocument/2006/relationships/image" Target="../media/image22.jpg"/><Relationship Id="rId16" Type="http://schemas.openxmlformats.org/officeDocument/2006/relationships/image" Target="../media/image23.jpg"/><Relationship Id="rId17" Type="http://schemas.openxmlformats.org/officeDocument/2006/relationships/image" Target="../media/image24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.jpg"/><Relationship Id="rId3" Type="http://schemas.openxmlformats.org/officeDocument/2006/relationships/image" Target="../media/image23.jpg"/><Relationship Id="rId4" Type="http://schemas.openxmlformats.org/officeDocument/2006/relationships/image" Target="../media/image26.jpg"/><Relationship Id="rId5" Type="http://schemas.openxmlformats.org/officeDocument/2006/relationships/image" Target="../media/image27.jpg"/><Relationship Id="rId6" Type="http://schemas.openxmlformats.org/officeDocument/2006/relationships/image" Target="../media/image28.jpg"/><Relationship Id="rId7" Type="http://schemas.openxmlformats.org/officeDocument/2006/relationships/image" Target="../media/image29.jpg"/><Relationship Id="rId8" Type="http://schemas.openxmlformats.org/officeDocument/2006/relationships/image" Target="../media/image30.jpg"/><Relationship Id="rId9" Type="http://schemas.openxmlformats.org/officeDocument/2006/relationships/hyperlink" Target="https://pinout.xyz/)" TargetMode="External"/><Relationship Id="rId10" Type="http://schemas.openxmlformats.org/officeDocument/2006/relationships/image" Target="../media/image31.png"/><Relationship Id="rId11" Type="http://schemas.openxmlformats.org/officeDocument/2006/relationships/image" Target="../media/image32.jpg"/><Relationship Id="rId12" Type="http://schemas.openxmlformats.org/officeDocument/2006/relationships/image" Target="../media/image33.jpg"/><Relationship Id="rId13" Type="http://schemas.openxmlformats.org/officeDocument/2006/relationships/image" Target="../media/image34.jpg"/><Relationship Id="rId14" Type="http://schemas.openxmlformats.org/officeDocument/2006/relationships/image" Target="../media/image35.jpg"/><Relationship Id="rId15" Type="http://schemas.openxmlformats.org/officeDocument/2006/relationships/image" Target="../media/image36.jpg"/><Relationship Id="rId16" Type="http://schemas.openxmlformats.org/officeDocument/2006/relationships/image" Target="../media/image37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image" Target="../media/image22.jpg"/><Relationship Id="rId5" Type="http://schemas.openxmlformats.org/officeDocument/2006/relationships/image" Target="../media/image35.jpg"/><Relationship Id="rId6" Type="http://schemas.openxmlformats.org/officeDocument/2006/relationships/image" Target="../media/image38.jpg"/><Relationship Id="rId7" Type="http://schemas.openxmlformats.org/officeDocument/2006/relationships/image" Target="../media/image39.jpg"/><Relationship Id="rId8" Type="http://schemas.openxmlformats.org/officeDocument/2006/relationships/image" Target="../media/image40.jpg"/><Relationship Id="rId9" Type="http://schemas.openxmlformats.org/officeDocument/2006/relationships/image" Target="../media/image41.png"/><Relationship Id="rId10" Type="http://schemas.openxmlformats.org/officeDocument/2006/relationships/image" Target="../media/image42.jpg"/><Relationship Id="rId11" Type="http://schemas.openxmlformats.org/officeDocument/2006/relationships/image" Target="../media/image43.jpg"/><Relationship Id="rId12" Type="http://schemas.openxmlformats.org/officeDocument/2006/relationships/image" Target="../media/image44.jpg"/><Relationship Id="rId13" Type="http://schemas.openxmlformats.org/officeDocument/2006/relationships/image" Target="../media/image45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6.jp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image" Target="../media/image47.jpg"/><Relationship Id="rId6" Type="http://schemas.openxmlformats.org/officeDocument/2006/relationships/image" Target="../media/image48.jpg"/><Relationship Id="rId7" Type="http://schemas.openxmlformats.org/officeDocument/2006/relationships/image" Target="../media/image49.jpg"/><Relationship Id="rId8" Type="http://schemas.openxmlformats.org/officeDocument/2006/relationships/image" Target="../media/image50.png"/><Relationship Id="rId9" Type="http://schemas.openxmlformats.org/officeDocument/2006/relationships/image" Target="../media/image51.jpg"/><Relationship Id="rId10" Type="http://schemas.openxmlformats.org/officeDocument/2006/relationships/image" Target="../media/image52.jpg"/><Relationship Id="rId11" Type="http://schemas.openxmlformats.org/officeDocument/2006/relationships/image" Target="../media/image53.jpg"/><Relationship Id="rId12" Type="http://schemas.openxmlformats.org/officeDocument/2006/relationships/image" Target="../media/image54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5.jpg"/><Relationship Id="rId3" Type="http://schemas.openxmlformats.org/officeDocument/2006/relationships/image" Target="../media/image52.jpg"/><Relationship Id="rId4" Type="http://schemas.openxmlformats.org/officeDocument/2006/relationships/image" Target="../media/image56.jpg"/><Relationship Id="rId5" Type="http://schemas.openxmlformats.org/officeDocument/2006/relationships/image" Target="../media/image5.jpg"/><Relationship Id="rId6" Type="http://schemas.openxmlformats.org/officeDocument/2006/relationships/image" Target="../media/image6.jpg"/><Relationship Id="rId7" Type="http://schemas.openxmlformats.org/officeDocument/2006/relationships/image" Target="../media/image7.jpg"/><Relationship Id="rId8" Type="http://schemas.openxmlformats.org/officeDocument/2006/relationships/image" Target="../media/image57.png"/><Relationship Id="rId9" Type="http://schemas.openxmlformats.org/officeDocument/2006/relationships/image" Target="../media/image58.jpg"/><Relationship Id="rId10" Type="http://schemas.openxmlformats.org/officeDocument/2006/relationships/image" Target="../media/image4.jpg"/><Relationship Id="rId11" Type="http://schemas.openxmlformats.org/officeDocument/2006/relationships/image" Target="../media/image37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9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42160" y="1373124"/>
            <a:ext cx="1586483" cy="174345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34923" y="1379219"/>
            <a:ext cx="3086100" cy="1729739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wrap="square" lIns="0" tIns="6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1650">
              <a:latin typeface="Times New Roman"/>
              <a:cs typeface="Times New Roman"/>
            </a:endParaRPr>
          </a:p>
          <a:p>
            <a:pPr marL="182245" marR="1822450">
              <a:lnSpc>
                <a:spcPts val="1820"/>
              </a:lnSpc>
            </a:pPr>
            <a:r>
              <a:rPr dirty="0" sz="1650" b="1">
                <a:latin typeface="Calibri"/>
                <a:cs typeface="Calibri"/>
              </a:rPr>
              <a:t>Internet</a:t>
            </a:r>
            <a:r>
              <a:rPr dirty="0" sz="1650" spc="20" b="1">
                <a:latin typeface="Calibri"/>
                <a:cs typeface="Calibri"/>
              </a:rPr>
              <a:t> </a:t>
            </a:r>
            <a:r>
              <a:rPr dirty="0" sz="1650" spc="-25" b="1">
                <a:latin typeface="Calibri"/>
                <a:cs typeface="Calibri"/>
              </a:rPr>
              <a:t>das </a:t>
            </a:r>
            <a:r>
              <a:rPr dirty="0" sz="1650" spc="-10" b="1">
                <a:latin typeface="Calibri"/>
                <a:cs typeface="Calibri"/>
              </a:rPr>
              <a:t>Coisas</a:t>
            </a:r>
            <a:endParaRPr sz="1650">
              <a:latin typeface="Calibri"/>
              <a:cs typeface="Calibri"/>
            </a:endParaRPr>
          </a:p>
          <a:p>
            <a:pPr marL="182245" marR="1475740">
              <a:lnSpc>
                <a:spcPct val="91900"/>
              </a:lnSpc>
              <a:spcBef>
                <a:spcPts val="1700"/>
              </a:spcBef>
            </a:pPr>
            <a:r>
              <a:rPr dirty="0" sz="800" b="1">
                <a:latin typeface="Calibri"/>
                <a:cs typeface="Calibri"/>
              </a:rPr>
              <a:t>Aula</a:t>
            </a:r>
            <a:r>
              <a:rPr dirty="0" sz="800" spc="15" b="1">
                <a:latin typeface="Calibri"/>
                <a:cs typeface="Calibri"/>
              </a:rPr>
              <a:t> </a:t>
            </a:r>
            <a:r>
              <a:rPr dirty="0" sz="800" b="1">
                <a:latin typeface="Calibri"/>
                <a:cs typeface="Calibri"/>
              </a:rPr>
              <a:t>03:</a:t>
            </a:r>
            <a:r>
              <a:rPr dirty="0" sz="800" spc="30" b="1">
                <a:latin typeface="Calibri"/>
                <a:cs typeface="Calibri"/>
              </a:rPr>
              <a:t> </a:t>
            </a:r>
            <a:r>
              <a:rPr dirty="0" sz="800" b="1">
                <a:latin typeface="Calibri"/>
                <a:cs typeface="Calibri"/>
              </a:rPr>
              <a:t>Computação</a:t>
            </a:r>
            <a:r>
              <a:rPr dirty="0" sz="800" spc="15" b="1">
                <a:latin typeface="Calibri"/>
                <a:cs typeface="Calibri"/>
              </a:rPr>
              <a:t> </a:t>
            </a:r>
            <a:r>
              <a:rPr dirty="0" sz="800" b="1">
                <a:latin typeface="Calibri"/>
                <a:cs typeface="Calibri"/>
              </a:rPr>
              <a:t>em</a:t>
            </a:r>
            <a:r>
              <a:rPr dirty="0" sz="800" spc="25" b="1">
                <a:latin typeface="Calibri"/>
                <a:cs typeface="Calibri"/>
              </a:rPr>
              <a:t> </a:t>
            </a:r>
            <a:r>
              <a:rPr dirty="0" sz="800" spc="-10" b="1">
                <a:latin typeface="Calibri"/>
                <a:cs typeface="Calibri"/>
              </a:rPr>
              <a:t>nuvem,</a:t>
            </a:r>
            <a:r>
              <a:rPr dirty="0" sz="800" spc="500" b="1">
                <a:latin typeface="Calibri"/>
                <a:cs typeface="Calibri"/>
              </a:rPr>
              <a:t> </a:t>
            </a:r>
            <a:r>
              <a:rPr dirty="0" sz="800" b="1">
                <a:latin typeface="Calibri"/>
                <a:cs typeface="Calibri"/>
              </a:rPr>
              <a:t>tecnologia</a:t>
            </a:r>
            <a:r>
              <a:rPr dirty="0" sz="800" spc="10" b="1">
                <a:latin typeface="Calibri"/>
                <a:cs typeface="Calibri"/>
              </a:rPr>
              <a:t> </a:t>
            </a:r>
            <a:r>
              <a:rPr dirty="0" sz="800" b="1">
                <a:latin typeface="Calibri"/>
                <a:cs typeface="Calibri"/>
              </a:rPr>
              <a:t>e</a:t>
            </a:r>
            <a:r>
              <a:rPr dirty="0" sz="800" spc="5" b="1">
                <a:latin typeface="Calibri"/>
                <a:cs typeface="Calibri"/>
              </a:rPr>
              <a:t> </a:t>
            </a:r>
            <a:r>
              <a:rPr dirty="0" sz="800" b="1">
                <a:latin typeface="Calibri"/>
                <a:cs typeface="Calibri"/>
              </a:rPr>
              <a:t>gerenciamento</a:t>
            </a:r>
            <a:r>
              <a:rPr dirty="0" sz="800" spc="55" b="1">
                <a:latin typeface="Calibri"/>
                <a:cs typeface="Calibri"/>
              </a:rPr>
              <a:t> </a:t>
            </a:r>
            <a:r>
              <a:rPr dirty="0" sz="800" spc="-25" b="1">
                <a:latin typeface="Calibri"/>
                <a:cs typeface="Calibri"/>
              </a:rPr>
              <a:t>de</a:t>
            </a:r>
            <a:r>
              <a:rPr dirty="0" sz="800" spc="500" b="1">
                <a:latin typeface="Calibri"/>
                <a:cs typeface="Calibri"/>
              </a:rPr>
              <a:t> </a:t>
            </a:r>
            <a:r>
              <a:rPr dirty="0" sz="800" b="1">
                <a:latin typeface="Calibri"/>
                <a:cs typeface="Calibri"/>
              </a:rPr>
              <a:t>dados</a:t>
            </a:r>
            <a:r>
              <a:rPr dirty="0" sz="800" spc="15" b="1">
                <a:latin typeface="Calibri"/>
                <a:cs typeface="Calibri"/>
              </a:rPr>
              <a:t> </a:t>
            </a:r>
            <a:r>
              <a:rPr dirty="0" sz="800" spc="-25" b="1">
                <a:latin typeface="Calibri"/>
                <a:cs typeface="Calibri"/>
              </a:rPr>
              <a:t>IoT</a:t>
            </a:r>
            <a:endParaRPr sz="800">
              <a:latin typeface="Calibri"/>
              <a:cs typeface="Calibri"/>
            </a:endParaRPr>
          </a:p>
          <a:p>
            <a:pPr marL="182245">
              <a:lnSpc>
                <a:spcPct val="100000"/>
              </a:lnSpc>
              <a:spcBef>
                <a:spcPts val="545"/>
              </a:spcBef>
            </a:pPr>
            <a:r>
              <a:rPr dirty="0" sz="700" spc="-10">
                <a:latin typeface="Calibri"/>
                <a:cs typeface="Calibri"/>
              </a:rPr>
              <a:t>Prof.</a:t>
            </a:r>
            <a:r>
              <a:rPr dirty="0" sz="700" spc="-5">
                <a:latin typeface="Calibri"/>
                <a:cs typeface="Calibri"/>
              </a:rPr>
              <a:t> </a:t>
            </a:r>
            <a:r>
              <a:rPr dirty="0" sz="700" spc="-20">
                <a:latin typeface="Calibri"/>
                <a:cs typeface="Calibri"/>
              </a:rPr>
              <a:t>Dr.</a:t>
            </a:r>
            <a:r>
              <a:rPr dirty="0" sz="700" spc="-1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Renato Kazuo </a:t>
            </a:r>
            <a:r>
              <a:rPr dirty="0" sz="700" spc="-10">
                <a:latin typeface="Calibri"/>
                <a:cs typeface="Calibri"/>
              </a:rPr>
              <a:t>Miyamoto</a:t>
            </a:r>
            <a:endParaRPr sz="7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116323" y="2046732"/>
            <a:ext cx="2917190" cy="1069975"/>
            <a:chOff x="4116323" y="2046732"/>
            <a:chExt cx="2917190" cy="1069975"/>
          </a:xfrm>
        </p:grpSpPr>
        <p:sp>
          <p:nvSpPr>
            <p:cNvPr id="5" name="object 5"/>
            <p:cNvSpPr/>
            <p:nvPr/>
          </p:nvSpPr>
          <p:spPr>
            <a:xfrm>
              <a:off x="4116323" y="2872740"/>
              <a:ext cx="2752725" cy="0"/>
            </a:xfrm>
            <a:custGeom>
              <a:avLst/>
              <a:gdLst/>
              <a:ahLst/>
              <a:cxnLst/>
              <a:rect l="l" t="t" r="r" b="b"/>
              <a:pathLst>
                <a:path w="2752725" h="0">
                  <a:moveTo>
                    <a:pt x="0" y="0"/>
                  </a:moveTo>
                  <a:lnTo>
                    <a:pt x="2752343" y="0"/>
                  </a:lnTo>
                </a:path>
              </a:pathLst>
            </a:custGeom>
            <a:ln w="4572">
              <a:solidFill>
                <a:srgbClr val="07347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06667" y="2046732"/>
              <a:ext cx="926592" cy="1069847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3938015" y="1379219"/>
            <a:ext cx="3088005" cy="1729739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wrap="square" lIns="0" tIns="1778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40"/>
              </a:spcBef>
            </a:pPr>
            <a:endParaRPr sz="1000">
              <a:latin typeface="Times New Roman"/>
              <a:cs typeface="Times New Roman"/>
            </a:endParaRPr>
          </a:p>
          <a:p>
            <a:pPr marL="233045">
              <a:lnSpc>
                <a:spcPct val="100000"/>
              </a:lnSpc>
            </a:pPr>
            <a:r>
              <a:rPr dirty="0" sz="1000" spc="-10" b="1">
                <a:solidFill>
                  <a:srgbClr val="073472"/>
                </a:solidFill>
                <a:latin typeface="Calibri"/>
                <a:cs typeface="Calibri"/>
              </a:rPr>
              <a:t>Contextualização</a:t>
            </a:r>
            <a:endParaRPr sz="1000">
              <a:latin typeface="Calibri"/>
              <a:cs typeface="Calibri"/>
            </a:endParaRPr>
          </a:p>
          <a:p>
            <a:pPr algn="just" marL="233045" marR="463550">
              <a:lnSpc>
                <a:spcPct val="120600"/>
              </a:lnSpc>
              <a:spcBef>
                <a:spcPts val="440"/>
              </a:spcBef>
            </a:pP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A</a:t>
            </a:r>
            <a:r>
              <a:rPr dirty="0" sz="650" spc="38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computação</a:t>
            </a:r>
            <a:r>
              <a:rPr dirty="0" sz="650" spc="38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em</a:t>
            </a:r>
            <a:r>
              <a:rPr dirty="0" sz="650" spc="38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nuvem</a:t>
            </a:r>
            <a:r>
              <a:rPr dirty="0" sz="650" spc="39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refere-se</a:t>
            </a:r>
            <a:r>
              <a:rPr dirty="0" sz="650" spc="37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ao</a:t>
            </a:r>
            <a:r>
              <a:rPr dirty="0" sz="650" spc="39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uso</a:t>
            </a:r>
            <a:r>
              <a:rPr dirty="0" sz="650" spc="38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de</a:t>
            </a:r>
            <a:r>
              <a:rPr dirty="0" sz="650" spc="38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recursos</a:t>
            </a:r>
            <a:r>
              <a:rPr dirty="0" sz="650" spc="37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 spc="-25">
                <a:solidFill>
                  <a:srgbClr val="262626"/>
                </a:solidFill>
                <a:latin typeface="Calibri"/>
                <a:cs typeface="Calibri"/>
              </a:rPr>
              <a:t>de</a:t>
            </a:r>
            <a:r>
              <a:rPr dirty="0" sz="650" spc="50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computação</a:t>
            </a:r>
            <a:r>
              <a:rPr dirty="0" sz="650" spc="37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—</a:t>
            </a:r>
            <a:r>
              <a:rPr dirty="0" sz="650" spc="37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como</a:t>
            </a:r>
            <a:r>
              <a:rPr dirty="0" sz="650" spc="37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servidores,</a:t>
            </a:r>
            <a:r>
              <a:rPr dirty="0" sz="650" spc="37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armazenamento</a:t>
            </a:r>
            <a:r>
              <a:rPr dirty="0" sz="650" spc="39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e</a:t>
            </a:r>
            <a:r>
              <a:rPr dirty="0" sz="650" spc="36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redes</a:t>
            </a:r>
            <a:r>
              <a:rPr dirty="0" sz="650" spc="36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 spc="-50">
                <a:solidFill>
                  <a:srgbClr val="262626"/>
                </a:solidFill>
                <a:latin typeface="Calibri"/>
                <a:cs typeface="Calibri"/>
              </a:rPr>
              <a:t>—</a:t>
            </a:r>
            <a:r>
              <a:rPr dirty="0" sz="650" spc="50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oferecidos</a:t>
            </a:r>
            <a:r>
              <a:rPr dirty="0" sz="650" spc="180">
                <a:solidFill>
                  <a:srgbClr val="262626"/>
                </a:solidFill>
                <a:latin typeface="Calibri"/>
                <a:cs typeface="Calibri"/>
              </a:rPr>
              <a:t> 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por</a:t>
            </a:r>
            <a:r>
              <a:rPr dirty="0" sz="650" spc="190">
                <a:solidFill>
                  <a:srgbClr val="262626"/>
                </a:solidFill>
                <a:latin typeface="Calibri"/>
                <a:cs typeface="Calibri"/>
              </a:rPr>
              <a:t> 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provedores</a:t>
            </a:r>
            <a:r>
              <a:rPr dirty="0" sz="650" spc="175">
                <a:solidFill>
                  <a:srgbClr val="262626"/>
                </a:solidFill>
                <a:latin typeface="Calibri"/>
                <a:cs typeface="Calibri"/>
              </a:rPr>
              <a:t> 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de</a:t>
            </a:r>
            <a:r>
              <a:rPr dirty="0" sz="650" spc="49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serviços</a:t>
            </a:r>
            <a:r>
              <a:rPr dirty="0" sz="650" spc="185">
                <a:solidFill>
                  <a:srgbClr val="262626"/>
                </a:solidFill>
                <a:latin typeface="Calibri"/>
                <a:cs typeface="Calibri"/>
              </a:rPr>
              <a:t> 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pela</a:t>
            </a:r>
            <a:r>
              <a:rPr dirty="0" sz="650" spc="175">
                <a:solidFill>
                  <a:srgbClr val="262626"/>
                </a:solidFill>
                <a:latin typeface="Calibri"/>
                <a:cs typeface="Calibri"/>
              </a:rPr>
              <a:t> 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internet.</a:t>
            </a:r>
            <a:r>
              <a:rPr dirty="0" sz="650" spc="180">
                <a:solidFill>
                  <a:srgbClr val="262626"/>
                </a:solidFill>
                <a:latin typeface="Calibri"/>
                <a:cs typeface="Calibri"/>
              </a:rPr>
              <a:t>  </a:t>
            </a:r>
            <a:r>
              <a:rPr dirty="0" sz="650" spc="-20">
                <a:solidFill>
                  <a:srgbClr val="262626"/>
                </a:solidFill>
                <a:latin typeface="Calibri"/>
                <a:cs typeface="Calibri"/>
              </a:rPr>
              <a:t>Essa</a:t>
            </a:r>
            <a:r>
              <a:rPr dirty="0" sz="650" spc="50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tecnologia</a:t>
            </a:r>
            <a:r>
              <a:rPr dirty="0" sz="650" spc="10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permite</a:t>
            </a:r>
            <a:r>
              <a:rPr dirty="0" sz="650" spc="11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o</a:t>
            </a:r>
            <a:r>
              <a:rPr dirty="0" sz="650" spc="11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acesso</a:t>
            </a:r>
            <a:r>
              <a:rPr dirty="0" sz="650" spc="10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remoto</a:t>
            </a:r>
            <a:r>
              <a:rPr dirty="0" sz="650" spc="13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a</a:t>
            </a:r>
            <a:r>
              <a:rPr dirty="0" sz="650" spc="9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poderosos</a:t>
            </a:r>
            <a:r>
              <a:rPr dirty="0" sz="650" spc="12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centros</a:t>
            </a:r>
            <a:r>
              <a:rPr dirty="0" sz="650" spc="10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de</a:t>
            </a:r>
            <a:r>
              <a:rPr dirty="0" sz="650" spc="9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 spc="-20">
                <a:solidFill>
                  <a:srgbClr val="262626"/>
                </a:solidFill>
                <a:latin typeface="Calibri"/>
                <a:cs typeface="Calibri"/>
              </a:rPr>
              <a:t>dados</a:t>
            </a:r>
            <a:r>
              <a:rPr dirty="0" sz="650" spc="50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e</a:t>
            </a:r>
            <a:r>
              <a:rPr dirty="0" sz="650" spc="13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processamento,</a:t>
            </a:r>
            <a:r>
              <a:rPr dirty="0" sz="650" spc="13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sem</a:t>
            </a:r>
            <a:r>
              <a:rPr dirty="0" sz="650" spc="15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a</a:t>
            </a:r>
            <a:r>
              <a:rPr dirty="0" sz="650" spc="13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necessidade</a:t>
            </a:r>
            <a:r>
              <a:rPr dirty="0" sz="650" spc="13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de</a:t>
            </a:r>
            <a:r>
              <a:rPr dirty="0" sz="650" spc="13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possuir</a:t>
            </a:r>
            <a:r>
              <a:rPr dirty="0" sz="650" spc="16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fisicamente</a:t>
            </a:r>
            <a:r>
              <a:rPr dirty="0" sz="650" spc="13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 spc="-20">
                <a:solidFill>
                  <a:srgbClr val="262626"/>
                </a:solidFill>
                <a:latin typeface="Calibri"/>
                <a:cs typeface="Calibri"/>
              </a:rPr>
              <a:t>esses</a:t>
            </a:r>
            <a:r>
              <a:rPr dirty="0" sz="650" spc="50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 spc="-10">
                <a:solidFill>
                  <a:srgbClr val="262626"/>
                </a:solidFill>
                <a:latin typeface="Calibri"/>
                <a:cs typeface="Calibri"/>
              </a:rPr>
              <a:t>recursos</a:t>
            </a:r>
            <a:endParaRPr sz="65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10691" y="5145023"/>
            <a:ext cx="2918460" cy="1069975"/>
            <a:chOff x="710691" y="5145023"/>
            <a:chExt cx="2918460" cy="1069975"/>
          </a:xfrm>
        </p:grpSpPr>
        <p:sp>
          <p:nvSpPr>
            <p:cNvPr id="9" name="object 9"/>
            <p:cNvSpPr/>
            <p:nvPr/>
          </p:nvSpPr>
          <p:spPr>
            <a:xfrm>
              <a:off x="713231" y="5971032"/>
              <a:ext cx="2752725" cy="0"/>
            </a:xfrm>
            <a:custGeom>
              <a:avLst/>
              <a:gdLst/>
              <a:ahLst/>
              <a:cxnLst/>
              <a:rect l="l" t="t" r="r" b="b"/>
              <a:pathLst>
                <a:path w="2752725" h="0">
                  <a:moveTo>
                    <a:pt x="0" y="0"/>
                  </a:moveTo>
                  <a:lnTo>
                    <a:pt x="2752343" y="0"/>
                  </a:lnTo>
                </a:path>
              </a:pathLst>
            </a:custGeom>
            <a:ln w="4572">
              <a:solidFill>
                <a:srgbClr val="07347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575" y="5145023"/>
              <a:ext cx="925067" cy="1069847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534923" y="4477511"/>
            <a:ext cx="3086100" cy="1729739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wrap="square" lIns="0" tIns="1778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40"/>
              </a:spcBef>
            </a:pPr>
            <a:endParaRPr sz="1000">
              <a:latin typeface="Times New Roman"/>
              <a:cs typeface="Times New Roman"/>
            </a:endParaRPr>
          </a:p>
          <a:p>
            <a:pPr marL="229870">
              <a:lnSpc>
                <a:spcPct val="100000"/>
              </a:lnSpc>
            </a:pPr>
            <a:r>
              <a:rPr dirty="0" sz="1000" b="1">
                <a:solidFill>
                  <a:srgbClr val="073472"/>
                </a:solidFill>
                <a:latin typeface="Calibri"/>
                <a:cs typeface="Calibri"/>
              </a:rPr>
              <a:t>Computação</a:t>
            </a:r>
            <a:r>
              <a:rPr dirty="0" sz="1000" spc="45" b="1">
                <a:solidFill>
                  <a:srgbClr val="073472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073472"/>
                </a:solidFill>
                <a:latin typeface="Calibri"/>
                <a:cs typeface="Calibri"/>
              </a:rPr>
              <a:t>em</a:t>
            </a:r>
            <a:r>
              <a:rPr dirty="0" sz="1000" spc="45" b="1">
                <a:solidFill>
                  <a:srgbClr val="073472"/>
                </a:solidFill>
                <a:latin typeface="Calibri"/>
                <a:cs typeface="Calibri"/>
              </a:rPr>
              <a:t> </a:t>
            </a:r>
            <a:r>
              <a:rPr dirty="0" sz="1000" spc="-20" b="1">
                <a:solidFill>
                  <a:srgbClr val="073472"/>
                </a:solidFill>
                <a:latin typeface="Calibri"/>
                <a:cs typeface="Calibri"/>
              </a:rPr>
              <a:t>nuvem</a:t>
            </a:r>
            <a:endParaRPr sz="1000">
              <a:latin typeface="Calibri"/>
              <a:cs typeface="Calibri"/>
            </a:endParaRPr>
          </a:p>
          <a:p>
            <a:pPr marL="1409700" marR="50800">
              <a:lnSpc>
                <a:spcPts val="720"/>
              </a:lnSpc>
              <a:spcBef>
                <a:spcPts val="414"/>
              </a:spcBef>
            </a:pPr>
            <a:r>
              <a:rPr dirty="0" sz="650">
                <a:latin typeface="Calibri"/>
                <a:cs typeface="Calibri"/>
              </a:rPr>
              <a:t>Recursos</a:t>
            </a:r>
            <a:r>
              <a:rPr dirty="0" sz="650" spc="185">
                <a:latin typeface="Calibri"/>
                <a:cs typeface="Calibri"/>
              </a:rPr>
              <a:t>  </a:t>
            </a:r>
            <a:r>
              <a:rPr dirty="0" sz="650">
                <a:latin typeface="Calibri"/>
                <a:cs typeface="Calibri"/>
              </a:rPr>
              <a:t>de</a:t>
            </a:r>
            <a:r>
              <a:rPr dirty="0" sz="650" spc="185">
                <a:latin typeface="Calibri"/>
                <a:cs typeface="Calibri"/>
              </a:rPr>
              <a:t>  </a:t>
            </a:r>
            <a:r>
              <a:rPr dirty="0" sz="650">
                <a:latin typeface="Calibri"/>
                <a:cs typeface="Calibri"/>
              </a:rPr>
              <a:t>computação</a:t>
            </a:r>
            <a:r>
              <a:rPr dirty="0" sz="650" spc="195">
                <a:latin typeface="Calibri"/>
                <a:cs typeface="Calibri"/>
              </a:rPr>
              <a:t>  </a:t>
            </a:r>
            <a:r>
              <a:rPr dirty="0" sz="650">
                <a:latin typeface="Calibri"/>
                <a:cs typeface="Calibri"/>
              </a:rPr>
              <a:t>oferecidos</a:t>
            </a:r>
            <a:r>
              <a:rPr dirty="0" sz="650" spc="190">
                <a:latin typeface="Calibri"/>
                <a:cs typeface="Calibri"/>
              </a:rPr>
              <a:t>  </a:t>
            </a:r>
            <a:r>
              <a:rPr dirty="0" sz="650" spc="-25">
                <a:latin typeface="Calibri"/>
                <a:cs typeface="Calibri"/>
              </a:rPr>
              <a:t>por</a:t>
            </a:r>
            <a:r>
              <a:rPr dirty="0" sz="650" spc="50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provedores</a:t>
            </a:r>
            <a:r>
              <a:rPr dirty="0" sz="650" spc="4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de</a:t>
            </a:r>
            <a:r>
              <a:rPr dirty="0" sz="650" spc="2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serviços</a:t>
            </a:r>
            <a:r>
              <a:rPr dirty="0" sz="650" spc="1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pela</a:t>
            </a:r>
            <a:r>
              <a:rPr dirty="0" sz="650" spc="20">
                <a:latin typeface="Calibri"/>
                <a:cs typeface="Calibri"/>
              </a:rPr>
              <a:t> </a:t>
            </a:r>
            <a:r>
              <a:rPr dirty="0" sz="650" spc="-10">
                <a:latin typeface="Calibri"/>
                <a:cs typeface="Calibri"/>
              </a:rPr>
              <a:t>internet:</a:t>
            </a:r>
            <a:endParaRPr sz="650">
              <a:latin typeface="Calibri"/>
              <a:cs typeface="Calibri"/>
            </a:endParaRPr>
          </a:p>
          <a:p>
            <a:pPr marL="1466215" indent="-56515">
              <a:lnSpc>
                <a:spcPct val="100000"/>
              </a:lnSpc>
              <a:spcBef>
                <a:spcPts val="320"/>
              </a:spcBef>
              <a:buFont typeface="Arial"/>
              <a:buChar char="•"/>
              <a:tabLst>
                <a:tab pos="1466215" algn="l"/>
              </a:tabLst>
            </a:pPr>
            <a:r>
              <a:rPr dirty="0" sz="650">
                <a:latin typeface="Calibri"/>
                <a:cs typeface="Calibri"/>
              </a:rPr>
              <a:t>IaaS:</a:t>
            </a:r>
            <a:r>
              <a:rPr dirty="0" sz="650" spc="2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Infraestrutura</a:t>
            </a:r>
            <a:r>
              <a:rPr dirty="0" sz="650" spc="2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como</a:t>
            </a:r>
            <a:r>
              <a:rPr dirty="0" sz="650" spc="10">
                <a:latin typeface="Calibri"/>
                <a:cs typeface="Calibri"/>
              </a:rPr>
              <a:t> </a:t>
            </a:r>
            <a:r>
              <a:rPr dirty="0" sz="650" spc="-10">
                <a:latin typeface="Calibri"/>
                <a:cs typeface="Calibri"/>
              </a:rPr>
              <a:t>serviço.</a:t>
            </a:r>
            <a:endParaRPr sz="650">
              <a:latin typeface="Calibri"/>
              <a:cs typeface="Calibri"/>
            </a:endParaRPr>
          </a:p>
          <a:p>
            <a:pPr marL="1466215" indent="-56515">
              <a:lnSpc>
                <a:spcPct val="100000"/>
              </a:lnSpc>
              <a:spcBef>
                <a:spcPts val="350"/>
              </a:spcBef>
              <a:buFont typeface="Arial"/>
              <a:buChar char="•"/>
              <a:tabLst>
                <a:tab pos="1466215" algn="l"/>
              </a:tabLst>
            </a:pPr>
            <a:r>
              <a:rPr dirty="0" sz="650">
                <a:latin typeface="Calibri"/>
                <a:cs typeface="Calibri"/>
              </a:rPr>
              <a:t>PaaS:</a:t>
            </a:r>
            <a:r>
              <a:rPr dirty="0" sz="650" spc="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Plataforma</a:t>
            </a:r>
            <a:r>
              <a:rPr dirty="0" sz="650" spc="3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como</a:t>
            </a:r>
            <a:r>
              <a:rPr dirty="0" sz="650" spc="-5">
                <a:latin typeface="Calibri"/>
                <a:cs typeface="Calibri"/>
              </a:rPr>
              <a:t> </a:t>
            </a:r>
            <a:r>
              <a:rPr dirty="0" sz="650" spc="-10">
                <a:latin typeface="Calibri"/>
                <a:cs typeface="Calibri"/>
              </a:rPr>
              <a:t>serviço.</a:t>
            </a:r>
            <a:endParaRPr sz="650">
              <a:latin typeface="Calibri"/>
              <a:cs typeface="Calibri"/>
            </a:endParaRPr>
          </a:p>
          <a:p>
            <a:pPr marL="1466215" indent="-56515">
              <a:lnSpc>
                <a:spcPct val="100000"/>
              </a:lnSpc>
              <a:spcBef>
                <a:spcPts val="345"/>
              </a:spcBef>
              <a:buFont typeface="Arial"/>
              <a:buChar char="•"/>
              <a:tabLst>
                <a:tab pos="1466215" algn="l"/>
              </a:tabLst>
            </a:pPr>
            <a:r>
              <a:rPr dirty="0" sz="650">
                <a:latin typeface="Calibri"/>
                <a:cs typeface="Calibri"/>
              </a:rPr>
              <a:t>SaaS:</a:t>
            </a:r>
            <a:r>
              <a:rPr dirty="0" sz="650" spc="2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Software</a:t>
            </a:r>
            <a:r>
              <a:rPr dirty="0" sz="650" spc="4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como</a:t>
            </a:r>
            <a:r>
              <a:rPr dirty="0" sz="650" spc="-15">
                <a:latin typeface="Calibri"/>
                <a:cs typeface="Calibri"/>
              </a:rPr>
              <a:t> </a:t>
            </a:r>
            <a:r>
              <a:rPr dirty="0" sz="650" spc="-10">
                <a:latin typeface="Calibri"/>
                <a:cs typeface="Calibri"/>
              </a:rPr>
              <a:t>serviço.</a:t>
            </a:r>
            <a:endParaRPr sz="6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6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6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6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85"/>
              </a:spcBef>
            </a:pPr>
            <a:endParaRPr sz="650">
              <a:latin typeface="Calibri"/>
              <a:cs typeface="Calibri"/>
            </a:endParaRPr>
          </a:p>
          <a:p>
            <a:pPr algn="ctr" marL="125730">
              <a:lnSpc>
                <a:spcPct val="100000"/>
              </a:lnSpc>
            </a:pPr>
            <a:r>
              <a:rPr dirty="0" sz="250" spc="-10">
                <a:latin typeface="Trebuchet MS"/>
                <a:cs typeface="Trebuchet MS"/>
              </a:rPr>
              <a:t>Fonte:</a:t>
            </a:r>
            <a:r>
              <a:rPr dirty="0" sz="250" spc="10">
                <a:latin typeface="Trebuchet MS"/>
                <a:cs typeface="Trebuchet MS"/>
              </a:rPr>
              <a:t> </a:t>
            </a:r>
            <a:r>
              <a:rPr dirty="0" sz="250" spc="-10">
                <a:latin typeface="Trebuchet MS"/>
                <a:cs typeface="Trebuchet MS"/>
              </a:rPr>
              <a:t>Shutterstock.</a:t>
            </a:r>
            <a:r>
              <a:rPr dirty="0" sz="250" spc="35">
                <a:latin typeface="Trebuchet MS"/>
                <a:cs typeface="Trebuchet MS"/>
              </a:rPr>
              <a:t> </a:t>
            </a:r>
            <a:r>
              <a:rPr dirty="0" sz="250">
                <a:latin typeface="Trebuchet MS"/>
                <a:cs typeface="Trebuchet MS"/>
              </a:rPr>
              <a:t>ID</a:t>
            </a:r>
            <a:r>
              <a:rPr dirty="0" sz="250" spc="20">
                <a:latin typeface="Trebuchet MS"/>
                <a:cs typeface="Trebuchet MS"/>
              </a:rPr>
              <a:t> </a:t>
            </a:r>
            <a:r>
              <a:rPr dirty="0" sz="250" spc="-10">
                <a:latin typeface="Trebuchet MS"/>
                <a:cs typeface="Trebuchet MS"/>
              </a:rPr>
              <a:t>2398459777.</a:t>
            </a:r>
            <a:endParaRPr sz="250">
              <a:latin typeface="Trebuchet MS"/>
              <a:cs typeface="Trebuchet MS"/>
            </a:endParaRPr>
          </a:p>
        </p:txBody>
      </p: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7804" y="4821935"/>
            <a:ext cx="1136904" cy="1136903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3931920" y="4471415"/>
            <a:ext cx="3101340" cy="1743710"/>
            <a:chOff x="3931920" y="4471415"/>
            <a:chExt cx="3101340" cy="1743710"/>
          </a:xfrm>
        </p:grpSpPr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931920" y="4471415"/>
              <a:ext cx="3101340" cy="1743455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116324" y="5954267"/>
              <a:ext cx="2752725" cy="0"/>
            </a:xfrm>
            <a:custGeom>
              <a:avLst/>
              <a:gdLst/>
              <a:ahLst/>
              <a:cxnLst/>
              <a:rect l="l" t="t" r="r" b="b"/>
              <a:pathLst>
                <a:path w="2752725" h="0">
                  <a:moveTo>
                    <a:pt x="0" y="0"/>
                  </a:moveTo>
                  <a:lnTo>
                    <a:pt x="2752343" y="0"/>
                  </a:lnTo>
                </a:path>
              </a:pathLst>
            </a:custGeom>
            <a:ln w="4572">
              <a:solidFill>
                <a:srgbClr val="07347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897880" y="4471415"/>
              <a:ext cx="1135380" cy="118871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4116324" y="5954267"/>
              <a:ext cx="2752725" cy="0"/>
            </a:xfrm>
            <a:custGeom>
              <a:avLst/>
              <a:gdLst/>
              <a:ahLst/>
              <a:cxnLst/>
              <a:rect l="l" t="t" r="r" b="b"/>
              <a:pathLst>
                <a:path w="2752725" h="0">
                  <a:moveTo>
                    <a:pt x="0" y="0"/>
                  </a:moveTo>
                  <a:lnTo>
                    <a:pt x="2752343" y="0"/>
                  </a:lnTo>
                </a:path>
              </a:pathLst>
            </a:custGeom>
            <a:ln w="457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106668" y="5145023"/>
              <a:ext cx="926592" cy="1069847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3938015" y="4477511"/>
            <a:ext cx="3088005" cy="1729739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wrap="square" lIns="0" tIns="4508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55"/>
              </a:spcBef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tabLst>
                <a:tab pos="281305" algn="l"/>
                <a:tab pos="935355" algn="l"/>
              </a:tabLst>
            </a:pPr>
            <a:r>
              <a:rPr dirty="0" u="sng" sz="900">
                <a:solidFill>
                  <a:srgbClr val="073472"/>
                </a:solidFill>
                <a:uFill>
                  <a:solidFill>
                    <a:srgbClr val="073472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900" spc="-10">
                <a:solidFill>
                  <a:srgbClr val="073472"/>
                </a:solidFill>
                <a:uFill>
                  <a:solidFill>
                    <a:srgbClr val="073472"/>
                  </a:solidFill>
                </a:uFill>
                <a:latin typeface="Calibri"/>
                <a:cs typeface="Calibri"/>
              </a:rPr>
              <a:t>Conceitos</a:t>
            </a:r>
            <a:r>
              <a:rPr dirty="0" u="sng" sz="900">
                <a:solidFill>
                  <a:srgbClr val="073472"/>
                </a:solidFill>
                <a:uFill>
                  <a:solidFill>
                    <a:srgbClr val="073472"/>
                  </a:solidFill>
                </a:uFill>
                <a:latin typeface="Calibri"/>
                <a:cs typeface="Calibri"/>
              </a:rPr>
              <a:t>	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900">
              <a:latin typeface="Calibri"/>
              <a:cs typeface="Calibri"/>
            </a:endParaRPr>
          </a:p>
          <a:p>
            <a:pPr marL="310515" marR="1454785">
              <a:lnSpc>
                <a:spcPct val="90000"/>
              </a:lnSpc>
            </a:pPr>
            <a:r>
              <a:rPr dirty="0" sz="1550" spc="-10" b="1">
                <a:solidFill>
                  <a:srgbClr val="262626"/>
                </a:solidFill>
                <a:latin typeface="Calibri"/>
                <a:cs typeface="Calibri"/>
              </a:rPr>
              <a:t>Tecnologia</a:t>
            </a:r>
            <a:r>
              <a:rPr dirty="0" sz="1550" spc="-55" b="1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1550" spc="-25" b="1">
                <a:solidFill>
                  <a:srgbClr val="262626"/>
                </a:solidFill>
                <a:latin typeface="Calibri"/>
                <a:cs typeface="Calibri"/>
              </a:rPr>
              <a:t>da </a:t>
            </a:r>
            <a:r>
              <a:rPr dirty="0" sz="1550" spc="-10" b="1">
                <a:solidFill>
                  <a:srgbClr val="262626"/>
                </a:solidFill>
                <a:latin typeface="Calibri"/>
                <a:cs typeface="Calibri"/>
              </a:rPr>
              <a:t>computação</a:t>
            </a:r>
            <a:r>
              <a:rPr dirty="0" sz="1550" spc="5" b="1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1550" spc="-25" b="1">
                <a:solidFill>
                  <a:srgbClr val="262626"/>
                </a:solidFill>
                <a:latin typeface="Calibri"/>
                <a:cs typeface="Calibri"/>
              </a:rPr>
              <a:t>em </a:t>
            </a:r>
            <a:r>
              <a:rPr dirty="0" sz="1550" b="1">
                <a:solidFill>
                  <a:srgbClr val="262626"/>
                </a:solidFill>
                <a:latin typeface="Calibri"/>
                <a:cs typeface="Calibri"/>
              </a:rPr>
              <a:t>nuvem</a:t>
            </a:r>
            <a:r>
              <a:rPr dirty="0" sz="1550" spc="-20" b="1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1550" b="1">
                <a:solidFill>
                  <a:srgbClr val="262626"/>
                </a:solidFill>
                <a:latin typeface="Calibri"/>
                <a:cs typeface="Calibri"/>
              </a:rPr>
              <a:t>e</a:t>
            </a:r>
            <a:r>
              <a:rPr dirty="0" sz="1550" spc="-15" b="1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1550" spc="-25" b="1">
                <a:solidFill>
                  <a:srgbClr val="262626"/>
                </a:solidFill>
                <a:latin typeface="Calibri"/>
                <a:cs typeface="Calibri"/>
              </a:rPr>
              <a:t>IoT</a:t>
            </a:r>
            <a:endParaRPr sz="155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713231" y="8244840"/>
            <a:ext cx="2915920" cy="1068705"/>
            <a:chOff x="713231" y="8244840"/>
            <a:chExt cx="2915920" cy="1068705"/>
          </a:xfrm>
        </p:grpSpPr>
        <p:sp>
          <p:nvSpPr>
            <p:cNvPr id="21" name="object 21"/>
            <p:cNvSpPr/>
            <p:nvPr/>
          </p:nvSpPr>
          <p:spPr>
            <a:xfrm>
              <a:off x="713231" y="9070848"/>
              <a:ext cx="2752725" cy="0"/>
            </a:xfrm>
            <a:custGeom>
              <a:avLst/>
              <a:gdLst/>
              <a:ahLst/>
              <a:cxnLst/>
              <a:rect l="l" t="t" r="r" b="b"/>
              <a:pathLst>
                <a:path w="2752725" h="0">
                  <a:moveTo>
                    <a:pt x="0" y="0"/>
                  </a:moveTo>
                  <a:lnTo>
                    <a:pt x="2752343" y="0"/>
                  </a:lnTo>
                </a:path>
              </a:pathLst>
            </a:custGeom>
            <a:ln w="4572">
              <a:solidFill>
                <a:srgbClr val="07347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703575" y="8244840"/>
              <a:ext cx="925067" cy="1068324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534923" y="7577328"/>
            <a:ext cx="3086100" cy="1728470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endParaRPr sz="1000">
              <a:latin typeface="Times New Roman"/>
              <a:cs typeface="Times New Roman"/>
            </a:endParaRPr>
          </a:p>
          <a:p>
            <a:pPr marL="229870">
              <a:lnSpc>
                <a:spcPct val="100000"/>
              </a:lnSpc>
            </a:pPr>
            <a:r>
              <a:rPr dirty="0" sz="1000" b="1">
                <a:solidFill>
                  <a:srgbClr val="073472"/>
                </a:solidFill>
                <a:latin typeface="Calibri"/>
                <a:cs typeface="Calibri"/>
              </a:rPr>
              <a:t>Computação</a:t>
            </a:r>
            <a:r>
              <a:rPr dirty="0" sz="1000" spc="45" b="1">
                <a:solidFill>
                  <a:srgbClr val="073472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073472"/>
                </a:solidFill>
                <a:latin typeface="Calibri"/>
                <a:cs typeface="Calibri"/>
              </a:rPr>
              <a:t>em</a:t>
            </a:r>
            <a:r>
              <a:rPr dirty="0" sz="1000" spc="45" b="1">
                <a:solidFill>
                  <a:srgbClr val="073472"/>
                </a:solidFill>
                <a:latin typeface="Calibri"/>
                <a:cs typeface="Calibri"/>
              </a:rPr>
              <a:t> </a:t>
            </a:r>
            <a:r>
              <a:rPr dirty="0" sz="1000" spc="-20" b="1">
                <a:solidFill>
                  <a:srgbClr val="073472"/>
                </a:solidFill>
                <a:latin typeface="Calibri"/>
                <a:cs typeface="Calibri"/>
              </a:rPr>
              <a:t>nuvem</a:t>
            </a:r>
            <a:endParaRPr sz="1000">
              <a:latin typeface="Calibri"/>
              <a:cs typeface="Calibri"/>
            </a:endParaRPr>
          </a:p>
          <a:p>
            <a:pPr marL="229870" marR="1230630">
              <a:lnSpc>
                <a:spcPts val="720"/>
              </a:lnSpc>
              <a:spcBef>
                <a:spcPts val="700"/>
              </a:spcBef>
            </a:pPr>
            <a:r>
              <a:rPr dirty="0" sz="650">
                <a:latin typeface="Calibri"/>
                <a:cs typeface="Calibri"/>
              </a:rPr>
              <a:t>Recursos</a:t>
            </a:r>
            <a:r>
              <a:rPr dirty="0" sz="650" spc="185">
                <a:latin typeface="Calibri"/>
                <a:cs typeface="Calibri"/>
              </a:rPr>
              <a:t>  </a:t>
            </a:r>
            <a:r>
              <a:rPr dirty="0" sz="650">
                <a:latin typeface="Calibri"/>
                <a:cs typeface="Calibri"/>
              </a:rPr>
              <a:t>de</a:t>
            </a:r>
            <a:r>
              <a:rPr dirty="0" sz="650" spc="185">
                <a:latin typeface="Calibri"/>
                <a:cs typeface="Calibri"/>
              </a:rPr>
              <a:t>  </a:t>
            </a:r>
            <a:r>
              <a:rPr dirty="0" sz="650">
                <a:latin typeface="Calibri"/>
                <a:cs typeface="Calibri"/>
              </a:rPr>
              <a:t>computação</a:t>
            </a:r>
            <a:r>
              <a:rPr dirty="0" sz="650" spc="195">
                <a:latin typeface="Calibri"/>
                <a:cs typeface="Calibri"/>
              </a:rPr>
              <a:t>  </a:t>
            </a:r>
            <a:r>
              <a:rPr dirty="0" sz="650">
                <a:latin typeface="Calibri"/>
                <a:cs typeface="Calibri"/>
              </a:rPr>
              <a:t>oferecidos</a:t>
            </a:r>
            <a:r>
              <a:rPr dirty="0" sz="650" spc="190">
                <a:latin typeface="Calibri"/>
                <a:cs typeface="Calibri"/>
              </a:rPr>
              <a:t>  </a:t>
            </a:r>
            <a:r>
              <a:rPr dirty="0" sz="650" spc="-25">
                <a:latin typeface="Calibri"/>
                <a:cs typeface="Calibri"/>
              </a:rPr>
              <a:t>por</a:t>
            </a:r>
            <a:r>
              <a:rPr dirty="0" sz="650" spc="50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provedores</a:t>
            </a:r>
            <a:r>
              <a:rPr dirty="0" sz="650" spc="4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de</a:t>
            </a:r>
            <a:r>
              <a:rPr dirty="0" sz="650" spc="2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serviços</a:t>
            </a:r>
            <a:r>
              <a:rPr dirty="0" sz="650" spc="1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pela</a:t>
            </a:r>
            <a:r>
              <a:rPr dirty="0" sz="650" spc="20">
                <a:latin typeface="Calibri"/>
                <a:cs typeface="Calibri"/>
              </a:rPr>
              <a:t> </a:t>
            </a:r>
            <a:r>
              <a:rPr dirty="0" sz="650" spc="-10">
                <a:latin typeface="Calibri"/>
                <a:cs typeface="Calibri"/>
              </a:rPr>
              <a:t>internet:</a:t>
            </a:r>
            <a:endParaRPr sz="650">
              <a:latin typeface="Calibri"/>
              <a:cs typeface="Calibri"/>
            </a:endParaRPr>
          </a:p>
          <a:p>
            <a:pPr marL="286385" indent="-56515">
              <a:lnSpc>
                <a:spcPct val="100000"/>
              </a:lnSpc>
              <a:spcBef>
                <a:spcPts val="320"/>
              </a:spcBef>
              <a:buFont typeface="Arial"/>
              <a:buChar char="•"/>
              <a:tabLst>
                <a:tab pos="286385" algn="l"/>
              </a:tabLst>
            </a:pPr>
            <a:r>
              <a:rPr dirty="0" sz="650">
                <a:latin typeface="Calibri"/>
                <a:cs typeface="Calibri"/>
              </a:rPr>
              <a:t>IaaS:</a:t>
            </a:r>
            <a:r>
              <a:rPr dirty="0" sz="650" spc="2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Infraestrutura</a:t>
            </a:r>
            <a:r>
              <a:rPr dirty="0" sz="650" spc="2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como</a:t>
            </a:r>
            <a:r>
              <a:rPr dirty="0" sz="650" spc="10">
                <a:latin typeface="Calibri"/>
                <a:cs typeface="Calibri"/>
              </a:rPr>
              <a:t> </a:t>
            </a:r>
            <a:r>
              <a:rPr dirty="0" sz="650" spc="-10">
                <a:latin typeface="Calibri"/>
                <a:cs typeface="Calibri"/>
              </a:rPr>
              <a:t>serviço.</a:t>
            </a:r>
            <a:endParaRPr sz="650">
              <a:latin typeface="Calibri"/>
              <a:cs typeface="Calibri"/>
            </a:endParaRPr>
          </a:p>
          <a:p>
            <a:pPr marL="286385" indent="-56515">
              <a:lnSpc>
                <a:spcPct val="100000"/>
              </a:lnSpc>
              <a:spcBef>
                <a:spcPts val="350"/>
              </a:spcBef>
              <a:buFont typeface="Arial"/>
              <a:buChar char="•"/>
              <a:tabLst>
                <a:tab pos="286385" algn="l"/>
              </a:tabLst>
            </a:pPr>
            <a:r>
              <a:rPr dirty="0" sz="650">
                <a:latin typeface="Calibri"/>
                <a:cs typeface="Calibri"/>
              </a:rPr>
              <a:t>PaaS:</a:t>
            </a:r>
            <a:r>
              <a:rPr dirty="0" sz="650" spc="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Plataforma</a:t>
            </a:r>
            <a:r>
              <a:rPr dirty="0" sz="650" spc="3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como</a:t>
            </a:r>
            <a:r>
              <a:rPr dirty="0" sz="650" spc="-5">
                <a:latin typeface="Calibri"/>
                <a:cs typeface="Calibri"/>
              </a:rPr>
              <a:t> </a:t>
            </a:r>
            <a:r>
              <a:rPr dirty="0" sz="650" spc="-10">
                <a:latin typeface="Calibri"/>
                <a:cs typeface="Calibri"/>
              </a:rPr>
              <a:t>serviço.</a:t>
            </a:r>
            <a:endParaRPr sz="650">
              <a:latin typeface="Calibri"/>
              <a:cs typeface="Calibri"/>
            </a:endParaRPr>
          </a:p>
          <a:p>
            <a:pPr marL="286385" indent="-56515">
              <a:lnSpc>
                <a:spcPct val="100000"/>
              </a:lnSpc>
              <a:spcBef>
                <a:spcPts val="345"/>
              </a:spcBef>
              <a:buFont typeface="Arial"/>
              <a:buChar char="•"/>
              <a:tabLst>
                <a:tab pos="286385" algn="l"/>
              </a:tabLst>
            </a:pPr>
            <a:r>
              <a:rPr dirty="0" sz="650">
                <a:latin typeface="Calibri"/>
                <a:cs typeface="Calibri"/>
              </a:rPr>
              <a:t>SaaS:</a:t>
            </a:r>
            <a:r>
              <a:rPr dirty="0" sz="650" spc="2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Software</a:t>
            </a:r>
            <a:r>
              <a:rPr dirty="0" sz="650" spc="4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como</a:t>
            </a:r>
            <a:r>
              <a:rPr dirty="0" sz="650" spc="-15">
                <a:latin typeface="Calibri"/>
                <a:cs typeface="Calibri"/>
              </a:rPr>
              <a:t> </a:t>
            </a:r>
            <a:r>
              <a:rPr dirty="0" sz="650" spc="-10">
                <a:latin typeface="Calibri"/>
                <a:cs typeface="Calibri"/>
              </a:rPr>
              <a:t>serviço.</a:t>
            </a:r>
            <a:endParaRPr sz="65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4168140" y="8002523"/>
            <a:ext cx="2865120" cy="1310640"/>
            <a:chOff x="4168140" y="8002523"/>
            <a:chExt cx="2865120" cy="1310640"/>
          </a:xfrm>
        </p:grpSpPr>
        <p:pic>
          <p:nvPicPr>
            <p:cNvPr id="25" name="object 2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106667" y="8244839"/>
              <a:ext cx="926592" cy="1068324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4168140" y="8002523"/>
              <a:ext cx="356870" cy="356870"/>
            </a:xfrm>
            <a:custGeom>
              <a:avLst/>
              <a:gdLst/>
              <a:ahLst/>
              <a:cxnLst/>
              <a:rect l="l" t="t" r="r" b="b"/>
              <a:pathLst>
                <a:path w="356870" h="356870">
                  <a:moveTo>
                    <a:pt x="178307" y="356615"/>
                  </a:moveTo>
                  <a:lnTo>
                    <a:pt x="130704" y="350287"/>
                  </a:lnTo>
                  <a:lnTo>
                    <a:pt x="88053" y="332401"/>
                  </a:lnTo>
                  <a:lnTo>
                    <a:pt x="52006" y="304609"/>
                  </a:lnTo>
                  <a:lnTo>
                    <a:pt x="24214" y="268562"/>
                  </a:lnTo>
                  <a:lnTo>
                    <a:pt x="6328" y="225911"/>
                  </a:lnTo>
                  <a:lnTo>
                    <a:pt x="0" y="178307"/>
                  </a:lnTo>
                  <a:lnTo>
                    <a:pt x="6328" y="130704"/>
                  </a:lnTo>
                  <a:lnTo>
                    <a:pt x="24214" y="88053"/>
                  </a:lnTo>
                  <a:lnTo>
                    <a:pt x="52006" y="52006"/>
                  </a:lnTo>
                  <a:lnTo>
                    <a:pt x="88053" y="24214"/>
                  </a:lnTo>
                  <a:lnTo>
                    <a:pt x="130704" y="6328"/>
                  </a:lnTo>
                  <a:lnTo>
                    <a:pt x="178307" y="0"/>
                  </a:lnTo>
                  <a:lnTo>
                    <a:pt x="225911" y="6328"/>
                  </a:lnTo>
                  <a:lnTo>
                    <a:pt x="268562" y="24214"/>
                  </a:lnTo>
                  <a:lnTo>
                    <a:pt x="304609" y="52006"/>
                  </a:lnTo>
                  <a:lnTo>
                    <a:pt x="332401" y="88053"/>
                  </a:lnTo>
                  <a:lnTo>
                    <a:pt x="350287" y="130704"/>
                  </a:lnTo>
                  <a:lnTo>
                    <a:pt x="356615" y="178307"/>
                  </a:lnTo>
                  <a:lnTo>
                    <a:pt x="350287" y="225911"/>
                  </a:lnTo>
                  <a:lnTo>
                    <a:pt x="332401" y="268562"/>
                  </a:lnTo>
                  <a:lnTo>
                    <a:pt x="304609" y="304609"/>
                  </a:lnTo>
                  <a:lnTo>
                    <a:pt x="268562" y="332401"/>
                  </a:lnTo>
                  <a:lnTo>
                    <a:pt x="225911" y="350287"/>
                  </a:lnTo>
                  <a:lnTo>
                    <a:pt x="178307" y="356615"/>
                  </a:lnTo>
                  <a:close/>
                </a:path>
              </a:pathLst>
            </a:custGeom>
            <a:solidFill>
              <a:srgbClr val="F7D6C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239768" y="8074152"/>
              <a:ext cx="211835" cy="213360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4856988" y="8002523"/>
              <a:ext cx="358140" cy="356870"/>
            </a:xfrm>
            <a:custGeom>
              <a:avLst/>
              <a:gdLst/>
              <a:ahLst/>
              <a:cxnLst/>
              <a:rect l="l" t="t" r="r" b="b"/>
              <a:pathLst>
                <a:path w="358139" h="356870">
                  <a:moveTo>
                    <a:pt x="178307" y="356615"/>
                  </a:moveTo>
                  <a:lnTo>
                    <a:pt x="130704" y="350287"/>
                  </a:lnTo>
                  <a:lnTo>
                    <a:pt x="88053" y="332401"/>
                  </a:lnTo>
                  <a:lnTo>
                    <a:pt x="52006" y="304609"/>
                  </a:lnTo>
                  <a:lnTo>
                    <a:pt x="24214" y="268562"/>
                  </a:lnTo>
                  <a:lnTo>
                    <a:pt x="6328" y="225911"/>
                  </a:lnTo>
                  <a:lnTo>
                    <a:pt x="0" y="178307"/>
                  </a:lnTo>
                  <a:lnTo>
                    <a:pt x="6328" y="130704"/>
                  </a:lnTo>
                  <a:lnTo>
                    <a:pt x="24214" y="88053"/>
                  </a:lnTo>
                  <a:lnTo>
                    <a:pt x="52006" y="52006"/>
                  </a:lnTo>
                  <a:lnTo>
                    <a:pt x="88053" y="24214"/>
                  </a:lnTo>
                  <a:lnTo>
                    <a:pt x="130704" y="6328"/>
                  </a:lnTo>
                  <a:lnTo>
                    <a:pt x="178307" y="0"/>
                  </a:lnTo>
                  <a:lnTo>
                    <a:pt x="226024" y="6328"/>
                  </a:lnTo>
                  <a:lnTo>
                    <a:pt x="268957" y="24214"/>
                  </a:lnTo>
                  <a:lnTo>
                    <a:pt x="305371" y="52006"/>
                  </a:lnTo>
                  <a:lnTo>
                    <a:pt x="333530" y="88053"/>
                  </a:lnTo>
                  <a:lnTo>
                    <a:pt x="351698" y="130704"/>
                  </a:lnTo>
                  <a:lnTo>
                    <a:pt x="358139" y="178307"/>
                  </a:lnTo>
                  <a:lnTo>
                    <a:pt x="351698" y="225911"/>
                  </a:lnTo>
                  <a:lnTo>
                    <a:pt x="333530" y="268562"/>
                  </a:lnTo>
                  <a:lnTo>
                    <a:pt x="305371" y="304609"/>
                  </a:lnTo>
                  <a:lnTo>
                    <a:pt x="268957" y="332401"/>
                  </a:lnTo>
                  <a:lnTo>
                    <a:pt x="226024" y="350287"/>
                  </a:lnTo>
                  <a:lnTo>
                    <a:pt x="178307" y="356615"/>
                  </a:lnTo>
                  <a:close/>
                </a:path>
              </a:pathLst>
            </a:custGeom>
            <a:solidFill>
              <a:srgbClr val="F7D6C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930139" y="8074152"/>
              <a:ext cx="211836" cy="213360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4753383" y="8453294"/>
            <a:ext cx="581025" cy="122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600">
                <a:latin typeface="Calibri"/>
                <a:cs typeface="Calibri"/>
              </a:rPr>
              <a:t>NUVEM</a:t>
            </a:r>
            <a:r>
              <a:rPr dirty="0" sz="600" spc="110">
                <a:latin typeface="Calibri"/>
                <a:cs typeface="Calibri"/>
              </a:rPr>
              <a:t> </a:t>
            </a:r>
            <a:r>
              <a:rPr dirty="0" sz="600" spc="-10">
                <a:latin typeface="Calibri"/>
                <a:cs typeface="Calibri"/>
              </a:rPr>
              <a:t>PRIVADA</a:t>
            </a:r>
            <a:endParaRPr sz="60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5545835" y="8002523"/>
            <a:ext cx="358140" cy="356870"/>
            <a:chOff x="5545835" y="8002523"/>
            <a:chExt cx="358140" cy="356870"/>
          </a:xfrm>
        </p:grpSpPr>
        <p:sp>
          <p:nvSpPr>
            <p:cNvPr id="32" name="object 32"/>
            <p:cNvSpPr/>
            <p:nvPr/>
          </p:nvSpPr>
          <p:spPr>
            <a:xfrm>
              <a:off x="5545835" y="8002523"/>
              <a:ext cx="358140" cy="356870"/>
            </a:xfrm>
            <a:custGeom>
              <a:avLst/>
              <a:gdLst/>
              <a:ahLst/>
              <a:cxnLst/>
              <a:rect l="l" t="t" r="r" b="b"/>
              <a:pathLst>
                <a:path w="358139" h="356870">
                  <a:moveTo>
                    <a:pt x="178307" y="356615"/>
                  </a:moveTo>
                  <a:lnTo>
                    <a:pt x="130704" y="350287"/>
                  </a:lnTo>
                  <a:lnTo>
                    <a:pt x="88053" y="332401"/>
                  </a:lnTo>
                  <a:lnTo>
                    <a:pt x="52006" y="304609"/>
                  </a:lnTo>
                  <a:lnTo>
                    <a:pt x="24214" y="268562"/>
                  </a:lnTo>
                  <a:lnTo>
                    <a:pt x="6328" y="225911"/>
                  </a:lnTo>
                  <a:lnTo>
                    <a:pt x="0" y="178307"/>
                  </a:lnTo>
                  <a:lnTo>
                    <a:pt x="6328" y="130704"/>
                  </a:lnTo>
                  <a:lnTo>
                    <a:pt x="24214" y="88053"/>
                  </a:lnTo>
                  <a:lnTo>
                    <a:pt x="52006" y="52006"/>
                  </a:lnTo>
                  <a:lnTo>
                    <a:pt x="88053" y="24214"/>
                  </a:lnTo>
                  <a:lnTo>
                    <a:pt x="130704" y="6328"/>
                  </a:lnTo>
                  <a:lnTo>
                    <a:pt x="178307" y="0"/>
                  </a:lnTo>
                  <a:lnTo>
                    <a:pt x="226024" y="6328"/>
                  </a:lnTo>
                  <a:lnTo>
                    <a:pt x="268957" y="24214"/>
                  </a:lnTo>
                  <a:lnTo>
                    <a:pt x="305371" y="52006"/>
                  </a:lnTo>
                  <a:lnTo>
                    <a:pt x="333530" y="88053"/>
                  </a:lnTo>
                  <a:lnTo>
                    <a:pt x="351698" y="130704"/>
                  </a:lnTo>
                  <a:lnTo>
                    <a:pt x="358139" y="178307"/>
                  </a:lnTo>
                  <a:lnTo>
                    <a:pt x="351698" y="225911"/>
                  </a:lnTo>
                  <a:lnTo>
                    <a:pt x="333530" y="268562"/>
                  </a:lnTo>
                  <a:lnTo>
                    <a:pt x="305371" y="304609"/>
                  </a:lnTo>
                  <a:lnTo>
                    <a:pt x="268957" y="332401"/>
                  </a:lnTo>
                  <a:lnTo>
                    <a:pt x="226024" y="350287"/>
                  </a:lnTo>
                  <a:lnTo>
                    <a:pt x="178307" y="356615"/>
                  </a:lnTo>
                  <a:close/>
                </a:path>
              </a:pathLst>
            </a:custGeom>
            <a:solidFill>
              <a:srgbClr val="F7D6C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615939" y="8074152"/>
              <a:ext cx="216407" cy="213360"/>
            </a:xfrm>
            <a:prstGeom prst="rect">
              <a:avLst/>
            </a:prstGeom>
          </p:spPr>
        </p:pic>
      </p:grpSp>
      <p:sp>
        <p:nvSpPr>
          <p:cNvPr id="34" name="object 34"/>
          <p:cNvSpPr txBox="1"/>
          <p:nvPr/>
        </p:nvSpPr>
        <p:spPr>
          <a:xfrm>
            <a:off x="4023421" y="8453294"/>
            <a:ext cx="660400" cy="3130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46990">
              <a:lnSpc>
                <a:spcPct val="100000"/>
              </a:lnSpc>
              <a:spcBef>
                <a:spcPts val="135"/>
              </a:spcBef>
            </a:pPr>
            <a:r>
              <a:rPr dirty="0" sz="600">
                <a:latin typeface="Calibri"/>
                <a:cs typeface="Calibri"/>
              </a:rPr>
              <a:t>NUVEM</a:t>
            </a:r>
            <a:r>
              <a:rPr dirty="0" sz="600" spc="110">
                <a:latin typeface="Calibri"/>
                <a:cs typeface="Calibri"/>
              </a:rPr>
              <a:t> </a:t>
            </a:r>
            <a:r>
              <a:rPr dirty="0" sz="600" spc="-10">
                <a:latin typeface="Calibri"/>
                <a:cs typeface="Calibri"/>
              </a:rPr>
              <a:t>PÚBLICA</a:t>
            </a:r>
            <a:endParaRPr sz="600">
              <a:latin typeface="Calibri"/>
              <a:cs typeface="Calibri"/>
            </a:endParaRPr>
          </a:p>
          <a:p>
            <a:pPr marL="42545" marR="5080" indent="-43180">
              <a:lnSpc>
                <a:spcPct val="102200"/>
              </a:lnSpc>
              <a:spcBef>
                <a:spcPts val="400"/>
              </a:spcBef>
            </a:pPr>
            <a:r>
              <a:rPr dirty="0" sz="450">
                <a:latin typeface="Calibri"/>
                <a:cs typeface="Calibri"/>
              </a:rPr>
              <a:t>Fornecidos</a:t>
            </a:r>
            <a:r>
              <a:rPr dirty="0" sz="450" spc="20">
                <a:latin typeface="Calibri"/>
                <a:cs typeface="Calibri"/>
              </a:rPr>
              <a:t> </a:t>
            </a:r>
            <a:r>
              <a:rPr dirty="0" sz="450">
                <a:latin typeface="Calibri"/>
                <a:cs typeface="Calibri"/>
              </a:rPr>
              <a:t>ao público</a:t>
            </a:r>
            <a:r>
              <a:rPr dirty="0" sz="450" spc="-5">
                <a:latin typeface="Calibri"/>
                <a:cs typeface="Calibri"/>
              </a:rPr>
              <a:t> </a:t>
            </a:r>
            <a:r>
              <a:rPr dirty="0" sz="450" spc="-10">
                <a:latin typeface="Calibri"/>
                <a:cs typeface="Calibri"/>
              </a:rPr>
              <a:t>geral</a:t>
            </a:r>
            <a:r>
              <a:rPr dirty="0" sz="450" spc="500">
                <a:latin typeface="Calibri"/>
                <a:cs typeface="Calibri"/>
              </a:rPr>
              <a:t> </a:t>
            </a:r>
            <a:r>
              <a:rPr dirty="0" sz="450">
                <a:latin typeface="Calibri"/>
                <a:cs typeface="Calibri"/>
              </a:rPr>
              <a:t>por</a:t>
            </a:r>
            <a:r>
              <a:rPr dirty="0" sz="450" spc="-15">
                <a:latin typeface="Calibri"/>
                <a:cs typeface="Calibri"/>
              </a:rPr>
              <a:t> </a:t>
            </a:r>
            <a:r>
              <a:rPr dirty="0" sz="450">
                <a:latin typeface="Calibri"/>
                <a:cs typeface="Calibri"/>
              </a:rPr>
              <a:t>grandes</a:t>
            </a:r>
            <a:r>
              <a:rPr dirty="0" sz="450" spc="5">
                <a:latin typeface="Calibri"/>
                <a:cs typeface="Calibri"/>
              </a:rPr>
              <a:t> </a:t>
            </a:r>
            <a:r>
              <a:rPr dirty="0" sz="450" spc="-10">
                <a:latin typeface="Calibri"/>
                <a:cs typeface="Calibri"/>
              </a:rPr>
              <a:t>provedores</a:t>
            </a:r>
            <a:endParaRPr sz="45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130117" y="8741090"/>
            <a:ext cx="446405" cy="952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450">
                <a:latin typeface="Calibri"/>
                <a:cs typeface="Calibri"/>
              </a:rPr>
              <a:t>(AWS,</a:t>
            </a:r>
            <a:r>
              <a:rPr dirty="0" sz="450" spc="-15">
                <a:latin typeface="Calibri"/>
                <a:cs typeface="Calibri"/>
              </a:rPr>
              <a:t> </a:t>
            </a:r>
            <a:r>
              <a:rPr dirty="0" sz="450">
                <a:latin typeface="Calibri"/>
                <a:cs typeface="Calibri"/>
              </a:rPr>
              <a:t>Azure,</a:t>
            </a:r>
            <a:r>
              <a:rPr dirty="0" sz="450" spc="-15">
                <a:latin typeface="Calibri"/>
                <a:cs typeface="Calibri"/>
              </a:rPr>
              <a:t> </a:t>
            </a:r>
            <a:r>
              <a:rPr dirty="0" sz="450" spc="-20">
                <a:latin typeface="Calibri"/>
                <a:cs typeface="Calibri"/>
              </a:rPr>
              <a:t>GCP)</a:t>
            </a:r>
            <a:endParaRPr sz="45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099629" y="8879788"/>
            <a:ext cx="508000" cy="952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450">
                <a:latin typeface="Calibri"/>
                <a:cs typeface="Calibri"/>
              </a:rPr>
              <a:t>vendas</a:t>
            </a:r>
            <a:r>
              <a:rPr dirty="0" sz="450" spc="5">
                <a:latin typeface="Calibri"/>
                <a:cs typeface="Calibri"/>
              </a:rPr>
              <a:t> </a:t>
            </a:r>
            <a:r>
              <a:rPr dirty="0" sz="450">
                <a:latin typeface="Calibri"/>
                <a:cs typeface="Calibri"/>
              </a:rPr>
              <a:t>(Black</a:t>
            </a:r>
            <a:r>
              <a:rPr dirty="0" sz="450" spc="10">
                <a:latin typeface="Calibri"/>
                <a:cs typeface="Calibri"/>
              </a:rPr>
              <a:t> </a:t>
            </a:r>
            <a:r>
              <a:rPr dirty="0" sz="450" spc="-10">
                <a:latin typeface="Calibri"/>
                <a:cs typeface="Calibri"/>
              </a:rPr>
              <a:t>Friday)</a:t>
            </a:r>
            <a:endParaRPr sz="45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790015" y="8635935"/>
            <a:ext cx="510540" cy="1651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09220" marR="5080" indent="-109855">
              <a:lnSpc>
                <a:spcPct val="102200"/>
              </a:lnSpc>
              <a:spcBef>
                <a:spcPts val="90"/>
              </a:spcBef>
            </a:pPr>
            <a:r>
              <a:rPr dirty="0" sz="450">
                <a:latin typeface="Calibri"/>
                <a:cs typeface="Calibri"/>
              </a:rPr>
              <a:t>Uso</a:t>
            </a:r>
            <a:r>
              <a:rPr dirty="0" sz="450" spc="-15">
                <a:latin typeface="Calibri"/>
                <a:cs typeface="Calibri"/>
              </a:rPr>
              <a:t> </a:t>
            </a:r>
            <a:r>
              <a:rPr dirty="0" sz="450">
                <a:latin typeface="Calibri"/>
                <a:cs typeface="Calibri"/>
              </a:rPr>
              <a:t>exclusivo</a:t>
            </a:r>
            <a:r>
              <a:rPr dirty="0" sz="450" spc="5">
                <a:latin typeface="Calibri"/>
                <a:cs typeface="Calibri"/>
              </a:rPr>
              <a:t> </a:t>
            </a:r>
            <a:r>
              <a:rPr dirty="0" sz="450">
                <a:latin typeface="Calibri"/>
                <a:cs typeface="Calibri"/>
              </a:rPr>
              <a:t>em</a:t>
            </a:r>
            <a:r>
              <a:rPr dirty="0" sz="450" spc="-5">
                <a:latin typeface="Calibri"/>
                <a:cs typeface="Calibri"/>
              </a:rPr>
              <a:t> </a:t>
            </a:r>
            <a:r>
              <a:rPr dirty="0" sz="450" spc="-25">
                <a:latin typeface="Calibri"/>
                <a:cs typeface="Calibri"/>
              </a:rPr>
              <a:t>um</a:t>
            </a:r>
            <a:r>
              <a:rPr dirty="0" sz="450" spc="500">
                <a:latin typeface="Calibri"/>
                <a:cs typeface="Calibri"/>
              </a:rPr>
              <a:t> </a:t>
            </a:r>
            <a:r>
              <a:rPr dirty="0" sz="450" spc="-10">
                <a:latin typeface="Calibri"/>
                <a:cs typeface="Calibri"/>
              </a:rPr>
              <a:t>organização</a:t>
            </a:r>
            <a:endParaRPr sz="45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001079" y="8811180"/>
            <a:ext cx="1362075" cy="952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5"/>
              </a:spcBef>
            </a:pPr>
            <a:r>
              <a:rPr dirty="0" sz="450">
                <a:latin typeface="Calibri"/>
                <a:cs typeface="Calibri"/>
              </a:rPr>
              <a:t>-</a:t>
            </a:r>
            <a:r>
              <a:rPr dirty="0" sz="450" spc="-5">
                <a:latin typeface="Calibri"/>
                <a:cs typeface="Calibri"/>
              </a:rPr>
              <a:t> </a:t>
            </a:r>
            <a:r>
              <a:rPr dirty="0" sz="450">
                <a:latin typeface="Calibri"/>
                <a:cs typeface="Calibri"/>
              </a:rPr>
              <a:t>Ex:</a:t>
            </a:r>
            <a:r>
              <a:rPr dirty="0" sz="450" spc="5">
                <a:latin typeface="Calibri"/>
                <a:cs typeface="Calibri"/>
              </a:rPr>
              <a:t> </a:t>
            </a:r>
            <a:r>
              <a:rPr dirty="0" sz="450">
                <a:latin typeface="Calibri"/>
                <a:cs typeface="Calibri"/>
              </a:rPr>
              <a:t>uso em</a:t>
            </a:r>
            <a:r>
              <a:rPr dirty="0" sz="450" spc="-10">
                <a:latin typeface="Calibri"/>
                <a:cs typeface="Calibri"/>
              </a:rPr>
              <a:t> </a:t>
            </a:r>
            <a:r>
              <a:rPr dirty="0" sz="450">
                <a:latin typeface="Calibri"/>
                <a:cs typeface="Calibri"/>
              </a:rPr>
              <a:t>campanhas</a:t>
            </a:r>
            <a:r>
              <a:rPr dirty="0" sz="450" spc="25">
                <a:latin typeface="Calibri"/>
                <a:cs typeface="Calibri"/>
              </a:rPr>
              <a:t> </a:t>
            </a:r>
            <a:r>
              <a:rPr dirty="0" sz="450">
                <a:latin typeface="Calibri"/>
                <a:cs typeface="Calibri"/>
              </a:rPr>
              <a:t>de</a:t>
            </a:r>
            <a:r>
              <a:rPr dirty="0" sz="450" spc="495">
                <a:latin typeface="Calibri"/>
                <a:cs typeface="Calibri"/>
              </a:rPr>
              <a:t> </a:t>
            </a:r>
            <a:r>
              <a:rPr dirty="0" baseline="37037" sz="675">
                <a:latin typeface="Calibri"/>
                <a:cs typeface="Calibri"/>
              </a:rPr>
              <a:t>-</a:t>
            </a:r>
            <a:r>
              <a:rPr dirty="0" baseline="37037" sz="675" spc="-7">
                <a:latin typeface="Calibri"/>
                <a:cs typeface="Calibri"/>
              </a:rPr>
              <a:t> </a:t>
            </a:r>
            <a:r>
              <a:rPr dirty="0" baseline="37037" sz="675">
                <a:latin typeface="Calibri"/>
                <a:cs typeface="Calibri"/>
              </a:rPr>
              <a:t>Ex:</a:t>
            </a:r>
            <a:r>
              <a:rPr dirty="0" baseline="37037" sz="675" spc="7">
                <a:latin typeface="Calibri"/>
                <a:cs typeface="Calibri"/>
              </a:rPr>
              <a:t> </a:t>
            </a:r>
            <a:r>
              <a:rPr dirty="0" baseline="37037" sz="675">
                <a:latin typeface="Calibri"/>
                <a:cs typeface="Calibri"/>
              </a:rPr>
              <a:t>armazenamento</a:t>
            </a:r>
            <a:r>
              <a:rPr dirty="0" baseline="37037" sz="675" spc="30">
                <a:latin typeface="Calibri"/>
                <a:cs typeface="Calibri"/>
              </a:rPr>
              <a:t> </a:t>
            </a:r>
            <a:r>
              <a:rPr dirty="0" baseline="37037" sz="675" spc="-37">
                <a:latin typeface="Calibri"/>
                <a:cs typeface="Calibri"/>
              </a:rPr>
              <a:t>de</a:t>
            </a:r>
            <a:endParaRPr baseline="37037" sz="675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754968" y="8429318"/>
            <a:ext cx="1286510" cy="582295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algn="ctr" marL="661035">
              <a:lnSpc>
                <a:spcPct val="100000"/>
              </a:lnSpc>
              <a:spcBef>
                <a:spcPts val="325"/>
              </a:spcBef>
            </a:pPr>
            <a:r>
              <a:rPr dirty="0" sz="600">
                <a:latin typeface="Calibri"/>
                <a:cs typeface="Calibri"/>
              </a:rPr>
              <a:t>NUVEM</a:t>
            </a:r>
            <a:r>
              <a:rPr dirty="0" sz="600" spc="110">
                <a:latin typeface="Calibri"/>
                <a:cs typeface="Calibri"/>
              </a:rPr>
              <a:t> </a:t>
            </a:r>
            <a:r>
              <a:rPr dirty="0" sz="600" spc="-10">
                <a:latin typeface="Calibri"/>
                <a:cs typeface="Calibri"/>
              </a:rPr>
              <a:t>HÍBRIDA</a:t>
            </a:r>
            <a:endParaRPr sz="600">
              <a:latin typeface="Calibri"/>
              <a:cs typeface="Calibri"/>
            </a:endParaRPr>
          </a:p>
          <a:p>
            <a:pPr algn="ctr" marL="681990">
              <a:lnSpc>
                <a:spcPct val="100000"/>
              </a:lnSpc>
              <a:spcBef>
                <a:spcPts val="145"/>
              </a:spcBef>
            </a:pPr>
            <a:r>
              <a:rPr dirty="0" sz="450">
                <a:latin typeface="Calibri"/>
                <a:cs typeface="Calibri"/>
              </a:rPr>
              <a:t>Combinação</a:t>
            </a:r>
            <a:r>
              <a:rPr dirty="0" sz="450" spc="25">
                <a:latin typeface="Calibri"/>
                <a:cs typeface="Calibri"/>
              </a:rPr>
              <a:t> </a:t>
            </a:r>
            <a:r>
              <a:rPr dirty="0" sz="450">
                <a:latin typeface="Calibri"/>
                <a:cs typeface="Calibri"/>
              </a:rPr>
              <a:t>de</a:t>
            </a:r>
            <a:r>
              <a:rPr dirty="0" sz="450" spc="5">
                <a:latin typeface="Calibri"/>
                <a:cs typeface="Calibri"/>
              </a:rPr>
              <a:t> </a:t>
            </a:r>
            <a:r>
              <a:rPr dirty="0" sz="450" spc="-10">
                <a:latin typeface="Calibri"/>
                <a:cs typeface="Calibri"/>
              </a:rPr>
              <a:t>cenários</a:t>
            </a:r>
            <a:endParaRPr sz="450">
              <a:latin typeface="Calibri"/>
              <a:cs typeface="Calibri"/>
            </a:endParaRPr>
          </a:p>
          <a:p>
            <a:pPr algn="ctr" marL="701040" marR="11430" indent="-1905">
              <a:lnSpc>
                <a:spcPct val="102200"/>
              </a:lnSpc>
            </a:pPr>
            <a:r>
              <a:rPr dirty="0" sz="450">
                <a:latin typeface="Calibri"/>
                <a:cs typeface="Calibri"/>
              </a:rPr>
              <a:t>-</a:t>
            </a:r>
            <a:r>
              <a:rPr dirty="0" sz="450" spc="-10">
                <a:latin typeface="Calibri"/>
                <a:cs typeface="Calibri"/>
              </a:rPr>
              <a:t> </a:t>
            </a:r>
            <a:r>
              <a:rPr dirty="0" sz="450">
                <a:latin typeface="Calibri"/>
                <a:cs typeface="Calibri"/>
              </a:rPr>
              <a:t>Ex: empresa</a:t>
            </a:r>
            <a:r>
              <a:rPr dirty="0" sz="450" spc="-5">
                <a:latin typeface="Calibri"/>
                <a:cs typeface="Calibri"/>
              </a:rPr>
              <a:t> </a:t>
            </a:r>
            <a:r>
              <a:rPr dirty="0" sz="450" spc="-25">
                <a:latin typeface="Calibri"/>
                <a:cs typeface="Calibri"/>
              </a:rPr>
              <a:t>de</a:t>
            </a:r>
            <a:r>
              <a:rPr dirty="0" sz="450" spc="500">
                <a:latin typeface="Calibri"/>
                <a:cs typeface="Calibri"/>
              </a:rPr>
              <a:t> </a:t>
            </a:r>
            <a:r>
              <a:rPr dirty="0" sz="450">
                <a:latin typeface="Calibri"/>
                <a:cs typeface="Calibri"/>
              </a:rPr>
              <a:t>manufatura</a:t>
            </a:r>
            <a:r>
              <a:rPr dirty="0" sz="450" spc="-5">
                <a:latin typeface="Calibri"/>
                <a:cs typeface="Calibri"/>
              </a:rPr>
              <a:t> </a:t>
            </a:r>
            <a:r>
              <a:rPr dirty="0" sz="450" spc="-10">
                <a:latin typeface="Calibri"/>
                <a:cs typeface="Calibri"/>
              </a:rPr>
              <a:t>mantém</a:t>
            </a:r>
            <a:r>
              <a:rPr dirty="0" sz="450" spc="500">
                <a:latin typeface="Calibri"/>
                <a:cs typeface="Calibri"/>
              </a:rPr>
              <a:t> </a:t>
            </a:r>
            <a:r>
              <a:rPr dirty="0" sz="450">
                <a:latin typeface="Calibri"/>
                <a:cs typeface="Calibri"/>
              </a:rPr>
              <a:t>segredos</a:t>
            </a:r>
            <a:r>
              <a:rPr dirty="0" sz="450" spc="-5">
                <a:latin typeface="Calibri"/>
                <a:cs typeface="Calibri"/>
              </a:rPr>
              <a:t> </a:t>
            </a:r>
            <a:r>
              <a:rPr dirty="0" sz="450">
                <a:latin typeface="Calibri"/>
                <a:cs typeface="Calibri"/>
              </a:rPr>
              <a:t>de</a:t>
            </a:r>
            <a:r>
              <a:rPr dirty="0" sz="450" spc="-10">
                <a:latin typeface="Calibri"/>
                <a:cs typeface="Calibri"/>
              </a:rPr>
              <a:t> </a:t>
            </a:r>
            <a:r>
              <a:rPr dirty="0" sz="450">
                <a:latin typeface="Calibri"/>
                <a:cs typeface="Calibri"/>
              </a:rPr>
              <a:t>projetos</a:t>
            </a:r>
            <a:r>
              <a:rPr dirty="0" sz="450" spc="-10">
                <a:latin typeface="Calibri"/>
                <a:cs typeface="Calibri"/>
              </a:rPr>
              <a:t> </a:t>
            </a:r>
            <a:r>
              <a:rPr dirty="0" sz="450" spc="-25">
                <a:latin typeface="Calibri"/>
                <a:cs typeface="Calibri"/>
              </a:rPr>
              <a:t>de</a:t>
            </a:r>
            <a:endParaRPr sz="450">
              <a:latin typeface="Calibri"/>
              <a:cs typeface="Calibri"/>
            </a:endParaRPr>
          </a:p>
          <a:p>
            <a:pPr algn="r" marR="26034">
              <a:lnSpc>
                <a:spcPct val="100000"/>
              </a:lnSpc>
              <a:tabLst>
                <a:tab pos="715645" algn="l"/>
              </a:tabLst>
            </a:pPr>
            <a:r>
              <a:rPr dirty="0" sz="450">
                <a:latin typeface="Calibri"/>
                <a:cs typeface="Calibri"/>
              </a:rPr>
              <a:t>prontuários em</a:t>
            </a:r>
            <a:r>
              <a:rPr dirty="0" sz="450" spc="-10">
                <a:latin typeface="Calibri"/>
                <a:cs typeface="Calibri"/>
              </a:rPr>
              <a:t> hospital</a:t>
            </a:r>
            <a:r>
              <a:rPr dirty="0" sz="450">
                <a:latin typeface="Calibri"/>
                <a:cs typeface="Calibri"/>
              </a:rPr>
              <a:t>	forma</a:t>
            </a:r>
            <a:r>
              <a:rPr dirty="0" sz="450" spc="-5">
                <a:latin typeface="Calibri"/>
                <a:cs typeface="Calibri"/>
              </a:rPr>
              <a:t> </a:t>
            </a:r>
            <a:r>
              <a:rPr dirty="0" sz="450">
                <a:latin typeface="Calibri"/>
                <a:cs typeface="Calibri"/>
              </a:rPr>
              <a:t>privada</a:t>
            </a:r>
            <a:r>
              <a:rPr dirty="0" sz="450" spc="15">
                <a:latin typeface="Calibri"/>
                <a:cs typeface="Calibri"/>
              </a:rPr>
              <a:t> </a:t>
            </a:r>
            <a:r>
              <a:rPr dirty="0" sz="450">
                <a:latin typeface="Calibri"/>
                <a:cs typeface="Calibri"/>
              </a:rPr>
              <a:t>e</a:t>
            </a:r>
            <a:r>
              <a:rPr dirty="0" sz="450" spc="-15">
                <a:latin typeface="Calibri"/>
                <a:cs typeface="Calibri"/>
              </a:rPr>
              <a:t> </a:t>
            </a:r>
            <a:r>
              <a:rPr dirty="0" sz="450" spc="-10">
                <a:latin typeface="Calibri"/>
                <a:cs typeface="Calibri"/>
              </a:rPr>
              <a:t>outras</a:t>
            </a:r>
            <a:endParaRPr sz="450">
              <a:latin typeface="Calibri"/>
              <a:cs typeface="Calibri"/>
            </a:endParaRPr>
          </a:p>
          <a:p>
            <a:pPr algn="r" marR="48260">
              <a:lnSpc>
                <a:spcPct val="100000"/>
              </a:lnSpc>
              <a:spcBef>
                <a:spcPts val="15"/>
              </a:spcBef>
            </a:pPr>
            <a:r>
              <a:rPr dirty="0" sz="450">
                <a:latin typeface="Calibri"/>
                <a:cs typeface="Calibri"/>
              </a:rPr>
              <a:t>aplicações</a:t>
            </a:r>
            <a:r>
              <a:rPr dirty="0" sz="450" spc="10">
                <a:latin typeface="Calibri"/>
                <a:cs typeface="Calibri"/>
              </a:rPr>
              <a:t> </a:t>
            </a:r>
            <a:r>
              <a:rPr dirty="0" sz="450">
                <a:latin typeface="Calibri"/>
                <a:cs typeface="Calibri"/>
              </a:rPr>
              <a:t>na</a:t>
            </a:r>
            <a:r>
              <a:rPr dirty="0" sz="450" spc="5">
                <a:latin typeface="Calibri"/>
                <a:cs typeface="Calibri"/>
              </a:rPr>
              <a:t> </a:t>
            </a:r>
            <a:r>
              <a:rPr dirty="0" sz="450" spc="-10">
                <a:latin typeface="Calibri"/>
                <a:cs typeface="Calibri"/>
              </a:rPr>
              <a:t>nuvem</a:t>
            </a:r>
            <a:endParaRPr sz="45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116323" y="8986480"/>
            <a:ext cx="2765425" cy="952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  <a:tabLst>
                <a:tab pos="1537335" algn="l"/>
                <a:tab pos="2752090" algn="l"/>
              </a:tabLst>
            </a:pPr>
            <a:r>
              <a:rPr dirty="0" u="sng" sz="450">
                <a:uFill>
                  <a:solidFill>
                    <a:srgbClr val="073472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450" spc="-10">
                <a:uFill>
                  <a:solidFill>
                    <a:srgbClr val="073472"/>
                  </a:solidFill>
                </a:uFill>
                <a:latin typeface="Calibri"/>
                <a:cs typeface="Calibri"/>
              </a:rPr>
              <a:t>pública</a:t>
            </a:r>
            <a:r>
              <a:rPr dirty="0" u="sng" sz="450">
                <a:uFill>
                  <a:solidFill>
                    <a:srgbClr val="073472"/>
                  </a:solidFill>
                </a:uFill>
                <a:latin typeface="Calibri"/>
                <a:cs typeface="Calibri"/>
              </a:rPr>
              <a:t>	</a:t>
            </a:r>
            <a:endParaRPr sz="45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171238" y="7724814"/>
            <a:ext cx="1344295" cy="1809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1000" b="1">
                <a:solidFill>
                  <a:srgbClr val="073472"/>
                </a:solidFill>
                <a:latin typeface="Calibri"/>
                <a:cs typeface="Calibri"/>
              </a:rPr>
              <a:t>Modelos</a:t>
            </a:r>
            <a:r>
              <a:rPr dirty="0" sz="1000" spc="15" b="1">
                <a:solidFill>
                  <a:srgbClr val="073472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073472"/>
                </a:solidFill>
                <a:latin typeface="Calibri"/>
                <a:cs typeface="Calibri"/>
              </a:rPr>
              <a:t>de</a:t>
            </a:r>
            <a:r>
              <a:rPr dirty="0" sz="1000" spc="40" b="1">
                <a:solidFill>
                  <a:srgbClr val="073472"/>
                </a:solidFill>
                <a:latin typeface="Calibri"/>
                <a:cs typeface="Calibri"/>
              </a:rPr>
              <a:t> </a:t>
            </a:r>
            <a:r>
              <a:rPr dirty="0" sz="1000" spc="-10" b="1">
                <a:solidFill>
                  <a:srgbClr val="073472"/>
                </a:solidFill>
                <a:latin typeface="Calibri"/>
                <a:cs typeface="Calibri"/>
              </a:rPr>
              <a:t>implantação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3938015" y="7577328"/>
            <a:ext cx="3088005" cy="1728470"/>
          </a:xfrm>
          <a:custGeom>
            <a:avLst/>
            <a:gdLst/>
            <a:ahLst/>
            <a:cxnLst/>
            <a:rect l="l" t="t" r="r" b="b"/>
            <a:pathLst>
              <a:path w="3088004" h="1728470">
                <a:moveTo>
                  <a:pt x="3087623" y="0"/>
                </a:moveTo>
                <a:lnTo>
                  <a:pt x="0" y="0"/>
                </a:lnTo>
                <a:lnTo>
                  <a:pt x="0" y="1728216"/>
                </a:lnTo>
                <a:lnTo>
                  <a:pt x="3087623" y="1728216"/>
                </a:lnTo>
                <a:lnTo>
                  <a:pt x="3087623" y="0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516162" y="3145004"/>
            <a:ext cx="96520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50">
                <a:solidFill>
                  <a:srgbClr val="262626"/>
                </a:solidFill>
                <a:latin typeface="Calibri"/>
                <a:cs typeface="Calibri"/>
              </a:rPr>
              <a:t>1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16162" y="9378120"/>
            <a:ext cx="96520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 sz="1100" spc="-50">
                <a:solidFill>
                  <a:srgbClr val="262626"/>
                </a:solidFill>
                <a:latin typeface="Calibri"/>
                <a:cs typeface="Calibri"/>
              </a:rPr>
              <a:t>5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3920421" y="9378120"/>
            <a:ext cx="96520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 sz="1100" spc="-50">
                <a:solidFill>
                  <a:srgbClr val="262626"/>
                </a:solidFill>
                <a:latin typeface="Calibri"/>
                <a:cs typeface="Calibri"/>
              </a:rPr>
              <a:t>6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920421" y="3145004"/>
            <a:ext cx="96520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50">
                <a:solidFill>
                  <a:srgbClr val="262626"/>
                </a:solidFill>
                <a:latin typeface="Calibri"/>
                <a:cs typeface="Calibri"/>
              </a:rPr>
              <a:t>2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16162" y="6244806"/>
            <a:ext cx="96520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50">
                <a:solidFill>
                  <a:srgbClr val="262626"/>
                </a:solidFill>
                <a:latin typeface="Calibri"/>
                <a:cs typeface="Calibri"/>
              </a:rPr>
              <a:t>3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920421" y="6244806"/>
            <a:ext cx="96520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50">
                <a:solidFill>
                  <a:srgbClr val="262626"/>
                </a:solidFill>
                <a:latin typeface="Calibri"/>
                <a:cs typeface="Calibri"/>
              </a:rPr>
              <a:t>4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84860" y="1882139"/>
            <a:ext cx="279400" cy="279400"/>
            <a:chOff x="784860" y="1882139"/>
            <a:chExt cx="279400" cy="279400"/>
          </a:xfrm>
        </p:grpSpPr>
        <p:sp>
          <p:nvSpPr>
            <p:cNvPr id="3" name="object 3"/>
            <p:cNvSpPr/>
            <p:nvPr/>
          </p:nvSpPr>
          <p:spPr>
            <a:xfrm>
              <a:off x="784860" y="1882139"/>
              <a:ext cx="279400" cy="279400"/>
            </a:xfrm>
            <a:custGeom>
              <a:avLst/>
              <a:gdLst/>
              <a:ahLst/>
              <a:cxnLst/>
              <a:rect l="l" t="t" r="r" b="b"/>
              <a:pathLst>
                <a:path w="279400" h="279400">
                  <a:moveTo>
                    <a:pt x="138684" y="278891"/>
                  </a:moveTo>
                  <a:lnTo>
                    <a:pt x="95000" y="271771"/>
                  </a:lnTo>
                  <a:lnTo>
                    <a:pt x="56948" y="251923"/>
                  </a:lnTo>
                  <a:lnTo>
                    <a:pt x="26871" y="221613"/>
                  </a:lnTo>
                  <a:lnTo>
                    <a:pt x="7107" y="183111"/>
                  </a:lnTo>
                  <a:lnTo>
                    <a:pt x="0" y="138683"/>
                  </a:lnTo>
                  <a:lnTo>
                    <a:pt x="7107" y="95000"/>
                  </a:lnTo>
                  <a:lnTo>
                    <a:pt x="26871" y="56948"/>
                  </a:lnTo>
                  <a:lnTo>
                    <a:pt x="56948" y="26871"/>
                  </a:lnTo>
                  <a:lnTo>
                    <a:pt x="95000" y="7107"/>
                  </a:lnTo>
                  <a:lnTo>
                    <a:pt x="138684" y="0"/>
                  </a:lnTo>
                  <a:lnTo>
                    <a:pt x="183111" y="7107"/>
                  </a:lnTo>
                  <a:lnTo>
                    <a:pt x="221613" y="26871"/>
                  </a:lnTo>
                  <a:lnTo>
                    <a:pt x="251923" y="56948"/>
                  </a:lnTo>
                  <a:lnTo>
                    <a:pt x="271771" y="95000"/>
                  </a:lnTo>
                  <a:lnTo>
                    <a:pt x="278892" y="138683"/>
                  </a:lnTo>
                  <a:lnTo>
                    <a:pt x="271771" y="183111"/>
                  </a:lnTo>
                  <a:lnTo>
                    <a:pt x="251923" y="221613"/>
                  </a:lnTo>
                  <a:lnTo>
                    <a:pt x="221613" y="251923"/>
                  </a:lnTo>
                  <a:lnTo>
                    <a:pt x="183111" y="271771"/>
                  </a:lnTo>
                  <a:lnTo>
                    <a:pt x="138684" y="278891"/>
                  </a:lnTo>
                  <a:close/>
                </a:path>
              </a:pathLst>
            </a:custGeom>
            <a:solidFill>
              <a:srgbClr val="F7D6C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1248" y="1935479"/>
              <a:ext cx="166116" cy="16916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44296" y="1941575"/>
              <a:ext cx="160020" cy="160020"/>
            </a:xfrm>
            <a:custGeom>
              <a:avLst/>
              <a:gdLst/>
              <a:ahLst/>
              <a:cxnLst/>
              <a:rect l="l" t="t" r="r" b="b"/>
              <a:pathLst>
                <a:path w="160019" h="160019">
                  <a:moveTo>
                    <a:pt x="0" y="0"/>
                  </a:moveTo>
                  <a:lnTo>
                    <a:pt x="160020" y="0"/>
                  </a:lnTo>
                  <a:lnTo>
                    <a:pt x="160020" y="160020"/>
                  </a:lnTo>
                  <a:lnTo>
                    <a:pt x="0" y="16002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/>
          <p:cNvGrpSpPr/>
          <p:nvPr/>
        </p:nvGrpSpPr>
        <p:grpSpPr>
          <a:xfrm>
            <a:off x="1321308" y="1882139"/>
            <a:ext cx="280670" cy="279400"/>
            <a:chOff x="1321308" y="1882139"/>
            <a:chExt cx="280670" cy="279400"/>
          </a:xfrm>
        </p:grpSpPr>
        <p:sp>
          <p:nvSpPr>
            <p:cNvPr id="7" name="object 7"/>
            <p:cNvSpPr/>
            <p:nvPr/>
          </p:nvSpPr>
          <p:spPr>
            <a:xfrm>
              <a:off x="1321308" y="1882139"/>
              <a:ext cx="280670" cy="279400"/>
            </a:xfrm>
            <a:custGeom>
              <a:avLst/>
              <a:gdLst/>
              <a:ahLst/>
              <a:cxnLst/>
              <a:rect l="l" t="t" r="r" b="b"/>
              <a:pathLst>
                <a:path w="280669" h="279400">
                  <a:moveTo>
                    <a:pt x="140208" y="278891"/>
                  </a:moveTo>
                  <a:lnTo>
                    <a:pt x="95780" y="271771"/>
                  </a:lnTo>
                  <a:lnTo>
                    <a:pt x="57278" y="251923"/>
                  </a:lnTo>
                  <a:lnTo>
                    <a:pt x="26968" y="221613"/>
                  </a:lnTo>
                  <a:lnTo>
                    <a:pt x="7120" y="183111"/>
                  </a:lnTo>
                  <a:lnTo>
                    <a:pt x="0" y="138683"/>
                  </a:lnTo>
                  <a:lnTo>
                    <a:pt x="7120" y="95000"/>
                  </a:lnTo>
                  <a:lnTo>
                    <a:pt x="26968" y="56948"/>
                  </a:lnTo>
                  <a:lnTo>
                    <a:pt x="57278" y="26871"/>
                  </a:lnTo>
                  <a:lnTo>
                    <a:pt x="95780" y="7107"/>
                  </a:lnTo>
                  <a:lnTo>
                    <a:pt x="140208" y="0"/>
                  </a:lnTo>
                  <a:lnTo>
                    <a:pt x="184635" y="7107"/>
                  </a:lnTo>
                  <a:lnTo>
                    <a:pt x="223137" y="26871"/>
                  </a:lnTo>
                  <a:lnTo>
                    <a:pt x="253447" y="56948"/>
                  </a:lnTo>
                  <a:lnTo>
                    <a:pt x="273295" y="95000"/>
                  </a:lnTo>
                  <a:lnTo>
                    <a:pt x="280416" y="138683"/>
                  </a:lnTo>
                  <a:lnTo>
                    <a:pt x="273295" y="183111"/>
                  </a:lnTo>
                  <a:lnTo>
                    <a:pt x="253447" y="221613"/>
                  </a:lnTo>
                  <a:lnTo>
                    <a:pt x="223137" y="251923"/>
                  </a:lnTo>
                  <a:lnTo>
                    <a:pt x="184635" y="271771"/>
                  </a:lnTo>
                  <a:lnTo>
                    <a:pt x="140208" y="278891"/>
                  </a:lnTo>
                  <a:close/>
                </a:path>
              </a:pathLst>
            </a:custGeom>
            <a:solidFill>
              <a:srgbClr val="F7D6C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77695" y="1935479"/>
              <a:ext cx="170687" cy="169163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1859279" y="1882139"/>
            <a:ext cx="280670" cy="279400"/>
            <a:chOff x="1859279" y="1882139"/>
            <a:chExt cx="280670" cy="279400"/>
          </a:xfrm>
        </p:grpSpPr>
        <p:sp>
          <p:nvSpPr>
            <p:cNvPr id="10" name="object 10"/>
            <p:cNvSpPr/>
            <p:nvPr/>
          </p:nvSpPr>
          <p:spPr>
            <a:xfrm>
              <a:off x="1859279" y="1882139"/>
              <a:ext cx="280670" cy="279400"/>
            </a:xfrm>
            <a:custGeom>
              <a:avLst/>
              <a:gdLst/>
              <a:ahLst/>
              <a:cxnLst/>
              <a:rect l="l" t="t" r="r" b="b"/>
              <a:pathLst>
                <a:path w="280669" h="279400">
                  <a:moveTo>
                    <a:pt x="140208" y="278891"/>
                  </a:moveTo>
                  <a:lnTo>
                    <a:pt x="95780" y="271771"/>
                  </a:lnTo>
                  <a:lnTo>
                    <a:pt x="57278" y="251923"/>
                  </a:lnTo>
                  <a:lnTo>
                    <a:pt x="26968" y="221613"/>
                  </a:lnTo>
                  <a:lnTo>
                    <a:pt x="7120" y="183111"/>
                  </a:lnTo>
                  <a:lnTo>
                    <a:pt x="0" y="138683"/>
                  </a:lnTo>
                  <a:lnTo>
                    <a:pt x="7120" y="95000"/>
                  </a:lnTo>
                  <a:lnTo>
                    <a:pt x="26968" y="56948"/>
                  </a:lnTo>
                  <a:lnTo>
                    <a:pt x="57278" y="26871"/>
                  </a:lnTo>
                  <a:lnTo>
                    <a:pt x="95780" y="7107"/>
                  </a:lnTo>
                  <a:lnTo>
                    <a:pt x="140208" y="0"/>
                  </a:lnTo>
                  <a:lnTo>
                    <a:pt x="184635" y="7107"/>
                  </a:lnTo>
                  <a:lnTo>
                    <a:pt x="223137" y="26871"/>
                  </a:lnTo>
                  <a:lnTo>
                    <a:pt x="253447" y="56948"/>
                  </a:lnTo>
                  <a:lnTo>
                    <a:pt x="273295" y="95000"/>
                  </a:lnTo>
                  <a:lnTo>
                    <a:pt x="280416" y="138683"/>
                  </a:lnTo>
                  <a:lnTo>
                    <a:pt x="273295" y="183111"/>
                  </a:lnTo>
                  <a:lnTo>
                    <a:pt x="253447" y="221613"/>
                  </a:lnTo>
                  <a:lnTo>
                    <a:pt x="223137" y="251923"/>
                  </a:lnTo>
                  <a:lnTo>
                    <a:pt x="184635" y="271771"/>
                  </a:lnTo>
                  <a:lnTo>
                    <a:pt x="140208" y="278891"/>
                  </a:lnTo>
                  <a:close/>
                </a:path>
              </a:pathLst>
            </a:custGeom>
            <a:solidFill>
              <a:srgbClr val="F7D6C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14144" y="1935479"/>
              <a:ext cx="169163" cy="169163"/>
            </a:xfrm>
            <a:prstGeom prst="rect">
              <a:avLst/>
            </a:prstGeom>
          </p:spPr>
        </p:pic>
      </p:grpSp>
      <p:grpSp>
        <p:nvGrpSpPr>
          <p:cNvPr id="12" name="object 12"/>
          <p:cNvGrpSpPr/>
          <p:nvPr/>
        </p:nvGrpSpPr>
        <p:grpSpPr>
          <a:xfrm>
            <a:off x="2397251" y="1882139"/>
            <a:ext cx="279400" cy="279400"/>
            <a:chOff x="2397251" y="1882139"/>
            <a:chExt cx="279400" cy="279400"/>
          </a:xfrm>
        </p:grpSpPr>
        <p:sp>
          <p:nvSpPr>
            <p:cNvPr id="13" name="object 13"/>
            <p:cNvSpPr/>
            <p:nvPr/>
          </p:nvSpPr>
          <p:spPr>
            <a:xfrm>
              <a:off x="2397251" y="1882139"/>
              <a:ext cx="279400" cy="279400"/>
            </a:xfrm>
            <a:custGeom>
              <a:avLst/>
              <a:gdLst/>
              <a:ahLst/>
              <a:cxnLst/>
              <a:rect l="l" t="t" r="r" b="b"/>
              <a:pathLst>
                <a:path w="279400" h="279400">
                  <a:moveTo>
                    <a:pt x="140208" y="278891"/>
                  </a:moveTo>
                  <a:lnTo>
                    <a:pt x="95780" y="271771"/>
                  </a:lnTo>
                  <a:lnTo>
                    <a:pt x="57278" y="251923"/>
                  </a:lnTo>
                  <a:lnTo>
                    <a:pt x="26968" y="221613"/>
                  </a:lnTo>
                  <a:lnTo>
                    <a:pt x="7120" y="183111"/>
                  </a:lnTo>
                  <a:lnTo>
                    <a:pt x="0" y="138683"/>
                  </a:lnTo>
                  <a:lnTo>
                    <a:pt x="7120" y="95000"/>
                  </a:lnTo>
                  <a:lnTo>
                    <a:pt x="26968" y="56948"/>
                  </a:lnTo>
                  <a:lnTo>
                    <a:pt x="57278" y="26871"/>
                  </a:lnTo>
                  <a:lnTo>
                    <a:pt x="95780" y="7107"/>
                  </a:lnTo>
                  <a:lnTo>
                    <a:pt x="140208" y="0"/>
                  </a:lnTo>
                  <a:lnTo>
                    <a:pt x="183891" y="7107"/>
                  </a:lnTo>
                  <a:lnTo>
                    <a:pt x="221943" y="26871"/>
                  </a:lnTo>
                  <a:lnTo>
                    <a:pt x="252020" y="56948"/>
                  </a:lnTo>
                  <a:lnTo>
                    <a:pt x="271784" y="95000"/>
                  </a:lnTo>
                  <a:lnTo>
                    <a:pt x="278892" y="138683"/>
                  </a:lnTo>
                  <a:lnTo>
                    <a:pt x="271784" y="183111"/>
                  </a:lnTo>
                  <a:lnTo>
                    <a:pt x="252020" y="221613"/>
                  </a:lnTo>
                  <a:lnTo>
                    <a:pt x="221943" y="251923"/>
                  </a:lnTo>
                  <a:lnTo>
                    <a:pt x="183891" y="271771"/>
                  </a:lnTo>
                  <a:lnTo>
                    <a:pt x="140208" y="278891"/>
                  </a:lnTo>
                  <a:close/>
                </a:path>
              </a:pathLst>
            </a:custGeom>
            <a:solidFill>
              <a:srgbClr val="F7D6C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49067" y="1935479"/>
              <a:ext cx="170687" cy="169163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456688" y="1941575"/>
              <a:ext cx="160020" cy="160020"/>
            </a:xfrm>
            <a:custGeom>
              <a:avLst/>
              <a:gdLst/>
              <a:ahLst/>
              <a:cxnLst/>
              <a:rect l="l" t="t" r="r" b="b"/>
              <a:pathLst>
                <a:path w="160019" h="160019">
                  <a:moveTo>
                    <a:pt x="0" y="0"/>
                  </a:moveTo>
                  <a:lnTo>
                    <a:pt x="160019" y="0"/>
                  </a:lnTo>
                  <a:lnTo>
                    <a:pt x="160019" y="160020"/>
                  </a:lnTo>
                  <a:lnTo>
                    <a:pt x="0" y="16002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534923" y="1379219"/>
            <a:ext cx="3086100" cy="1729739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wrap="square" lIns="0" tIns="1778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40"/>
              </a:spcBef>
            </a:pPr>
            <a:endParaRPr sz="1000">
              <a:latin typeface="Times New Roman"/>
              <a:cs typeface="Times New Roman"/>
            </a:endParaRPr>
          </a:p>
          <a:p>
            <a:pPr marL="229870">
              <a:lnSpc>
                <a:spcPct val="100000"/>
              </a:lnSpc>
            </a:pPr>
            <a:r>
              <a:rPr dirty="0" sz="1000" spc="-10" b="1">
                <a:solidFill>
                  <a:srgbClr val="073472"/>
                </a:solidFill>
                <a:latin typeface="Calibri"/>
                <a:cs typeface="Calibri"/>
              </a:rPr>
              <a:t>Benefícios</a:t>
            </a: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1000">
              <a:latin typeface="Calibri"/>
              <a:cs typeface="Calibri"/>
            </a:endParaRPr>
          </a:p>
          <a:p>
            <a:pPr algn="r" marR="863600">
              <a:lnSpc>
                <a:spcPct val="100000"/>
              </a:lnSpc>
              <a:tabLst>
                <a:tab pos="575945" algn="l"/>
                <a:tab pos="1099820" algn="l"/>
                <a:tab pos="1622425" algn="l"/>
              </a:tabLst>
            </a:pPr>
            <a:r>
              <a:rPr dirty="0" sz="600" spc="-10">
                <a:latin typeface="Calibri"/>
                <a:cs typeface="Calibri"/>
              </a:rPr>
              <a:t>Escalabilidade</a:t>
            </a:r>
            <a:r>
              <a:rPr dirty="0" sz="600">
                <a:latin typeface="Calibri"/>
                <a:cs typeface="Calibri"/>
              </a:rPr>
              <a:t>	Redução</a:t>
            </a:r>
            <a:r>
              <a:rPr dirty="0" sz="600" spc="15">
                <a:latin typeface="Calibri"/>
                <a:cs typeface="Calibri"/>
              </a:rPr>
              <a:t> </a:t>
            </a:r>
            <a:r>
              <a:rPr dirty="0" sz="600" spc="-25">
                <a:latin typeface="Calibri"/>
                <a:cs typeface="Calibri"/>
              </a:rPr>
              <a:t>de</a:t>
            </a:r>
            <a:r>
              <a:rPr dirty="0" sz="600">
                <a:latin typeface="Calibri"/>
                <a:cs typeface="Calibri"/>
              </a:rPr>
              <a:t>	</a:t>
            </a:r>
            <a:r>
              <a:rPr dirty="0" sz="600" spc="-10">
                <a:latin typeface="Calibri"/>
                <a:cs typeface="Calibri"/>
              </a:rPr>
              <a:t>Flexibilidade</a:t>
            </a:r>
            <a:r>
              <a:rPr dirty="0" sz="600">
                <a:latin typeface="Calibri"/>
                <a:cs typeface="Calibri"/>
              </a:rPr>
              <a:t>	</a:t>
            </a:r>
            <a:r>
              <a:rPr dirty="0" sz="600" spc="-10">
                <a:latin typeface="Calibri"/>
                <a:cs typeface="Calibri"/>
              </a:rPr>
              <a:t>Continuidade</a:t>
            </a:r>
            <a:endParaRPr sz="600">
              <a:latin typeface="Calibri"/>
              <a:cs typeface="Calibri"/>
            </a:endParaRPr>
          </a:p>
          <a:p>
            <a:pPr algn="r" marR="888365">
              <a:lnSpc>
                <a:spcPct val="100000"/>
              </a:lnSpc>
              <a:spcBef>
                <a:spcPts val="25"/>
              </a:spcBef>
              <a:tabLst>
                <a:tab pos="985519" algn="l"/>
              </a:tabLst>
            </a:pPr>
            <a:r>
              <a:rPr dirty="0" sz="600" spc="-10">
                <a:latin typeface="Calibri"/>
                <a:cs typeface="Calibri"/>
              </a:rPr>
              <a:t>custos</a:t>
            </a:r>
            <a:r>
              <a:rPr dirty="0" sz="600">
                <a:latin typeface="Calibri"/>
                <a:cs typeface="Calibri"/>
              </a:rPr>
              <a:t>	de</a:t>
            </a:r>
            <a:r>
              <a:rPr dirty="0" sz="600" spc="5">
                <a:latin typeface="Calibri"/>
                <a:cs typeface="Calibri"/>
              </a:rPr>
              <a:t> </a:t>
            </a:r>
            <a:r>
              <a:rPr dirty="0" sz="600" spc="-10">
                <a:latin typeface="Calibri"/>
                <a:cs typeface="Calibri"/>
              </a:rPr>
              <a:t>negócios</a:t>
            </a:r>
            <a:endParaRPr sz="6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113784" y="1751076"/>
            <a:ext cx="2919730" cy="1365885"/>
            <a:chOff x="4113784" y="1751076"/>
            <a:chExt cx="2919730" cy="1365885"/>
          </a:xfrm>
        </p:grpSpPr>
        <p:sp>
          <p:nvSpPr>
            <p:cNvPr id="18" name="object 18"/>
            <p:cNvSpPr/>
            <p:nvPr/>
          </p:nvSpPr>
          <p:spPr>
            <a:xfrm>
              <a:off x="4116324" y="2872740"/>
              <a:ext cx="2752725" cy="0"/>
            </a:xfrm>
            <a:custGeom>
              <a:avLst/>
              <a:gdLst/>
              <a:ahLst/>
              <a:cxnLst/>
              <a:rect l="l" t="t" r="r" b="b"/>
              <a:pathLst>
                <a:path w="2752725" h="0">
                  <a:moveTo>
                    <a:pt x="0" y="0"/>
                  </a:moveTo>
                  <a:lnTo>
                    <a:pt x="2752343" y="0"/>
                  </a:lnTo>
                </a:path>
              </a:pathLst>
            </a:custGeom>
            <a:ln w="4572">
              <a:solidFill>
                <a:srgbClr val="07347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06668" y="2046732"/>
              <a:ext cx="926592" cy="1069847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4139184" y="1751076"/>
              <a:ext cx="451484" cy="451484"/>
            </a:xfrm>
            <a:custGeom>
              <a:avLst/>
              <a:gdLst/>
              <a:ahLst/>
              <a:cxnLst/>
              <a:rect l="l" t="t" r="r" b="b"/>
              <a:pathLst>
                <a:path w="451485" h="451485">
                  <a:moveTo>
                    <a:pt x="225551" y="451103"/>
                  </a:moveTo>
                  <a:lnTo>
                    <a:pt x="179980" y="446537"/>
                  </a:lnTo>
                  <a:lnTo>
                    <a:pt x="137588" y="433435"/>
                  </a:lnTo>
                  <a:lnTo>
                    <a:pt x="99268" y="412688"/>
                  </a:lnTo>
                  <a:lnTo>
                    <a:pt x="65912" y="385190"/>
                  </a:lnTo>
                  <a:lnTo>
                    <a:pt x="38415" y="351835"/>
                  </a:lnTo>
                  <a:lnTo>
                    <a:pt x="17668" y="313515"/>
                  </a:lnTo>
                  <a:lnTo>
                    <a:pt x="4566" y="271123"/>
                  </a:lnTo>
                  <a:lnTo>
                    <a:pt x="0" y="225551"/>
                  </a:lnTo>
                  <a:lnTo>
                    <a:pt x="4566" y="179980"/>
                  </a:lnTo>
                  <a:lnTo>
                    <a:pt x="17668" y="137588"/>
                  </a:lnTo>
                  <a:lnTo>
                    <a:pt x="38415" y="99268"/>
                  </a:lnTo>
                  <a:lnTo>
                    <a:pt x="65913" y="65912"/>
                  </a:lnTo>
                  <a:lnTo>
                    <a:pt x="99268" y="38415"/>
                  </a:lnTo>
                  <a:lnTo>
                    <a:pt x="137588" y="17668"/>
                  </a:lnTo>
                  <a:lnTo>
                    <a:pt x="179980" y="4566"/>
                  </a:lnTo>
                  <a:lnTo>
                    <a:pt x="225551" y="0"/>
                  </a:lnTo>
                  <a:lnTo>
                    <a:pt x="271123" y="4566"/>
                  </a:lnTo>
                  <a:lnTo>
                    <a:pt x="313515" y="17668"/>
                  </a:lnTo>
                  <a:lnTo>
                    <a:pt x="351835" y="38415"/>
                  </a:lnTo>
                  <a:lnTo>
                    <a:pt x="385191" y="65912"/>
                  </a:lnTo>
                  <a:lnTo>
                    <a:pt x="412688" y="99268"/>
                  </a:lnTo>
                  <a:lnTo>
                    <a:pt x="433435" y="137588"/>
                  </a:lnTo>
                  <a:lnTo>
                    <a:pt x="446537" y="179980"/>
                  </a:lnTo>
                  <a:lnTo>
                    <a:pt x="451104" y="225551"/>
                  </a:lnTo>
                  <a:lnTo>
                    <a:pt x="446537" y="271123"/>
                  </a:lnTo>
                  <a:lnTo>
                    <a:pt x="433435" y="313515"/>
                  </a:lnTo>
                  <a:lnTo>
                    <a:pt x="412688" y="351835"/>
                  </a:lnTo>
                  <a:lnTo>
                    <a:pt x="385191" y="385190"/>
                  </a:lnTo>
                  <a:lnTo>
                    <a:pt x="351835" y="412688"/>
                  </a:lnTo>
                  <a:lnTo>
                    <a:pt x="313515" y="433435"/>
                  </a:lnTo>
                  <a:lnTo>
                    <a:pt x="271123" y="446537"/>
                  </a:lnTo>
                  <a:lnTo>
                    <a:pt x="225551" y="451103"/>
                  </a:lnTo>
                  <a:close/>
                </a:path>
              </a:pathLst>
            </a:custGeom>
            <a:solidFill>
              <a:srgbClr val="4472C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4242854" y="1811534"/>
            <a:ext cx="259715" cy="315595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algn="ctr" marR="5080" indent="1905">
              <a:lnSpc>
                <a:spcPct val="93300"/>
              </a:lnSpc>
              <a:spcBef>
                <a:spcPts val="140"/>
              </a:spcBef>
            </a:pPr>
            <a:r>
              <a:rPr dirty="0" sz="500" spc="-10">
                <a:solidFill>
                  <a:srgbClr val="FFFFFF"/>
                </a:solidFill>
                <a:latin typeface="Calibri"/>
                <a:cs typeface="Calibri"/>
              </a:rPr>
              <a:t>Sensores</a:t>
            </a:r>
            <a:r>
              <a:rPr dirty="0" sz="500" spc="5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500">
                <a:solidFill>
                  <a:srgbClr val="FFFFFF"/>
                </a:solidFill>
                <a:latin typeface="Calibri"/>
                <a:cs typeface="Calibri"/>
              </a:rPr>
              <a:t>em</a:t>
            </a:r>
            <a:r>
              <a:rPr dirty="0" sz="500" spc="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500" spc="-10">
                <a:solidFill>
                  <a:srgbClr val="FFFFFF"/>
                </a:solidFill>
                <a:latin typeface="Calibri"/>
                <a:cs typeface="Calibri"/>
              </a:rPr>
              <a:t>linha</a:t>
            </a:r>
            <a:r>
              <a:rPr dirty="0" sz="500" spc="5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500" spc="-25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dirty="0" sz="500" spc="5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500" spc="-10">
                <a:solidFill>
                  <a:srgbClr val="FFFFFF"/>
                </a:solidFill>
                <a:latin typeface="Calibri"/>
                <a:cs typeface="Calibri"/>
              </a:rPr>
              <a:t>produção</a:t>
            </a:r>
            <a:endParaRPr sz="5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168140" y="2247900"/>
            <a:ext cx="393700" cy="539750"/>
            <a:chOff x="4168140" y="2247900"/>
            <a:chExt cx="393700" cy="539750"/>
          </a:xfrm>
        </p:grpSpPr>
        <p:sp>
          <p:nvSpPr>
            <p:cNvPr id="23" name="object 23"/>
            <p:cNvSpPr/>
            <p:nvPr/>
          </p:nvSpPr>
          <p:spPr>
            <a:xfrm>
              <a:off x="4285488" y="2247900"/>
              <a:ext cx="158750" cy="96520"/>
            </a:xfrm>
            <a:custGeom>
              <a:avLst/>
              <a:gdLst/>
              <a:ahLst/>
              <a:cxnLst/>
              <a:rect l="l" t="t" r="r" b="b"/>
              <a:pathLst>
                <a:path w="158750" h="96519">
                  <a:moveTo>
                    <a:pt x="79247" y="96012"/>
                  </a:moveTo>
                  <a:lnTo>
                    <a:pt x="0" y="0"/>
                  </a:lnTo>
                  <a:lnTo>
                    <a:pt x="158495" y="0"/>
                  </a:lnTo>
                  <a:lnTo>
                    <a:pt x="79247" y="96012"/>
                  </a:lnTo>
                  <a:close/>
                </a:path>
              </a:pathLst>
            </a:custGeom>
            <a:solidFill>
              <a:srgbClr val="AFBC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4168140" y="2383535"/>
              <a:ext cx="393700" cy="403860"/>
            </a:xfrm>
            <a:custGeom>
              <a:avLst/>
              <a:gdLst/>
              <a:ahLst/>
              <a:cxnLst/>
              <a:rect l="l" t="t" r="r" b="b"/>
              <a:pathLst>
                <a:path w="393700" h="403860">
                  <a:moveTo>
                    <a:pt x="196595" y="403860"/>
                  </a:moveTo>
                  <a:lnTo>
                    <a:pt x="151635" y="398550"/>
                  </a:lnTo>
                  <a:lnTo>
                    <a:pt x="110301" y="383403"/>
                  </a:lnTo>
                  <a:lnTo>
                    <a:pt x="73791" y="359592"/>
                  </a:lnTo>
                  <a:lnTo>
                    <a:pt x="43307" y="328290"/>
                  </a:lnTo>
                  <a:lnTo>
                    <a:pt x="20047" y="290670"/>
                  </a:lnTo>
                  <a:lnTo>
                    <a:pt x="5211" y="247905"/>
                  </a:lnTo>
                  <a:lnTo>
                    <a:pt x="0" y="201168"/>
                  </a:lnTo>
                  <a:lnTo>
                    <a:pt x="5211" y="154994"/>
                  </a:lnTo>
                  <a:lnTo>
                    <a:pt x="20047" y="112633"/>
                  </a:lnTo>
                  <a:lnTo>
                    <a:pt x="43307" y="75284"/>
                  </a:lnTo>
                  <a:lnTo>
                    <a:pt x="73791" y="44147"/>
                  </a:lnTo>
                  <a:lnTo>
                    <a:pt x="110301" y="20420"/>
                  </a:lnTo>
                  <a:lnTo>
                    <a:pt x="151635" y="5305"/>
                  </a:lnTo>
                  <a:lnTo>
                    <a:pt x="196595" y="0"/>
                  </a:lnTo>
                  <a:lnTo>
                    <a:pt x="241556" y="5305"/>
                  </a:lnTo>
                  <a:lnTo>
                    <a:pt x="282890" y="20420"/>
                  </a:lnTo>
                  <a:lnTo>
                    <a:pt x="319400" y="44147"/>
                  </a:lnTo>
                  <a:lnTo>
                    <a:pt x="349884" y="75284"/>
                  </a:lnTo>
                  <a:lnTo>
                    <a:pt x="373144" y="112633"/>
                  </a:lnTo>
                  <a:lnTo>
                    <a:pt x="387980" y="154994"/>
                  </a:lnTo>
                  <a:lnTo>
                    <a:pt x="393191" y="201168"/>
                  </a:lnTo>
                  <a:lnTo>
                    <a:pt x="387980" y="247905"/>
                  </a:lnTo>
                  <a:lnTo>
                    <a:pt x="373144" y="290670"/>
                  </a:lnTo>
                  <a:lnTo>
                    <a:pt x="349884" y="328290"/>
                  </a:lnTo>
                  <a:lnTo>
                    <a:pt x="319400" y="359592"/>
                  </a:lnTo>
                  <a:lnTo>
                    <a:pt x="282890" y="383403"/>
                  </a:lnTo>
                  <a:lnTo>
                    <a:pt x="241556" y="398550"/>
                  </a:lnTo>
                  <a:lnTo>
                    <a:pt x="196595" y="403860"/>
                  </a:lnTo>
                  <a:close/>
                </a:path>
              </a:pathLst>
            </a:custGeom>
            <a:solidFill>
              <a:srgbClr val="4472C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4241310" y="2456173"/>
            <a:ext cx="265430" cy="245745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algn="just" marR="5080" indent="4445">
              <a:lnSpc>
                <a:spcPts val="560"/>
              </a:lnSpc>
              <a:spcBef>
                <a:spcPts val="155"/>
              </a:spcBef>
            </a:pPr>
            <a:r>
              <a:rPr dirty="0" sz="500" spc="-10">
                <a:solidFill>
                  <a:srgbClr val="FFFFFF"/>
                </a:solidFill>
                <a:latin typeface="Calibri"/>
                <a:cs typeface="Calibri"/>
              </a:rPr>
              <a:t>Monitora</a:t>
            </a:r>
            <a:r>
              <a:rPr dirty="0" sz="500" spc="5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500">
                <a:solidFill>
                  <a:srgbClr val="FFFFFF"/>
                </a:solidFill>
                <a:latin typeface="Calibri"/>
                <a:cs typeface="Calibri"/>
              </a:rPr>
              <a:t>mento</a:t>
            </a:r>
            <a:r>
              <a:rPr dirty="0" sz="500" spc="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500" spc="-25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dirty="0" sz="500" spc="5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500" spc="-10">
                <a:solidFill>
                  <a:srgbClr val="FFFFFF"/>
                </a:solidFill>
                <a:latin typeface="Calibri"/>
                <a:cs typeface="Calibri"/>
              </a:rPr>
              <a:t>desgaste</a:t>
            </a:r>
            <a:endParaRPr sz="5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4661915" y="2406395"/>
            <a:ext cx="567055" cy="358140"/>
            <a:chOff x="4661915" y="2406395"/>
            <a:chExt cx="567055" cy="358140"/>
          </a:xfrm>
        </p:grpSpPr>
        <p:sp>
          <p:nvSpPr>
            <p:cNvPr id="27" name="object 27"/>
            <p:cNvSpPr/>
            <p:nvPr/>
          </p:nvSpPr>
          <p:spPr>
            <a:xfrm>
              <a:off x="4661915" y="2506980"/>
              <a:ext cx="97790" cy="157480"/>
            </a:xfrm>
            <a:custGeom>
              <a:avLst/>
              <a:gdLst/>
              <a:ahLst/>
              <a:cxnLst/>
              <a:rect l="l" t="t" r="r" b="b"/>
              <a:pathLst>
                <a:path w="97789" h="157480">
                  <a:moveTo>
                    <a:pt x="0" y="156971"/>
                  </a:moveTo>
                  <a:lnTo>
                    <a:pt x="0" y="0"/>
                  </a:lnTo>
                  <a:lnTo>
                    <a:pt x="97535" y="77723"/>
                  </a:lnTo>
                  <a:lnTo>
                    <a:pt x="0" y="156971"/>
                  </a:lnTo>
                  <a:close/>
                </a:path>
              </a:pathLst>
            </a:custGeom>
            <a:solidFill>
              <a:srgbClr val="AFBC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4853939" y="2406395"/>
              <a:ext cx="375285" cy="358140"/>
            </a:xfrm>
            <a:custGeom>
              <a:avLst/>
              <a:gdLst/>
              <a:ahLst/>
              <a:cxnLst/>
              <a:rect l="l" t="t" r="r" b="b"/>
              <a:pathLst>
                <a:path w="375285" h="358139">
                  <a:moveTo>
                    <a:pt x="187452" y="358139"/>
                  </a:moveTo>
                  <a:lnTo>
                    <a:pt x="137583" y="351804"/>
                  </a:lnTo>
                  <a:lnTo>
                    <a:pt x="92794" y="333868"/>
                  </a:lnTo>
                  <a:lnTo>
                    <a:pt x="54863" y="305942"/>
                  </a:lnTo>
                  <a:lnTo>
                    <a:pt x="25569" y="269635"/>
                  </a:lnTo>
                  <a:lnTo>
                    <a:pt x="6688" y="226553"/>
                  </a:lnTo>
                  <a:lnTo>
                    <a:pt x="0" y="178307"/>
                  </a:lnTo>
                  <a:lnTo>
                    <a:pt x="6688" y="130704"/>
                  </a:lnTo>
                  <a:lnTo>
                    <a:pt x="25569" y="88053"/>
                  </a:lnTo>
                  <a:lnTo>
                    <a:pt x="54864" y="52006"/>
                  </a:lnTo>
                  <a:lnTo>
                    <a:pt x="92794" y="24214"/>
                  </a:lnTo>
                  <a:lnTo>
                    <a:pt x="137583" y="6328"/>
                  </a:lnTo>
                  <a:lnTo>
                    <a:pt x="187452" y="0"/>
                  </a:lnTo>
                  <a:lnTo>
                    <a:pt x="237320" y="6328"/>
                  </a:lnTo>
                  <a:lnTo>
                    <a:pt x="282109" y="24214"/>
                  </a:lnTo>
                  <a:lnTo>
                    <a:pt x="320040" y="52006"/>
                  </a:lnTo>
                  <a:lnTo>
                    <a:pt x="349334" y="88053"/>
                  </a:lnTo>
                  <a:lnTo>
                    <a:pt x="368215" y="130704"/>
                  </a:lnTo>
                  <a:lnTo>
                    <a:pt x="374904" y="178307"/>
                  </a:lnTo>
                  <a:lnTo>
                    <a:pt x="368215" y="226553"/>
                  </a:lnTo>
                  <a:lnTo>
                    <a:pt x="349334" y="269635"/>
                  </a:lnTo>
                  <a:lnTo>
                    <a:pt x="320040" y="305942"/>
                  </a:lnTo>
                  <a:lnTo>
                    <a:pt x="282109" y="333868"/>
                  </a:lnTo>
                  <a:lnTo>
                    <a:pt x="237320" y="351804"/>
                  </a:lnTo>
                  <a:lnTo>
                    <a:pt x="187452" y="358139"/>
                  </a:lnTo>
                  <a:close/>
                </a:path>
              </a:pathLst>
            </a:custGeom>
            <a:solidFill>
              <a:srgbClr val="4472C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4933220" y="2419605"/>
            <a:ext cx="235585" cy="315595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algn="ctr" marR="5080">
              <a:lnSpc>
                <a:spcPct val="93300"/>
              </a:lnSpc>
              <a:spcBef>
                <a:spcPts val="140"/>
              </a:spcBef>
            </a:pPr>
            <a:r>
              <a:rPr dirty="0" sz="500">
                <a:solidFill>
                  <a:srgbClr val="FFFFFF"/>
                </a:solidFill>
                <a:latin typeface="Calibri"/>
                <a:cs typeface="Calibri"/>
              </a:rPr>
              <a:t>Envio</a:t>
            </a:r>
            <a:r>
              <a:rPr dirty="0" sz="5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500" spc="-25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dirty="0" sz="500" spc="5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500" spc="-10">
                <a:solidFill>
                  <a:srgbClr val="FFFFFF"/>
                </a:solidFill>
                <a:latin typeface="Calibri"/>
                <a:cs typeface="Calibri"/>
              </a:rPr>
              <a:t>dados</a:t>
            </a:r>
            <a:r>
              <a:rPr dirty="0" sz="500" spc="5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500" spc="-20">
                <a:solidFill>
                  <a:srgbClr val="FFFFFF"/>
                </a:solidFill>
                <a:latin typeface="Calibri"/>
                <a:cs typeface="Calibri"/>
              </a:rPr>
              <a:t>para</a:t>
            </a:r>
            <a:r>
              <a:rPr dirty="0" sz="500" spc="5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500" spc="-10">
                <a:solidFill>
                  <a:srgbClr val="FFFFFF"/>
                </a:solidFill>
                <a:latin typeface="Calibri"/>
                <a:cs typeface="Calibri"/>
              </a:rPr>
              <a:t>nuvem</a:t>
            </a:r>
            <a:endParaRPr sz="50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4838700" y="1796796"/>
            <a:ext cx="405765" cy="530860"/>
            <a:chOff x="4838700" y="1796796"/>
            <a:chExt cx="405765" cy="530860"/>
          </a:xfrm>
        </p:grpSpPr>
        <p:sp>
          <p:nvSpPr>
            <p:cNvPr id="31" name="object 31"/>
            <p:cNvSpPr/>
            <p:nvPr/>
          </p:nvSpPr>
          <p:spPr>
            <a:xfrm>
              <a:off x="4962144" y="2229612"/>
              <a:ext cx="158750" cy="97790"/>
            </a:xfrm>
            <a:custGeom>
              <a:avLst/>
              <a:gdLst/>
              <a:ahLst/>
              <a:cxnLst/>
              <a:rect l="l" t="t" r="r" b="b"/>
              <a:pathLst>
                <a:path w="158750" h="97789">
                  <a:moveTo>
                    <a:pt x="158495" y="97536"/>
                  </a:moveTo>
                  <a:lnTo>
                    <a:pt x="0" y="97536"/>
                  </a:lnTo>
                  <a:lnTo>
                    <a:pt x="79248" y="0"/>
                  </a:lnTo>
                  <a:lnTo>
                    <a:pt x="158495" y="97536"/>
                  </a:lnTo>
                  <a:close/>
                </a:path>
              </a:pathLst>
            </a:custGeom>
            <a:solidFill>
              <a:srgbClr val="AFBC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4838700" y="1796796"/>
              <a:ext cx="405765" cy="360045"/>
            </a:xfrm>
            <a:custGeom>
              <a:avLst/>
              <a:gdLst/>
              <a:ahLst/>
              <a:cxnLst/>
              <a:rect l="l" t="t" r="r" b="b"/>
              <a:pathLst>
                <a:path w="405764" h="360044">
                  <a:moveTo>
                    <a:pt x="202692" y="359663"/>
                  </a:moveTo>
                  <a:lnTo>
                    <a:pt x="156434" y="354900"/>
                  </a:lnTo>
                  <a:lnTo>
                    <a:pt x="113855" y="341340"/>
                  </a:lnTo>
                  <a:lnTo>
                    <a:pt x="76208" y="320075"/>
                  </a:lnTo>
                  <a:lnTo>
                    <a:pt x="44746" y="292199"/>
                  </a:lnTo>
                  <a:lnTo>
                    <a:pt x="20722" y="258804"/>
                  </a:lnTo>
                  <a:lnTo>
                    <a:pt x="5389" y="220984"/>
                  </a:lnTo>
                  <a:lnTo>
                    <a:pt x="0" y="179831"/>
                  </a:lnTo>
                  <a:lnTo>
                    <a:pt x="5389" y="138679"/>
                  </a:lnTo>
                  <a:lnTo>
                    <a:pt x="20722" y="100859"/>
                  </a:lnTo>
                  <a:lnTo>
                    <a:pt x="44746" y="67464"/>
                  </a:lnTo>
                  <a:lnTo>
                    <a:pt x="76208" y="39588"/>
                  </a:lnTo>
                  <a:lnTo>
                    <a:pt x="113855" y="18323"/>
                  </a:lnTo>
                  <a:lnTo>
                    <a:pt x="156434" y="4763"/>
                  </a:lnTo>
                  <a:lnTo>
                    <a:pt x="202692" y="0"/>
                  </a:lnTo>
                  <a:lnTo>
                    <a:pt x="248949" y="4763"/>
                  </a:lnTo>
                  <a:lnTo>
                    <a:pt x="291528" y="18323"/>
                  </a:lnTo>
                  <a:lnTo>
                    <a:pt x="329175" y="39588"/>
                  </a:lnTo>
                  <a:lnTo>
                    <a:pt x="360637" y="67464"/>
                  </a:lnTo>
                  <a:lnTo>
                    <a:pt x="384661" y="100859"/>
                  </a:lnTo>
                  <a:lnTo>
                    <a:pt x="399994" y="138679"/>
                  </a:lnTo>
                  <a:lnTo>
                    <a:pt x="405384" y="179831"/>
                  </a:lnTo>
                  <a:lnTo>
                    <a:pt x="399994" y="220984"/>
                  </a:lnTo>
                  <a:lnTo>
                    <a:pt x="384661" y="258804"/>
                  </a:lnTo>
                  <a:lnTo>
                    <a:pt x="360637" y="292199"/>
                  </a:lnTo>
                  <a:lnTo>
                    <a:pt x="329175" y="320075"/>
                  </a:lnTo>
                  <a:lnTo>
                    <a:pt x="291528" y="341340"/>
                  </a:lnTo>
                  <a:lnTo>
                    <a:pt x="248949" y="354900"/>
                  </a:lnTo>
                  <a:lnTo>
                    <a:pt x="202692" y="359663"/>
                  </a:lnTo>
                  <a:close/>
                </a:path>
              </a:pathLst>
            </a:custGeom>
            <a:solidFill>
              <a:srgbClr val="4472C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4918003" y="1846582"/>
            <a:ext cx="266700" cy="245745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algn="ctr" marR="5080" indent="-2540">
              <a:lnSpc>
                <a:spcPts val="560"/>
              </a:lnSpc>
              <a:spcBef>
                <a:spcPts val="155"/>
              </a:spcBef>
            </a:pPr>
            <a:r>
              <a:rPr dirty="0" sz="500">
                <a:solidFill>
                  <a:srgbClr val="FFFFFF"/>
                </a:solidFill>
                <a:latin typeface="Calibri"/>
                <a:cs typeface="Calibri"/>
              </a:rPr>
              <a:t>IA </a:t>
            </a:r>
            <a:r>
              <a:rPr dirty="0" sz="500" spc="-10">
                <a:solidFill>
                  <a:srgbClr val="FFFFFF"/>
                </a:solidFill>
                <a:latin typeface="Calibri"/>
                <a:cs typeface="Calibri"/>
              </a:rPr>
              <a:t>analisa</a:t>
            </a:r>
            <a:r>
              <a:rPr dirty="0" sz="500" spc="5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500" spc="-10">
                <a:solidFill>
                  <a:srgbClr val="FFFFFF"/>
                </a:solidFill>
                <a:latin typeface="Calibri"/>
                <a:cs typeface="Calibri"/>
              </a:rPr>
              <a:t>comporta</a:t>
            </a:r>
            <a:r>
              <a:rPr dirty="0" sz="500" spc="5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500" spc="-20">
                <a:solidFill>
                  <a:srgbClr val="FFFFFF"/>
                </a:solidFill>
                <a:latin typeface="Calibri"/>
                <a:cs typeface="Calibri"/>
              </a:rPr>
              <a:t>mento</a:t>
            </a:r>
            <a:endParaRPr sz="500"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5343144" y="1825752"/>
            <a:ext cx="641985" cy="302260"/>
            <a:chOff x="5343144" y="1825752"/>
            <a:chExt cx="641985" cy="302260"/>
          </a:xfrm>
        </p:grpSpPr>
        <p:sp>
          <p:nvSpPr>
            <p:cNvPr id="35" name="object 35"/>
            <p:cNvSpPr/>
            <p:nvPr/>
          </p:nvSpPr>
          <p:spPr>
            <a:xfrm>
              <a:off x="5343144" y="1897380"/>
              <a:ext cx="97790" cy="158750"/>
            </a:xfrm>
            <a:custGeom>
              <a:avLst/>
              <a:gdLst/>
              <a:ahLst/>
              <a:cxnLst/>
              <a:rect l="l" t="t" r="r" b="b"/>
              <a:pathLst>
                <a:path w="97789" h="158750">
                  <a:moveTo>
                    <a:pt x="0" y="158495"/>
                  </a:moveTo>
                  <a:lnTo>
                    <a:pt x="0" y="0"/>
                  </a:lnTo>
                  <a:lnTo>
                    <a:pt x="97535" y="79248"/>
                  </a:lnTo>
                  <a:lnTo>
                    <a:pt x="0" y="158495"/>
                  </a:lnTo>
                  <a:close/>
                </a:path>
              </a:pathLst>
            </a:custGeom>
            <a:solidFill>
              <a:srgbClr val="AFBC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5535168" y="1825752"/>
              <a:ext cx="449580" cy="302260"/>
            </a:xfrm>
            <a:custGeom>
              <a:avLst/>
              <a:gdLst/>
              <a:ahLst/>
              <a:cxnLst/>
              <a:rect l="l" t="t" r="r" b="b"/>
              <a:pathLst>
                <a:path w="449579" h="302260">
                  <a:moveTo>
                    <a:pt x="224028" y="301751"/>
                  </a:moveTo>
                  <a:lnTo>
                    <a:pt x="164570" y="296290"/>
                  </a:lnTo>
                  <a:lnTo>
                    <a:pt x="111082" y="280923"/>
                  </a:lnTo>
                  <a:lnTo>
                    <a:pt x="65722" y="257174"/>
                  </a:lnTo>
                  <a:lnTo>
                    <a:pt x="30649" y="226567"/>
                  </a:lnTo>
                  <a:lnTo>
                    <a:pt x="8022" y="190626"/>
                  </a:lnTo>
                  <a:lnTo>
                    <a:pt x="0" y="150875"/>
                  </a:lnTo>
                  <a:lnTo>
                    <a:pt x="8022" y="110595"/>
                  </a:lnTo>
                  <a:lnTo>
                    <a:pt x="30649" y="74506"/>
                  </a:lnTo>
                  <a:lnTo>
                    <a:pt x="65722" y="44005"/>
                  </a:lnTo>
                  <a:lnTo>
                    <a:pt x="111082" y="20489"/>
                  </a:lnTo>
                  <a:lnTo>
                    <a:pt x="164570" y="5355"/>
                  </a:lnTo>
                  <a:lnTo>
                    <a:pt x="224028" y="0"/>
                  </a:lnTo>
                  <a:lnTo>
                    <a:pt x="284127" y="5355"/>
                  </a:lnTo>
                  <a:lnTo>
                    <a:pt x="338045" y="20489"/>
                  </a:lnTo>
                  <a:lnTo>
                    <a:pt x="383667" y="44005"/>
                  </a:lnTo>
                  <a:lnTo>
                    <a:pt x="418874" y="74506"/>
                  </a:lnTo>
                  <a:lnTo>
                    <a:pt x="441550" y="110595"/>
                  </a:lnTo>
                  <a:lnTo>
                    <a:pt x="449580" y="150875"/>
                  </a:lnTo>
                  <a:lnTo>
                    <a:pt x="441550" y="190626"/>
                  </a:lnTo>
                  <a:lnTo>
                    <a:pt x="418874" y="226567"/>
                  </a:lnTo>
                  <a:lnTo>
                    <a:pt x="383667" y="257174"/>
                  </a:lnTo>
                  <a:lnTo>
                    <a:pt x="338045" y="280923"/>
                  </a:lnTo>
                  <a:lnTo>
                    <a:pt x="284127" y="296290"/>
                  </a:lnTo>
                  <a:lnTo>
                    <a:pt x="224028" y="301751"/>
                  </a:lnTo>
                  <a:close/>
                </a:path>
              </a:pathLst>
            </a:custGeom>
            <a:solidFill>
              <a:srgbClr val="4472C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5614463" y="1883161"/>
            <a:ext cx="309245" cy="173990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R="5080" indent="16510">
              <a:lnSpc>
                <a:spcPts val="560"/>
              </a:lnSpc>
              <a:spcBef>
                <a:spcPts val="155"/>
              </a:spcBef>
            </a:pPr>
            <a:r>
              <a:rPr dirty="0" sz="500">
                <a:solidFill>
                  <a:srgbClr val="FFFFFF"/>
                </a:solidFill>
                <a:latin typeface="Calibri"/>
                <a:cs typeface="Calibri"/>
              </a:rPr>
              <a:t>Alerta</a:t>
            </a:r>
            <a:r>
              <a:rPr dirty="0" sz="500" spc="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500" spc="-25">
                <a:solidFill>
                  <a:srgbClr val="FFFFFF"/>
                </a:solidFill>
                <a:latin typeface="Calibri"/>
                <a:cs typeface="Calibri"/>
              </a:rPr>
              <a:t>aos</a:t>
            </a:r>
            <a:r>
              <a:rPr dirty="0" sz="500" spc="5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500" spc="-10">
                <a:solidFill>
                  <a:srgbClr val="FFFFFF"/>
                </a:solidFill>
                <a:latin typeface="Calibri"/>
                <a:cs typeface="Calibri"/>
              </a:rPr>
              <a:t>operadores</a:t>
            </a:r>
            <a:endParaRPr sz="500">
              <a:latin typeface="Calibri"/>
              <a:cs typeface="Calibr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5492496" y="2197607"/>
            <a:ext cx="533400" cy="624840"/>
            <a:chOff x="5492496" y="2197607"/>
            <a:chExt cx="533400" cy="624840"/>
          </a:xfrm>
        </p:grpSpPr>
        <p:sp>
          <p:nvSpPr>
            <p:cNvPr id="39" name="object 39"/>
            <p:cNvSpPr/>
            <p:nvPr/>
          </p:nvSpPr>
          <p:spPr>
            <a:xfrm>
              <a:off x="5681471" y="2197607"/>
              <a:ext cx="157480" cy="96520"/>
            </a:xfrm>
            <a:custGeom>
              <a:avLst/>
              <a:gdLst/>
              <a:ahLst/>
              <a:cxnLst/>
              <a:rect l="l" t="t" r="r" b="b"/>
              <a:pathLst>
                <a:path w="157479" h="96519">
                  <a:moveTo>
                    <a:pt x="77724" y="96012"/>
                  </a:moveTo>
                  <a:lnTo>
                    <a:pt x="0" y="0"/>
                  </a:lnTo>
                  <a:lnTo>
                    <a:pt x="156972" y="0"/>
                  </a:lnTo>
                  <a:lnTo>
                    <a:pt x="77724" y="96012"/>
                  </a:lnTo>
                  <a:close/>
                </a:path>
              </a:pathLst>
            </a:custGeom>
            <a:solidFill>
              <a:srgbClr val="AFBC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5492496" y="2359151"/>
              <a:ext cx="533400" cy="463550"/>
            </a:xfrm>
            <a:custGeom>
              <a:avLst/>
              <a:gdLst/>
              <a:ahLst/>
              <a:cxnLst/>
              <a:rect l="l" t="t" r="r" b="b"/>
              <a:pathLst>
                <a:path w="533400" h="463550">
                  <a:moveTo>
                    <a:pt x="266700" y="463296"/>
                  </a:moveTo>
                  <a:lnTo>
                    <a:pt x="219021" y="459566"/>
                  </a:lnTo>
                  <a:lnTo>
                    <a:pt x="174039" y="448812"/>
                  </a:lnTo>
                  <a:lnTo>
                    <a:pt x="132531" y="431687"/>
                  </a:lnTo>
                  <a:lnTo>
                    <a:pt x="95276" y="408841"/>
                  </a:lnTo>
                  <a:lnTo>
                    <a:pt x="63050" y="380928"/>
                  </a:lnTo>
                  <a:lnTo>
                    <a:pt x="36632" y="348600"/>
                  </a:lnTo>
                  <a:lnTo>
                    <a:pt x="16799" y="312509"/>
                  </a:lnTo>
                  <a:lnTo>
                    <a:pt x="4329" y="273308"/>
                  </a:lnTo>
                  <a:lnTo>
                    <a:pt x="0" y="231648"/>
                  </a:lnTo>
                  <a:lnTo>
                    <a:pt x="4329" y="189987"/>
                  </a:lnTo>
                  <a:lnTo>
                    <a:pt x="16799" y="150786"/>
                  </a:lnTo>
                  <a:lnTo>
                    <a:pt x="36632" y="114695"/>
                  </a:lnTo>
                  <a:lnTo>
                    <a:pt x="63050" y="82367"/>
                  </a:lnTo>
                  <a:lnTo>
                    <a:pt x="95276" y="54454"/>
                  </a:lnTo>
                  <a:lnTo>
                    <a:pt x="132531" y="31608"/>
                  </a:lnTo>
                  <a:lnTo>
                    <a:pt x="174039" y="14483"/>
                  </a:lnTo>
                  <a:lnTo>
                    <a:pt x="219021" y="3729"/>
                  </a:lnTo>
                  <a:lnTo>
                    <a:pt x="266700" y="0"/>
                  </a:lnTo>
                  <a:lnTo>
                    <a:pt x="314780" y="3729"/>
                  </a:lnTo>
                  <a:lnTo>
                    <a:pt x="359975" y="14483"/>
                  </a:lnTo>
                  <a:lnTo>
                    <a:pt x="401545" y="31608"/>
                  </a:lnTo>
                  <a:lnTo>
                    <a:pt x="438751" y="54454"/>
                  </a:lnTo>
                  <a:lnTo>
                    <a:pt x="470851" y="82367"/>
                  </a:lnTo>
                  <a:lnTo>
                    <a:pt x="497106" y="114695"/>
                  </a:lnTo>
                  <a:lnTo>
                    <a:pt x="516776" y="150786"/>
                  </a:lnTo>
                  <a:lnTo>
                    <a:pt x="529120" y="189987"/>
                  </a:lnTo>
                  <a:lnTo>
                    <a:pt x="533400" y="231648"/>
                  </a:lnTo>
                  <a:lnTo>
                    <a:pt x="529120" y="273308"/>
                  </a:lnTo>
                  <a:lnTo>
                    <a:pt x="516776" y="312509"/>
                  </a:lnTo>
                  <a:lnTo>
                    <a:pt x="497106" y="348600"/>
                  </a:lnTo>
                  <a:lnTo>
                    <a:pt x="470851" y="380928"/>
                  </a:lnTo>
                  <a:lnTo>
                    <a:pt x="438751" y="408841"/>
                  </a:lnTo>
                  <a:lnTo>
                    <a:pt x="401545" y="431687"/>
                  </a:lnTo>
                  <a:lnTo>
                    <a:pt x="359975" y="448812"/>
                  </a:lnTo>
                  <a:lnTo>
                    <a:pt x="314780" y="459566"/>
                  </a:lnTo>
                  <a:lnTo>
                    <a:pt x="266700" y="463296"/>
                  </a:lnTo>
                  <a:close/>
                </a:path>
              </a:pathLst>
            </a:custGeom>
            <a:solidFill>
              <a:srgbClr val="4472C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/>
          <p:cNvSpPr txBox="1"/>
          <p:nvPr/>
        </p:nvSpPr>
        <p:spPr>
          <a:xfrm>
            <a:off x="5596180" y="2460742"/>
            <a:ext cx="343535" cy="245745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algn="ctr" marR="5080">
              <a:lnSpc>
                <a:spcPts val="560"/>
              </a:lnSpc>
              <a:spcBef>
                <a:spcPts val="155"/>
              </a:spcBef>
            </a:pPr>
            <a:r>
              <a:rPr dirty="0" sz="500" spc="-10">
                <a:solidFill>
                  <a:srgbClr val="FFFFFF"/>
                </a:solidFill>
                <a:latin typeface="Calibri"/>
                <a:cs typeface="Calibri"/>
              </a:rPr>
              <a:t>Manutenção</a:t>
            </a:r>
            <a:r>
              <a:rPr dirty="0" sz="500" spc="5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500">
                <a:solidFill>
                  <a:srgbClr val="FFFFFF"/>
                </a:solidFill>
                <a:latin typeface="Calibri"/>
                <a:cs typeface="Calibri"/>
              </a:rPr>
              <a:t>antes</a:t>
            </a:r>
            <a:r>
              <a:rPr dirty="0" sz="5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500" spc="-25">
                <a:solidFill>
                  <a:srgbClr val="FFFFFF"/>
                </a:solidFill>
                <a:latin typeface="Calibri"/>
                <a:cs typeface="Calibri"/>
              </a:rPr>
              <a:t>da</a:t>
            </a:r>
            <a:r>
              <a:rPr dirty="0" sz="500" spc="5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500" spc="-10">
                <a:solidFill>
                  <a:srgbClr val="FFFFFF"/>
                </a:solidFill>
                <a:latin typeface="Calibri"/>
                <a:cs typeface="Calibri"/>
              </a:rPr>
              <a:t>falha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171238" y="1528163"/>
            <a:ext cx="2417445" cy="1809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1000" b="1">
                <a:solidFill>
                  <a:srgbClr val="073472"/>
                </a:solidFill>
                <a:latin typeface="Calibri"/>
                <a:cs typeface="Calibri"/>
              </a:rPr>
              <a:t>Exemplo</a:t>
            </a:r>
            <a:r>
              <a:rPr dirty="0" sz="1000" spc="65" b="1">
                <a:solidFill>
                  <a:srgbClr val="073472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073472"/>
                </a:solidFill>
                <a:latin typeface="Calibri"/>
                <a:cs typeface="Calibri"/>
              </a:rPr>
              <a:t>de</a:t>
            </a:r>
            <a:r>
              <a:rPr dirty="0" sz="1000" spc="40" b="1">
                <a:solidFill>
                  <a:srgbClr val="073472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073472"/>
                </a:solidFill>
                <a:latin typeface="Calibri"/>
                <a:cs typeface="Calibri"/>
              </a:rPr>
              <a:t>aplicação:</a:t>
            </a:r>
            <a:r>
              <a:rPr dirty="0" sz="1000" spc="20" b="1">
                <a:solidFill>
                  <a:srgbClr val="073472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073472"/>
                </a:solidFill>
                <a:latin typeface="Calibri"/>
                <a:cs typeface="Calibri"/>
              </a:rPr>
              <a:t>manutenção</a:t>
            </a:r>
            <a:r>
              <a:rPr dirty="0" sz="1000" spc="30" b="1">
                <a:solidFill>
                  <a:srgbClr val="073472"/>
                </a:solidFill>
                <a:latin typeface="Calibri"/>
                <a:cs typeface="Calibri"/>
              </a:rPr>
              <a:t> </a:t>
            </a:r>
            <a:r>
              <a:rPr dirty="0" sz="1000" spc="-10" b="1">
                <a:solidFill>
                  <a:srgbClr val="073472"/>
                </a:solidFill>
                <a:latin typeface="Calibri"/>
                <a:cs typeface="Calibri"/>
              </a:rPr>
              <a:t>preditiva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3938015" y="1379219"/>
            <a:ext cx="3088005" cy="1729739"/>
          </a:xfrm>
          <a:custGeom>
            <a:avLst/>
            <a:gdLst/>
            <a:ahLst/>
            <a:cxnLst/>
            <a:rect l="l" t="t" r="r" b="b"/>
            <a:pathLst>
              <a:path w="3088004" h="1729739">
                <a:moveTo>
                  <a:pt x="3087623" y="0"/>
                </a:moveTo>
                <a:lnTo>
                  <a:pt x="0" y="0"/>
                </a:lnTo>
                <a:lnTo>
                  <a:pt x="0" y="1729739"/>
                </a:lnTo>
                <a:lnTo>
                  <a:pt x="3087623" y="1729739"/>
                </a:lnTo>
                <a:lnTo>
                  <a:pt x="3087623" y="0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4" name="object 44"/>
          <p:cNvGrpSpPr/>
          <p:nvPr/>
        </p:nvGrpSpPr>
        <p:grpSpPr>
          <a:xfrm>
            <a:off x="710691" y="5017007"/>
            <a:ext cx="2918460" cy="1198245"/>
            <a:chOff x="710691" y="5017007"/>
            <a:chExt cx="2918460" cy="1198245"/>
          </a:xfrm>
        </p:grpSpPr>
        <p:sp>
          <p:nvSpPr>
            <p:cNvPr id="45" name="object 45"/>
            <p:cNvSpPr/>
            <p:nvPr/>
          </p:nvSpPr>
          <p:spPr>
            <a:xfrm>
              <a:off x="713231" y="5971031"/>
              <a:ext cx="2752725" cy="0"/>
            </a:xfrm>
            <a:custGeom>
              <a:avLst/>
              <a:gdLst/>
              <a:ahLst/>
              <a:cxnLst/>
              <a:rect l="l" t="t" r="r" b="b"/>
              <a:pathLst>
                <a:path w="2752725" h="0">
                  <a:moveTo>
                    <a:pt x="0" y="0"/>
                  </a:moveTo>
                  <a:lnTo>
                    <a:pt x="2752343" y="0"/>
                  </a:lnTo>
                </a:path>
              </a:pathLst>
            </a:custGeom>
            <a:ln w="4572">
              <a:solidFill>
                <a:srgbClr val="07347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6" name="object 4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03575" y="5145023"/>
              <a:ext cx="925067" cy="1069847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877824" y="5017007"/>
              <a:ext cx="358140" cy="358140"/>
            </a:xfrm>
            <a:custGeom>
              <a:avLst/>
              <a:gdLst/>
              <a:ahLst/>
              <a:cxnLst/>
              <a:rect l="l" t="t" r="r" b="b"/>
              <a:pathLst>
                <a:path w="358140" h="358139">
                  <a:moveTo>
                    <a:pt x="179831" y="358139"/>
                  </a:moveTo>
                  <a:lnTo>
                    <a:pt x="132115" y="351811"/>
                  </a:lnTo>
                  <a:lnTo>
                    <a:pt x="89182" y="333925"/>
                  </a:lnTo>
                  <a:lnTo>
                    <a:pt x="52768" y="306133"/>
                  </a:lnTo>
                  <a:lnTo>
                    <a:pt x="24609" y="270086"/>
                  </a:lnTo>
                  <a:lnTo>
                    <a:pt x="6441" y="227435"/>
                  </a:lnTo>
                  <a:lnTo>
                    <a:pt x="0" y="179831"/>
                  </a:lnTo>
                  <a:lnTo>
                    <a:pt x="6441" y="132115"/>
                  </a:lnTo>
                  <a:lnTo>
                    <a:pt x="24609" y="89182"/>
                  </a:lnTo>
                  <a:lnTo>
                    <a:pt x="52768" y="52768"/>
                  </a:lnTo>
                  <a:lnTo>
                    <a:pt x="89182" y="24609"/>
                  </a:lnTo>
                  <a:lnTo>
                    <a:pt x="132115" y="6441"/>
                  </a:lnTo>
                  <a:lnTo>
                    <a:pt x="179831" y="0"/>
                  </a:lnTo>
                  <a:lnTo>
                    <a:pt x="227435" y="6441"/>
                  </a:lnTo>
                  <a:lnTo>
                    <a:pt x="270086" y="24609"/>
                  </a:lnTo>
                  <a:lnTo>
                    <a:pt x="306133" y="52768"/>
                  </a:lnTo>
                  <a:lnTo>
                    <a:pt x="333925" y="89182"/>
                  </a:lnTo>
                  <a:lnTo>
                    <a:pt x="351811" y="132115"/>
                  </a:lnTo>
                  <a:lnTo>
                    <a:pt x="358139" y="179831"/>
                  </a:lnTo>
                  <a:lnTo>
                    <a:pt x="351811" y="227435"/>
                  </a:lnTo>
                  <a:lnTo>
                    <a:pt x="333925" y="270086"/>
                  </a:lnTo>
                  <a:lnTo>
                    <a:pt x="306133" y="306133"/>
                  </a:lnTo>
                  <a:lnTo>
                    <a:pt x="270086" y="333925"/>
                  </a:lnTo>
                  <a:lnTo>
                    <a:pt x="227435" y="351811"/>
                  </a:lnTo>
                  <a:lnTo>
                    <a:pt x="179831" y="358139"/>
                  </a:lnTo>
                  <a:close/>
                </a:path>
              </a:pathLst>
            </a:custGeom>
            <a:solidFill>
              <a:srgbClr val="F7D6C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8" name="object 4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49452" y="5087112"/>
              <a:ext cx="216407" cy="216407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954024" y="5093207"/>
              <a:ext cx="205740" cy="205740"/>
            </a:xfrm>
            <a:custGeom>
              <a:avLst/>
              <a:gdLst/>
              <a:ahLst/>
              <a:cxnLst/>
              <a:rect l="l" t="t" r="r" b="b"/>
              <a:pathLst>
                <a:path w="205740" h="205739">
                  <a:moveTo>
                    <a:pt x="0" y="0"/>
                  </a:moveTo>
                  <a:lnTo>
                    <a:pt x="205739" y="0"/>
                  </a:lnTo>
                  <a:lnTo>
                    <a:pt x="205739" y="205740"/>
                  </a:lnTo>
                  <a:lnTo>
                    <a:pt x="0" y="20574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0" name="object 50"/>
          <p:cNvSpPr txBox="1"/>
          <p:nvPr/>
        </p:nvSpPr>
        <p:spPr>
          <a:xfrm>
            <a:off x="768105" y="5470805"/>
            <a:ext cx="592455" cy="1117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550">
                <a:latin typeface="Calibri"/>
                <a:cs typeface="Calibri"/>
              </a:rPr>
              <a:t>Segurança</a:t>
            </a:r>
            <a:r>
              <a:rPr dirty="0" sz="550" spc="-10">
                <a:latin typeface="Calibri"/>
                <a:cs typeface="Calibri"/>
              </a:rPr>
              <a:t> </a:t>
            </a:r>
            <a:r>
              <a:rPr dirty="0" sz="550">
                <a:latin typeface="Calibri"/>
                <a:cs typeface="Calibri"/>
              </a:rPr>
              <a:t>de</a:t>
            </a:r>
            <a:r>
              <a:rPr dirty="0" sz="550" spc="20">
                <a:latin typeface="Calibri"/>
                <a:cs typeface="Calibri"/>
              </a:rPr>
              <a:t> </a:t>
            </a:r>
            <a:r>
              <a:rPr dirty="0" sz="550" spc="-10">
                <a:latin typeface="Calibri"/>
                <a:cs typeface="Calibri"/>
              </a:rPr>
              <a:t>dados</a:t>
            </a:r>
            <a:endParaRPr sz="550">
              <a:latin typeface="Calibri"/>
              <a:cs typeface="Calibri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1568195" y="5017007"/>
            <a:ext cx="356870" cy="358140"/>
            <a:chOff x="1568195" y="5017007"/>
            <a:chExt cx="356870" cy="358140"/>
          </a:xfrm>
        </p:grpSpPr>
        <p:sp>
          <p:nvSpPr>
            <p:cNvPr id="52" name="object 52"/>
            <p:cNvSpPr/>
            <p:nvPr/>
          </p:nvSpPr>
          <p:spPr>
            <a:xfrm>
              <a:off x="1568195" y="5017007"/>
              <a:ext cx="356870" cy="358140"/>
            </a:xfrm>
            <a:custGeom>
              <a:avLst/>
              <a:gdLst/>
              <a:ahLst/>
              <a:cxnLst/>
              <a:rect l="l" t="t" r="r" b="b"/>
              <a:pathLst>
                <a:path w="356869" h="358139">
                  <a:moveTo>
                    <a:pt x="178307" y="358139"/>
                  </a:moveTo>
                  <a:lnTo>
                    <a:pt x="130704" y="351811"/>
                  </a:lnTo>
                  <a:lnTo>
                    <a:pt x="88053" y="333925"/>
                  </a:lnTo>
                  <a:lnTo>
                    <a:pt x="52006" y="306133"/>
                  </a:lnTo>
                  <a:lnTo>
                    <a:pt x="24214" y="270086"/>
                  </a:lnTo>
                  <a:lnTo>
                    <a:pt x="6328" y="227435"/>
                  </a:lnTo>
                  <a:lnTo>
                    <a:pt x="0" y="179831"/>
                  </a:lnTo>
                  <a:lnTo>
                    <a:pt x="6328" y="132115"/>
                  </a:lnTo>
                  <a:lnTo>
                    <a:pt x="24214" y="89182"/>
                  </a:lnTo>
                  <a:lnTo>
                    <a:pt x="52006" y="52768"/>
                  </a:lnTo>
                  <a:lnTo>
                    <a:pt x="88053" y="24609"/>
                  </a:lnTo>
                  <a:lnTo>
                    <a:pt x="130704" y="6441"/>
                  </a:lnTo>
                  <a:lnTo>
                    <a:pt x="178307" y="0"/>
                  </a:lnTo>
                  <a:lnTo>
                    <a:pt x="225911" y="6441"/>
                  </a:lnTo>
                  <a:lnTo>
                    <a:pt x="268562" y="24609"/>
                  </a:lnTo>
                  <a:lnTo>
                    <a:pt x="304609" y="52768"/>
                  </a:lnTo>
                  <a:lnTo>
                    <a:pt x="332401" y="89182"/>
                  </a:lnTo>
                  <a:lnTo>
                    <a:pt x="350287" y="132115"/>
                  </a:lnTo>
                  <a:lnTo>
                    <a:pt x="356615" y="179831"/>
                  </a:lnTo>
                  <a:lnTo>
                    <a:pt x="350287" y="227435"/>
                  </a:lnTo>
                  <a:lnTo>
                    <a:pt x="332401" y="270086"/>
                  </a:lnTo>
                  <a:lnTo>
                    <a:pt x="304609" y="306133"/>
                  </a:lnTo>
                  <a:lnTo>
                    <a:pt x="268562" y="333925"/>
                  </a:lnTo>
                  <a:lnTo>
                    <a:pt x="225911" y="351811"/>
                  </a:lnTo>
                  <a:lnTo>
                    <a:pt x="178307" y="358139"/>
                  </a:lnTo>
                  <a:close/>
                </a:path>
              </a:pathLst>
            </a:custGeom>
            <a:solidFill>
              <a:srgbClr val="F7D6C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3" name="object 5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639823" y="5087112"/>
              <a:ext cx="214883" cy="216407"/>
            </a:xfrm>
            <a:prstGeom prst="rect">
              <a:avLst/>
            </a:prstGeom>
          </p:spPr>
        </p:pic>
      </p:grpSp>
      <p:sp>
        <p:nvSpPr>
          <p:cNvPr id="54" name="object 54"/>
          <p:cNvSpPr txBox="1"/>
          <p:nvPr/>
        </p:nvSpPr>
        <p:spPr>
          <a:xfrm>
            <a:off x="1511798" y="5470805"/>
            <a:ext cx="482600" cy="1987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69850" marR="5080" indent="-70485">
              <a:lnSpc>
                <a:spcPct val="103600"/>
              </a:lnSpc>
              <a:spcBef>
                <a:spcPts val="90"/>
              </a:spcBef>
            </a:pPr>
            <a:r>
              <a:rPr dirty="0" sz="550">
                <a:latin typeface="Calibri"/>
                <a:cs typeface="Calibri"/>
              </a:rPr>
              <a:t>Dependência</a:t>
            </a:r>
            <a:r>
              <a:rPr dirty="0" sz="550" spc="25">
                <a:latin typeface="Calibri"/>
                <a:cs typeface="Calibri"/>
              </a:rPr>
              <a:t> </a:t>
            </a:r>
            <a:r>
              <a:rPr dirty="0" sz="550" spc="-25">
                <a:latin typeface="Calibri"/>
                <a:cs typeface="Calibri"/>
              </a:rPr>
              <a:t>de</a:t>
            </a:r>
            <a:r>
              <a:rPr dirty="0" sz="550" spc="500">
                <a:latin typeface="Calibri"/>
                <a:cs typeface="Calibri"/>
              </a:rPr>
              <a:t> </a:t>
            </a:r>
            <a:r>
              <a:rPr dirty="0" sz="550" spc="-10">
                <a:latin typeface="Calibri"/>
                <a:cs typeface="Calibri"/>
              </a:rPr>
              <a:t>provedores</a:t>
            </a:r>
            <a:endParaRPr sz="550">
              <a:latin typeface="Calibri"/>
              <a:cs typeface="Calibri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2257044" y="5017007"/>
            <a:ext cx="356870" cy="358140"/>
            <a:chOff x="2257044" y="5017007"/>
            <a:chExt cx="356870" cy="358140"/>
          </a:xfrm>
        </p:grpSpPr>
        <p:sp>
          <p:nvSpPr>
            <p:cNvPr id="56" name="object 56"/>
            <p:cNvSpPr/>
            <p:nvPr/>
          </p:nvSpPr>
          <p:spPr>
            <a:xfrm>
              <a:off x="2257044" y="5017007"/>
              <a:ext cx="356870" cy="358140"/>
            </a:xfrm>
            <a:custGeom>
              <a:avLst/>
              <a:gdLst/>
              <a:ahLst/>
              <a:cxnLst/>
              <a:rect l="l" t="t" r="r" b="b"/>
              <a:pathLst>
                <a:path w="356869" h="358139">
                  <a:moveTo>
                    <a:pt x="178307" y="358139"/>
                  </a:moveTo>
                  <a:lnTo>
                    <a:pt x="130704" y="351811"/>
                  </a:lnTo>
                  <a:lnTo>
                    <a:pt x="88053" y="333925"/>
                  </a:lnTo>
                  <a:lnTo>
                    <a:pt x="52006" y="306133"/>
                  </a:lnTo>
                  <a:lnTo>
                    <a:pt x="24214" y="270086"/>
                  </a:lnTo>
                  <a:lnTo>
                    <a:pt x="6328" y="227435"/>
                  </a:lnTo>
                  <a:lnTo>
                    <a:pt x="0" y="179831"/>
                  </a:lnTo>
                  <a:lnTo>
                    <a:pt x="6328" y="132115"/>
                  </a:lnTo>
                  <a:lnTo>
                    <a:pt x="24214" y="89182"/>
                  </a:lnTo>
                  <a:lnTo>
                    <a:pt x="52006" y="52768"/>
                  </a:lnTo>
                  <a:lnTo>
                    <a:pt x="88053" y="24609"/>
                  </a:lnTo>
                  <a:lnTo>
                    <a:pt x="130704" y="6441"/>
                  </a:lnTo>
                  <a:lnTo>
                    <a:pt x="178307" y="0"/>
                  </a:lnTo>
                  <a:lnTo>
                    <a:pt x="225911" y="6441"/>
                  </a:lnTo>
                  <a:lnTo>
                    <a:pt x="268562" y="24609"/>
                  </a:lnTo>
                  <a:lnTo>
                    <a:pt x="304609" y="52768"/>
                  </a:lnTo>
                  <a:lnTo>
                    <a:pt x="332401" y="89182"/>
                  </a:lnTo>
                  <a:lnTo>
                    <a:pt x="350287" y="132115"/>
                  </a:lnTo>
                  <a:lnTo>
                    <a:pt x="356615" y="179831"/>
                  </a:lnTo>
                  <a:lnTo>
                    <a:pt x="350287" y="227435"/>
                  </a:lnTo>
                  <a:lnTo>
                    <a:pt x="332401" y="270086"/>
                  </a:lnTo>
                  <a:lnTo>
                    <a:pt x="304609" y="306133"/>
                  </a:lnTo>
                  <a:lnTo>
                    <a:pt x="268562" y="333925"/>
                  </a:lnTo>
                  <a:lnTo>
                    <a:pt x="225911" y="351811"/>
                  </a:lnTo>
                  <a:lnTo>
                    <a:pt x="178307" y="358139"/>
                  </a:lnTo>
                  <a:close/>
                </a:path>
              </a:pathLst>
            </a:custGeom>
            <a:solidFill>
              <a:srgbClr val="F7D6C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7" name="object 5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328671" y="5087112"/>
              <a:ext cx="211836" cy="216407"/>
            </a:xfrm>
            <a:prstGeom prst="rect">
              <a:avLst/>
            </a:prstGeom>
          </p:spPr>
        </p:pic>
      </p:grpSp>
      <p:sp>
        <p:nvSpPr>
          <p:cNvPr id="58" name="object 58"/>
          <p:cNvSpPr txBox="1"/>
          <p:nvPr/>
        </p:nvSpPr>
        <p:spPr>
          <a:xfrm>
            <a:off x="2311865" y="5470805"/>
            <a:ext cx="257810" cy="1117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550" spc="-10">
                <a:latin typeface="Calibri"/>
                <a:cs typeface="Calibri"/>
              </a:rPr>
              <a:t>Latência</a:t>
            </a:r>
            <a:endParaRPr sz="550">
              <a:latin typeface="Calibri"/>
              <a:cs typeface="Calibri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765034" y="4626437"/>
            <a:ext cx="471170" cy="1809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1000" spc="-10" b="1">
                <a:solidFill>
                  <a:srgbClr val="073472"/>
                </a:solidFill>
                <a:latin typeface="Calibri"/>
                <a:cs typeface="Calibri"/>
              </a:rPr>
              <a:t>Desafios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534923" y="4477511"/>
            <a:ext cx="3086100" cy="1729739"/>
          </a:xfrm>
          <a:custGeom>
            <a:avLst/>
            <a:gdLst/>
            <a:ahLst/>
            <a:cxnLst/>
            <a:rect l="l" t="t" r="r" b="b"/>
            <a:pathLst>
              <a:path w="3086100" h="1729739">
                <a:moveTo>
                  <a:pt x="3086100" y="0"/>
                </a:moveTo>
                <a:lnTo>
                  <a:pt x="0" y="0"/>
                </a:lnTo>
                <a:lnTo>
                  <a:pt x="0" y="1729740"/>
                </a:lnTo>
                <a:lnTo>
                  <a:pt x="3086100" y="1729740"/>
                </a:lnTo>
                <a:lnTo>
                  <a:pt x="3086100" y="0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1" name="object 61"/>
          <p:cNvGrpSpPr/>
          <p:nvPr/>
        </p:nvGrpSpPr>
        <p:grpSpPr>
          <a:xfrm>
            <a:off x="4069079" y="4896611"/>
            <a:ext cx="2964180" cy="1318260"/>
            <a:chOff x="4069079" y="4896611"/>
            <a:chExt cx="2964180" cy="1318260"/>
          </a:xfrm>
        </p:grpSpPr>
        <p:sp>
          <p:nvSpPr>
            <p:cNvPr id="62" name="object 62"/>
            <p:cNvSpPr/>
            <p:nvPr/>
          </p:nvSpPr>
          <p:spPr>
            <a:xfrm>
              <a:off x="4116323" y="5971031"/>
              <a:ext cx="2752725" cy="0"/>
            </a:xfrm>
            <a:custGeom>
              <a:avLst/>
              <a:gdLst/>
              <a:ahLst/>
              <a:cxnLst/>
              <a:rect l="l" t="t" r="r" b="b"/>
              <a:pathLst>
                <a:path w="2752725" h="0">
                  <a:moveTo>
                    <a:pt x="0" y="0"/>
                  </a:moveTo>
                  <a:lnTo>
                    <a:pt x="2752343" y="0"/>
                  </a:lnTo>
                </a:path>
              </a:pathLst>
            </a:custGeom>
            <a:ln w="4572">
              <a:solidFill>
                <a:srgbClr val="07347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3" name="object 6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106667" y="5145023"/>
              <a:ext cx="926592" cy="1069847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069079" y="4896611"/>
              <a:ext cx="1970532" cy="992123"/>
            </a:xfrm>
            <a:prstGeom prst="rect">
              <a:avLst/>
            </a:prstGeom>
          </p:spPr>
        </p:pic>
      </p:grpSp>
      <p:sp>
        <p:nvSpPr>
          <p:cNvPr id="65" name="object 65"/>
          <p:cNvSpPr txBox="1"/>
          <p:nvPr/>
        </p:nvSpPr>
        <p:spPr>
          <a:xfrm>
            <a:off x="3938015" y="4477511"/>
            <a:ext cx="3088005" cy="1729739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wrap="square" lIns="0" tIns="1778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40"/>
              </a:spcBef>
            </a:pPr>
            <a:endParaRPr sz="1000">
              <a:latin typeface="Times New Roman"/>
              <a:cs typeface="Times New Roman"/>
            </a:endParaRPr>
          </a:p>
          <a:p>
            <a:pPr marL="233045">
              <a:lnSpc>
                <a:spcPct val="100000"/>
              </a:lnSpc>
            </a:pPr>
            <a:r>
              <a:rPr dirty="0" sz="1000" spc="-10" b="1">
                <a:solidFill>
                  <a:srgbClr val="073472"/>
                </a:solidFill>
                <a:latin typeface="Calibri"/>
                <a:cs typeface="Calibri"/>
              </a:rPr>
              <a:t>Microserviços</a:t>
            </a: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30"/>
              </a:spcBef>
            </a:pPr>
            <a:endParaRPr sz="1000">
              <a:latin typeface="Calibri"/>
              <a:cs typeface="Calibri"/>
            </a:endParaRPr>
          </a:p>
          <a:p>
            <a:pPr marL="161290">
              <a:lnSpc>
                <a:spcPct val="100000"/>
              </a:lnSpc>
            </a:pPr>
            <a:r>
              <a:rPr dirty="0" sz="250" spc="-10">
                <a:latin typeface="Trebuchet MS"/>
                <a:cs typeface="Trebuchet MS"/>
              </a:rPr>
              <a:t>Fonte:</a:t>
            </a:r>
            <a:r>
              <a:rPr dirty="0" sz="250" spc="10">
                <a:latin typeface="Trebuchet MS"/>
                <a:cs typeface="Trebuchet MS"/>
              </a:rPr>
              <a:t> </a:t>
            </a:r>
            <a:r>
              <a:rPr dirty="0" sz="250" spc="-10">
                <a:latin typeface="Trebuchet MS"/>
                <a:cs typeface="Trebuchet MS"/>
              </a:rPr>
              <a:t>Shutterstock.</a:t>
            </a:r>
            <a:r>
              <a:rPr dirty="0" sz="250" spc="35">
                <a:latin typeface="Trebuchet MS"/>
                <a:cs typeface="Trebuchet MS"/>
              </a:rPr>
              <a:t> </a:t>
            </a:r>
            <a:r>
              <a:rPr dirty="0" sz="250">
                <a:latin typeface="Trebuchet MS"/>
                <a:cs typeface="Trebuchet MS"/>
              </a:rPr>
              <a:t>ID</a:t>
            </a:r>
            <a:r>
              <a:rPr dirty="0" sz="250" spc="20">
                <a:latin typeface="Trebuchet MS"/>
                <a:cs typeface="Trebuchet MS"/>
              </a:rPr>
              <a:t> </a:t>
            </a:r>
            <a:r>
              <a:rPr dirty="0" sz="250" spc="-10">
                <a:latin typeface="Trebuchet MS"/>
                <a:cs typeface="Trebuchet MS"/>
              </a:rPr>
              <a:t>2246894275.</a:t>
            </a:r>
            <a:endParaRPr sz="250">
              <a:latin typeface="Trebuchet MS"/>
              <a:cs typeface="Trebuchet MS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528827" y="7571232"/>
            <a:ext cx="3100070" cy="1742439"/>
            <a:chOff x="528827" y="7571232"/>
            <a:chExt cx="3100070" cy="1742439"/>
          </a:xfrm>
        </p:grpSpPr>
        <p:pic>
          <p:nvPicPr>
            <p:cNvPr id="67" name="object 6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28827" y="7571232"/>
              <a:ext cx="3099815" cy="1741932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713231" y="9054084"/>
              <a:ext cx="2752725" cy="0"/>
            </a:xfrm>
            <a:custGeom>
              <a:avLst/>
              <a:gdLst/>
              <a:ahLst/>
              <a:cxnLst/>
              <a:rect l="l" t="t" r="r" b="b"/>
              <a:pathLst>
                <a:path w="2752725" h="0">
                  <a:moveTo>
                    <a:pt x="0" y="0"/>
                  </a:moveTo>
                  <a:lnTo>
                    <a:pt x="2752343" y="0"/>
                  </a:lnTo>
                </a:path>
              </a:pathLst>
            </a:custGeom>
            <a:ln w="4572">
              <a:solidFill>
                <a:srgbClr val="07347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9" name="object 6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494788" y="7571232"/>
              <a:ext cx="1133855" cy="1188719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713231" y="9054084"/>
              <a:ext cx="2752725" cy="0"/>
            </a:xfrm>
            <a:custGeom>
              <a:avLst/>
              <a:gdLst/>
              <a:ahLst/>
              <a:cxnLst/>
              <a:rect l="l" t="t" r="r" b="b"/>
              <a:pathLst>
                <a:path w="2752725" h="0">
                  <a:moveTo>
                    <a:pt x="0" y="0"/>
                  </a:moveTo>
                  <a:lnTo>
                    <a:pt x="2752343" y="0"/>
                  </a:lnTo>
                </a:path>
              </a:pathLst>
            </a:custGeom>
            <a:ln w="457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1" name="object 7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703575" y="8244840"/>
              <a:ext cx="925067" cy="1068324"/>
            </a:xfrm>
            <a:prstGeom prst="rect">
              <a:avLst/>
            </a:prstGeom>
          </p:spPr>
        </p:pic>
      </p:grpSp>
      <p:sp>
        <p:nvSpPr>
          <p:cNvPr id="72" name="object 72"/>
          <p:cNvSpPr txBox="1"/>
          <p:nvPr/>
        </p:nvSpPr>
        <p:spPr>
          <a:xfrm>
            <a:off x="534923" y="7577328"/>
            <a:ext cx="3086100" cy="1728470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wrap="square" lIns="0" tIns="419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30"/>
              </a:spcBef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tabLst>
                <a:tab pos="278765" algn="l"/>
                <a:tab pos="935355" algn="l"/>
              </a:tabLst>
            </a:pPr>
            <a:r>
              <a:rPr dirty="0" u="sng" sz="900">
                <a:solidFill>
                  <a:srgbClr val="073472"/>
                </a:solidFill>
                <a:uFill>
                  <a:solidFill>
                    <a:srgbClr val="073472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900" spc="-10">
                <a:solidFill>
                  <a:srgbClr val="073472"/>
                </a:solidFill>
                <a:uFill>
                  <a:solidFill>
                    <a:srgbClr val="073472"/>
                  </a:solidFill>
                </a:uFill>
                <a:latin typeface="Calibri"/>
                <a:cs typeface="Calibri"/>
              </a:rPr>
              <a:t>Conceitos</a:t>
            </a:r>
            <a:r>
              <a:rPr dirty="0" u="sng" sz="900">
                <a:solidFill>
                  <a:srgbClr val="073472"/>
                </a:solidFill>
                <a:uFill>
                  <a:solidFill>
                    <a:srgbClr val="073472"/>
                  </a:solidFill>
                </a:uFill>
                <a:latin typeface="Calibri"/>
                <a:cs typeface="Calibri"/>
              </a:rPr>
              <a:t>	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900">
              <a:latin typeface="Calibri"/>
              <a:cs typeface="Calibri"/>
            </a:endParaRPr>
          </a:p>
          <a:p>
            <a:pPr marL="307340" marR="1152525">
              <a:lnSpc>
                <a:spcPts val="1820"/>
              </a:lnSpc>
            </a:pPr>
            <a:r>
              <a:rPr dirty="0" sz="1650" b="1">
                <a:solidFill>
                  <a:srgbClr val="262626"/>
                </a:solidFill>
                <a:latin typeface="Calibri"/>
                <a:cs typeface="Calibri"/>
              </a:rPr>
              <a:t>O</a:t>
            </a:r>
            <a:r>
              <a:rPr dirty="0" sz="1650" spc="35" b="1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1650" b="1">
                <a:solidFill>
                  <a:srgbClr val="262626"/>
                </a:solidFill>
                <a:latin typeface="Calibri"/>
                <a:cs typeface="Calibri"/>
              </a:rPr>
              <a:t>Raspberry</a:t>
            </a:r>
            <a:r>
              <a:rPr dirty="0" sz="1650" spc="60" b="1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1650" b="1">
                <a:solidFill>
                  <a:srgbClr val="262626"/>
                </a:solidFill>
                <a:latin typeface="Calibri"/>
                <a:cs typeface="Calibri"/>
              </a:rPr>
              <a:t>Pi</a:t>
            </a:r>
            <a:r>
              <a:rPr dirty="0" sz="1650" spc="40" b="1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1650" b="1">
                <a:solidFill>
                  <a:srgbClr val="262626"/>
                </a:solidFill>
                <a:latin typeface="Calibri"/>
                <a:cs typeface="Calibri"/>
              </a:rPr>
              <a:t>e</a:t>
            </a:r>
            <a:r>
              <a:rPr dirty="0" sz="1650" spc="40" b="1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1650" spc="-50" b="1">
                <a:solidFill>
                  <a:srgbClr val="262626"/>
                </a:solidFill>
                <a:latin typeface="Calibri"/>
                <a:cs typeface="Calibri"/>
              </a:rPr>
              <a:t>a </a:t>
            </a:r>
            <a:r>
              <a:rPr dirty="0" sz="1650" spc="-25" b="1">
                <a:solidFill>
                  <a:srgbClr val="262626"/>
                </a:solidFill>
                <a:latin typeface="Calibri"/>
                <a:cs typeface="Calibri"/>
              </a:rPr>
              <a:t>IoT</a:t>
            </a:r>
            <a:endParaRPr sz="1650">
              <a:latin typeface="Calibri"/>
              <a:cs typeface="Calibri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4113784" y="8244840"/>
            <a:ext cx="2919730" cy="1068705"/>
            <a:chOff x="4113784" y="8244840"/>
            <a:chExt cx="2919730" cy="1068705"/>
          </a:xfrm>
        </p:grpSpPr>
        <p:sp>
          <p:nvSpPr>
            <p:cNvPr id="74" name="object 74"/>
            <p:cNvSpPr/>
            <p:nvPr/>
          </p:nvSpPr>
          <p:spPr>
            <a:xfrm>
              <a:off x="4116324" y="9070848"/>
              <a:ext cx="2752725" cy="0"/>
            </a:xfrm>
            <a:custGeom>
              <a:avLst/>
              <a:gdLst/>
              <a:ahLst/>
              <a:cxnLst/>
              <a:rect l="l" t="t" r="r" b="b"/>
              <a:pathLst>
                <a:path w="2752725" h="0">
                  <a:moveTo>
                    <a:pt x="0" y="0"/>
                  </a:moveTo>
                  <a:lnTo>
                    <a:pt x="2752343" y="0"/>
                  </a:lnTo>
                </a:path>
              </a:pathLst>
            </a:custGeom>
            <a:ln w="4572">
              <a:solidFill>
                <a:srgbClr val="07347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5" name="object 7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106668" y="8244840"/>
              <a:ext cx="926592" cy="1068324"/>
            </a:xfrm>
            <a:prstGeom prst="rect">
              <a:avLst/>
            </a:prstGeom>
          </p:spPr>
        </p:pic>
      </p:grpSp>
      <p:sp>
        <p:nvSpPr>
          <p:cNvPr id="76" name="object 76"/>
          <p:cNvSpPr txBox="1"/>
          <p:nvPr/>
        </p:nvSpPr>
        <p:spPr>
          <a:xfrm>
            <a:off x="4171238" y="7724814"/>
            <a:ext cx="1572895" cy="1809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1000" b="1">
                <a:solidFill>
                  <a:srgbClr val="073472"/>
                </a:solidFill>
                <a:latin typeface="Calibri"/>
                <a:cs typeface="Calibri"/>
              </a:rPr>
              <a:t>Single-Board</a:t>
            </a:r>
            <a:r>
              <a:rPr dirty="0" sz="1000" spc="35" b="1">
                <a:solidFill>
                  <a:srgbClr val="073472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073472"/>
                </a:solidFill>
                <a:latin typeface="Calibri"/>
                <a:cs typeface="Calibri"/>
              </a:rPr>
              <a:t>Computer</a:t>
            </a:r>
            <a:r>
              <a:rPr dirty="0" sz="1000" spc="55" b="1">
                <a:solidFill>
                  <a:srgbClr val="073472"/>
                </a:solidFill>
                <a:latin typeface="Calibri"/>
                <a:cs typeface="Calibri"/>
              </a:rPr>
              <a:t> </a:t>
            </a:r>
            <a:r>
              <a:rPr dirty="0" sz="1000" spc="-20" b="1">
                <a:solidFill>
                  <a:srgbClr val="073472"/>
                </a:solidFill>
                <a:latin typeface="Calibri"/>
                <a:cs typeface="Calibri"/>
              </a:rPr>
              <a:t>(SBC)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4171283" y="7938110"/>
            <a:ext cx="1592580" cy="83058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just" marR="5080">
              <a:lnSpc>
                <a:spcPct val="116199"/>
              </a:lnSpc>
              <a:spcBef>
                <a:spcPts val="90"/>
              </a:spcBef>
            </a:pP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Os</a:t>
            </a:r>
            <a:r>
              <a:rPr dirty="0" sz="650" spc="315">
                <a:solidFill>
                  <a:srgbClr val="262626"/>
                </a:solidFill>
                <a:latin typeface="Calibri"/>
                <a:cs typeface="Calibri"/>
              </a:rPr>
              <a:t>  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Single-Board</a:t>
            </a:r>
            <a:r>
              <a:rPr dirty="0" sz="650" spc="315">
                <a:solidFill>
                  <a:srgbClr val="262626"/>
                </a:solidFill>
                <a:latin typeface="Calibri"/>
                <a:cs typeface="Calibri"/>
              </a:rPr>
              <a:t>  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Computer</a:t>
            </a:r>
            <a:r>
              <a:rPr dirty="0" sz="650" spc="315">
                <a:solidFill>
                  <a:srgbClr val="262626"/>
                </a:solidFill>
                <a:latin typeface="Calibri"/>
                <a:cs typeface="Calibri"/>
              </a:rPr>
              <a:t>   </a:t>
            </a:r>
            <a:r>
              <a:rPr dirty="0" sz="650" spc="-10">
                <a:solidFill>
                  <a:srgbClr val="262626"/>
                </a:solidFill>
                <a:latin typeface="Calibri"/>
                <a:cs typeface="Calibri"/>
              </a:rPr>
              <a:t>(SBC),</a:t>
            </a:r>
            <a:r>
              <a:rPr dirty="0" sz="650" spc="50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correspondem</a:t>
            </a:r>
            <a:r>
              <a:rPr dirty="0" sz="650" spc="315">
                <a:solidFill>
                  <a:srgbClr val="262626"/>
                </a:solidFill>
                <a:latin typeface="Calibri"/>
                <a:cs typeface="Calibri"/>
              </a:rPr>
              <a:t> 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aos</a:t>
            </a:r>
            <a:r>
              <a:rPr dirty="0" sz="650" spc="325">
                <a:solidFill>
                  <a:srgbClr val="262626"/>
                </a:solidFill>
                <a:latin typeface="Calibri"/>
                <a:cs typeface="Calibri"/>
              </a:rPr>
              <a:t> 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computadores</a:t>
            </a:r>
            <a:r>
              <a:rPr dirty="0" sz="650" spc="320">
                <a:solidFill>
                  <a:srgbClr val="262626"/>
                </a:solidFill>
                <a:latin typeface="Calibri"/>
                <a:cs typeface="Calibri"/>
              </a:rPr>
              <a:t>  </a:t>
            </a:r>
            <a:r>
              <a:rPr dirty="0" sz="650" spc="-25">
                <a:solidFill>
                  <a:srgbClr val="262626"/>
                </a:solidFill>
                <a:latin typeface="Calibri"/>
                <a:cs typeface="Calibri"/>
              </a:rPr>
              <a:t>que</a:t>
            </a:r>
            <a:r>
              <a:rPr dirty="0" sz="650" spc="50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possuem</a:t>
            </a:r>
            <a:r>
              <a:rPr dirty="0" sz="650" spc="254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processador</a:t>
            </a:r>
            <a:r>
              <a:rPr dirty="0" sz="650" spc="26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e</a:t>
            </a:r>
            <a:r>
              <a:rPr dirty="0" sz="650" spc="24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memória</a:t>
            </a:r>
            <a:r>
              <a:rPr dirty="0" sz="650" spc="26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em</a:t>
            </a:r>
            <a:r>
              <a:rPr dirty="0" sz="650" spc="25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 spc="-25">
                <a:solidFill>
                  <a:srgbClr val="262626"/>
                </a:solidFill>
                <a:latin typeface="Calibri"/>
                <a:cs typeface="Calibri"/>
              </a:rPr>
              <a:t>uma</a:t>
            </a:r>
            <a:r>
              <a:rPr dirty="0" sz="650" spc="50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mesma</a:t>
            </a:r>
            <a:r>
              <a:rPr dirty="0" sz="650" spc="290">
                <a:solidFill>
                  <a:srgbClr val="262626"/>
                </a:solidFill>
                <a:latin typeface="Calibri"/>
                <a:cs typeface="Calibri"/>
              </a:rPr>
              <a:t> 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placa</a:t>
            </a:r>
            <a:r>
              <a:rPr dirty="0" sz="650" spc="300">
                <a:solidFill>
                  <a:srgbClr val="262626"/>
                </a:solidFill>
                <a:latin typeface="Calibri"/>
                <a:cs typeface="Calibri"/>
              </a:rPr>
              <a:t> 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de</a:t>
            </a:r>
            <a:r>
              <a:rPr dirty="0" sz="650" spc="295">
                <a:solidFill>
                  <a:srgbClr val="262626"/>
                </a:solidFill>
                <a:latin typeface="Calibri"/>
                <a:cs typeface="Calibri"/>
              </a:rPr>
              <a:t> 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circuito.</a:t>
            </a:r>
            <a:r>
              <a:rPr dirty="0" sz="650" spc="300">
                <a:solidFill>
                  <a:srgbClr val="262626"/>
                </a:solidFill>
                <a:latin typeface="Calibri"/>
                <a:cs typeface="Calibri"/>
              </a:rPr>
              <a:t> 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Os</a:t>
            </a:r>
            <a:r>
              <a:rPr dirty="0" sz="650" spc="295">
                <a:solidFill>
                  <a:srgbClr val="262626"/>
                </a:solidFill>
                <a:latin typeface="Calibri"/>
                <a:cs typeface="Calibri"/>
              </a:rPr>
              <a:t>  </a:t>
            </a:r>
            <a:r>
              <a:rPr dirty="0" sz="650" spc="-20">
                <a:solidFill>
                  <a:srgbClr val="262626"/>
                </a:solidFill>
                <a:latin typeface="Calibri"/>
                <a:cs typeface="Calibri"/>
              </a:rPr>
              <a:t>SBC,</a:t>
            </a:r>
            <a:r>
              <a:rPr dirty="0" sz="650" spc="50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normalmente,</a:t>
            </a:r>
            <a:r>
              <a:rPr dirty="0" sz="650" spc="10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possuem</a:t>
            </a:r>
            <a:r>
              <a:rPr dirty="0" sz="650" spc="9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conexões</a:t>
            </a:r>
            <a:r>
              <a:rPr dirty="0" sz="650" spc="8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de</a:t>
            </a:r>
            <a:r>
              <a:rPr dirty="0" sz="650" spc="11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 spc="-10">
                <a:solidFill>
                  <a:srgbClr val="262626"/>
                </a:solidFill>
                <a:latin typeface="Calibri"/>
                <a:cs typeface="Calibri"/>
              </a:rPr>
              <a:t>entrada</a:t>
            </a:r>
            <a:r>
              <a:rPr dirty="0" sz="650" spc="50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e</a:t>
            </a:r>
            <a:r>
              <a:rPr dirty="0" sz="650" spc="26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saída</a:t>
            </a:r>
            <a:r>
              <a:rPr dirty="0" sz="650" spc="26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integradas</a:t>
            </a:r>
            <a:r>
              <a:rPr dirty="0" sz="650" spc="27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a</a:t>
            </a:r>
            <a:r>
              <a:rPr dirty="0" sz="650" spc="27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outros</a:t>
            </a:r>
            <a:r>
              <a:rPr dirty="0" sz="650" spc="27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 spc="-10">
                <a:solidFill>
                  <a:srgbClr val="262626"/>
                </a:solidFill>
                <a:latin typeface="Calibri"/>
                <a:cs typeface="Calibri"/>
              </a:rPr>
              <a:t>componentes,</a:t>
            </a:r>
            <a:r>
              <a:rPr dirty="0" sz="650" spc="50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também</a:t>
            </a:r>
            <a:r>
              <a:rPr dirty="0" sz="650" spc="2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na</a:t>
            </a:r>
            <a:r>
              <a:rPr dirty="0" sz="650" spc="1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mesma</a:t>
            </a:r>
            <a:r>
              <a:rPr dirty="0" sz="650" spc="2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placa</a:t>
            </a:r>
            <a:r>
              <a:rPr dirty="0" sz="650" spc="1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de</a:t>
            </a:r>
            <a:r>
              <a:rPr dirty="0" sz="650" spc="1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 spc="-10">
                <a:solidFill>
                  <a:srgbClr val="262626"/>
                </a:solidFill>
                <a:latin typeface="Calibri"/>
                <a:cs typeface="Calibri"/>
              </a:rPr>
              <a:t>circuito.</a:t>
            </a:r>
            <a:endParaRPr sz="650">
              <a:latin typeface="Calibri"/>
              <a:cs typeface="Calibri"/>
            </a:endParaRPr>
          </a:p>
        </p:txBody>
      </p:sp>
      <p:pic>
        <p:nvPicPr>
          <p:cNvPr id="78" name="object 78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5843015" y="7833360"/>
            <a:ext cx="1091183" cy="681227"/>
          </a:xfrm>
          <a:prstGeom prst="rect">
            <a:avLst/>
          </a:prstGeom>
        </p:spPr>
      </p:pic>
      <p:sp>
        <p:nvSpPr>
          <p:cNvPr id="79" name="object 79"/>
          <p:cNvSpPr txBox="1"/>
          <p:nvPr/>
        </p:nvSpPr>
        <p:spPr>
          <a:xfrm>
            <a:off x="6184374" y="8509673"/>
            <a:ext cx="472440" cy="71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300" spc="-10">
                <a:latin typeface="Calibri"/>
                <a:cs typeface="Calibri"/>
              </a:rPr>
              <a:t>Fonte:</a:t>
            </a:r>
            <a:r>
              <a:rPr dirty="0" sz="300" spc="60">
                <a:latin typeface="Calibri"/>
                <a:cs typeface="Calibri"/>
              </a:rPr>
              <a:t> </a:t>
            </a:r>
            <a:r>
              <a:rPr dirty="0" sz="300" spc="-10">
                <a:latin typeface="Calibri"/>
                <a:cs typeface="Calibri"/>
              </a:rPr>
              <a:t>Curvello;</a:t>
            </a:r>
            <a:r>
              <a:rPr dirty="0" sz="300" spc="40">
                <a:latin typeface="Calibri"/>
                <a:cs typeface="Calibri"/>
              </a:rPr>
              <a:t> </a:t>
            </a:r>
            <a:r>
              <a:rPr dirty="0" sz="300" spc="-10">
                <a:latin typeface="Calibri"/>
                <a:cs typeface="Calibri"/>
              </a:rPr>
              <a:t>Vieira</a:t>
            </a:r>
            <a:r>
              <a:rPr dirty="0" sz="300" spc="40">
                <a:latin typeface="Calibri"/>
                <a:cs typeface="Calibri"/>
              </a:rPr>
              <a:t> </a:t>
            </a:r>
            <a:r>
              <a:rPr dirty="0" sz="300" spc="-10">
                <a:latin typeface="Calibri"/>
                <a:cs typeface="Calibri"/>
              </a:rPr>
              <a:t>(2019)</a:t>
            </a:r>
            <a:endParaRPr sz="300">
              <a:latin typeface="Calibri"/>
              <a:cs typeface="Calibri"/>
            </a:endParaRPr>
          </a:p>
        </p:txBody>
      </p:sp>
      <p:sp>
        <p:nvSpPr>
          <p:cNvPr id="80" name="object 80"/>
          <p:cNvSpPr/>
          <p:nvPr/>
        </p:nvSpPr>
        <p:spPr>
          <a:xfrm>
            <a:off x="3938015" y="7577328"/>
            <a:ext cx="3088005" cy="1728470"/>
          </a:xfrm>
          <a:custGeom>
            <a:avLst/>
            <a:gdLst/>
            <a:ahLst/>
            <a:cxnLst/>
            <a:rect l="l" t="t" r="r" b="b"/>
            <a:pathLst>
              <a:path w="3088004" h="1728470">
                <a:moveTo>
                  <a:pt x="3087623" y="0"/>
                </a:moveTo>
                <a:lnTo>
                  <a:pt x="0" y="0"/>
                </a:lnTo>
                <a:lnTo>
                  <a:pt x="0" y="1728216"/>
                </a:lnTo>
                <a:lnTo>
                  <a:pt x="3087623" y="1728216"/>
                </a:lnTo>
                <a:lnTo>
                  <a:pt x="3087623" y="0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 txBox="1"/>
          <p:nvPr/>
        </p:nvSpPr>
        <p:spPr>
          <a:xfrm>
            <a:off x="516162" y="3145004"/>
            <a:ext cx="96520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50">
                <a:solidFill>
                  <a:srgbClr val="262626"/>
                </a:solidFill>
                <a:latin typeface="Calibri"/>
                <a:cs typeface="Calibri"/>
              </a:rPr>
              <a:t>7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516162" y="9378120"/>
            <a:ext cx="168275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 sz="1100" spc="-25">
                <a:solidFill>
                  <a:srgbClr val="262626"/>
                </a:solidFill>
                <a:latin typeface="Calibri"/>
                <a:cs typeface="Calibri"/>
              </a:rPr>
              <a:t>11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3920421" y="9378120"/>
            <a:ext cx="168275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 sz="1100" spc="-25">
                <a:solidFill>
                  <a:srgbClr val="262626"/>
                </a:solidFill>
                <a:latin typeface="Calibri"/>
                <a:cs typeface="Calibri"/>
              </a:rPr>
              <a:t>12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3920421" y="3145004"/>
            <a:ext cx="96520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50">
                <a:solidFill>
                  <a:srgbClr val="262626"/>
                </a:solidFill>
                <a:latin typeface="Calibri"/>
                <a:cs typeface="Calibri"/>
              </a:rPr>
              <a:t>8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516162" y="6244806"/>
            <a:ext cx="96520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50">
                <a:solidFill>
                  <a:srgbClr val="262626"/>
                </a:solidFill>
                <a:latin typeface="Calibri"/>
                <a:cs typeface="Calibri"/>
              </a:rPr>
              <a:t>9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3920421" y="6244806"/>
            <a:ext cx="168275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25">
                <a:solidFill>
                  <a:srgbClr val="262626"/>
                </a:solidFill>
                <a:latin typeface="Calibri"/>
                <a:cs typeface="Calibri"/>
              </a:rPr>
              <a:t>10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2334" y="1528163"/>
            <a:ext cx="2173605" cy="6432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00" b="1">
                <a:solidFill>
                  <a:srgbClr val="073472"/>
                </a:solidFill>
                <a:latin typeface="Calibri"/>
                <a:cs typeface="Calibri"/>
              </a:rPr>
              <a:t>Apresentação</a:t>
            </a:r>
            <a:r>
              <a:rPr dirty="0" sz="1000" spc="25" b="1">
                <a:solidFill>
                  <a:srgbClr val="073472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073472"/>
                </a:solidFill>
                <a:latin typeface="Calibri"/>
                <a:cs typeface="Calibri"/>
              </a:rPr>
              <a:t>ao</a:t>
            </a:r>
            <a:r>
              <a:rPr dirty="0" sz="1000" spc="65" b="1">
                <a:solidFill>
                  <a:srgbClr val="073472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073472"/>
                </a:solidFill>
                <a:latin typeface="Calibri"/>
                <a:cs typeface="Calibri"/>
              </a:rPr>
              <a:t>Raspberry</a:t>
            </a:r>
            <a:r>
              <a:rPr dirty="0" sz="1000" spc="75" b="1">
                <a:solidFill>
                  <a:srgbClr val="073472"/>
                </a:solidFill>
                <a:latin typeface="Calibri"/>
                <a:cs typeface="Calibri"/>
              </a:rPr>
              <a:t> </a:t>
            </a:r>
            <a:r>
              <a:rPr dirty="0" sz="1000" spc="-25" b="1">
                <a:solidFill>
                  <a:srgbClr val="073472"/>
                </a:solidFill>
                <a:latin typeface="Calibri"/>
                <a:cs typeface="Calibri"/>
              </a:rPr>
              <a:t>Pi</a:t>
            </a:r>
            <a:endParaRPr sz="1000">
              <a:latin typeface="Calibri"/>
              <a:cs typeface="Calibri"/>
            </a:endParaRPr>
          </a:p>
          <a:p>
            <a:pPr marL="12700" marR="970915">
              <a:lnSpc>
                <a:spcPct val="134300"/>
              </a:lnSpc>
              <a:spcBef>
                <a:spcPts val="285"/>
              </a:spcBef>
            </a:pPr>
            <a:r>
              <a:rPr dirty="0" sz="700">
                <a:solidFill>
                  <a:srgbClr val="262626"/>
                </a:solidFill>
                <a:latin typeface="Calibri"/>
                <a:cs typeface="Calibri"/>
              </a:rPr>
              <a:t>Computador</a:t>
            </a:r>
            <a:r>
              <a:rPr dirty="0" sz="700" spc="2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262626"/>
                </a:solidFill>
                <a:latin typeface="Calibri"/>
                <a:cs typeface="Calibri"/>
              </a:rPr>
              <a:t>de</a:t>
            </a:r>
            <a:r>
              <a:rPr dirty="0" sz="700" spc="-1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262626"/>
                </a:solidFill>
                <a:latin typeface="Calibri"/>
                <a:cs typeface="Calibri"/>
              </a:rPr>
              <a:t>baixo</a:t>
            </a:r>
            <a:r>
              <a:rPr dirty="0" sz="700" spc="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262626"/>
                </a:solidFill>
                <a:latin typeface="Calibri"/>
                <a:cs typeface="Calibri"/>
              </a:rPr>
              <a:t>custo;</a:t>
            </a:r>
            <a:r>
              <a:rPr dirty="0" sz="700" spc="50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262626"/>
                </a:solidFill>
                <a:latin typeface="Calibri"/>
                <a:cs typeface="Calibri"/>
              </a:rPr>
              <a:t>Raspberry</a:t>
            </a:r>
            <a:r>
              <a:rPr dirty="0" sz="700" spc="1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262626"/>
                </a:solidFill>
                <a:latin typeface="Calibri"/>
                <a:cs typeface="Calibri"/>
              </a:rPr>
              <a:t>Pi</a:t>
            </a:r>
            <a:r>
              <a:rPr dirty="0" sz="700" spc="1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262626"/>
                </a:solidFill>
                <a:latin typeface="Calibri"/>
                <a:cs typeface="Calibri"/>
              </a:rPr>
              <a:t>3 Model</a:t>
            </a:r>
            <a:r>
              <a:rPr dirty="0" sz="700" spc="2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262626"/>
                </a:solidFill>
                <a:latin typeface="Calibri"/>
                <a:cs typeface="Calibri"/>
              </a:rPr>
              <a:t>B+</a:t>
            </a:r>
            <a:r>
              <a:rPr dirty="0" sz="700" spc="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262626"/>
                </a:solidFill>
                <a:latin typeface="Calibri"/>
                <a:cs typeface="Calibri"/>
              </a:rPr>
              <a:t>Anatel:</a:t>
            </a:r>
            <a:endParaRPr sz="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–</a:t>
            </a:r>
            <a:r>
              <a:rPr dirty="0" sz="650" spc="10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Processador</a:t>
            </a:r>
            <a:r>
              <a:rPr dirty="0" sz="650" spc="14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Broadcom</a:t>
            </a:r>
            <a:r>
              <a:rPr dirty="0" sz="650" spc="9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64bits</a:t>
            </a:r>
            <a:r>
              <a:rPr dirty="0" sz="650" spc="10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ARM</a:t>
            </a:r>
            <a:r>
              <a:rPr dirty="0" sz="650" spc="9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Cortex-A53</a:t>
            </a:r>
            <a:r>
              <a:rPr dirty="0" sz="650" spc="15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Quad-</a:t>
            </a:r>
            <a:r>
              <a:rPr dirty="0" sz="650" spc="-20">
                <a:solidFill>
                  <a:srgbClr val="262626"/>
                </a:solidFill>
                <a:latin typeface="Calibri"/>
                <a:cs typeface="Calibri"/>
              </a:rPr>
              <a:t>Core;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52356" y="2144406"/>
            <a:ext cx="1582420" cy="721995"/>
          </a:xfrm>
          <a:prstGeom prst="rect">
            <a:avLst/>
          </a:prstGeom>
        </p:spPr>
        <p:txBody>
          <a:bodyPr wrap="square" lIns="0" tIns="52705" rIns="0" bIns="0" rtlCol="0" vert="horz">
            <a:spAutoFit/>
          </a:bodyPr>
          <a:lstStyle/>
          <a:p>
            <a:pPr marL="76835" indent="-64135">
              <a:lnSpc>
                <a:spcPct val="100000"/>
              </a:lnSpc>
              <a:spcBef>
                <a:spcPts val="415"/>
              </a:spcBef>
              <a:buChar char="–"/>
              <a:tabLst>
                <a:tab pos="76835" algn="l"/>
              </a:tabLst>
            </a:pP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Clock</a:t>
            </a:r>
            <a:r>
              <a:rPr dirty="0" sz="650" spc="6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1.4</a:t>
            </a:r>
            <a:r>
              <a:rPr dirty="0" sz="650" spc="7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 spc="-20">
                <a:solidFill>
                  <a:srgbClr val="262626"/>
                </a:solidFill>
                <a:latin typeface="Calibri"/>
                <a:cs typeface="Calibri"/>
              </a:rPr>
              <a:t>GHz;</a:t>
            </a:r>
            <a:endParaRPr sz="650">
              <a:latin typeface="Calibri"/>
              <a:cs typeface="Calibri"/>
            </a:endParaRPr>
          </a:p>
          <a:p>
            <a:pPr marL="76835" indent="-64135">
              <a:lnSpc>
                <a:spcPct val="100000"/>
              </a:lnSpc>
              <a:spcBef>
                <a:spcPts val="325"/>
              </a:spcBef>
              <a:buChar char="–"/>
              <a:tabLst>
                <a:tab pos="76835" algn="l"/>
              </a:tabLst>
            </a:pP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Memória</a:t>
            </a:r>
            <a:r>
              <a:rPr dirty="0" sz="650" spc="10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RAM:</a:t>
            </a:r>
            <a:r>
              <a:rPr dirty="0" sz="650" spc="10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 spc="-20">
                <a:solidFill>
                  <a:srgbClr val="262626"/>
                </a:solidFill>
                <a:latin typeface="Calibri"/>
                <a:cs typeface="Calibri"/>
              </a:rPr>
              <a:t>1GB;</a:t>
            </a:r>
            <a:endParaRPr sz="650">
              <a:latin typeface="Calibri"/>
              <a:cs typeface="Calibri"/>
            </a:endParaRPr>
          </a:p>
          <a:p>
            <a:pPr marL="76835" indent="-64135">
              <a:lnSpc>
                <a:spcPct val="100000"/>
              </a:lnSpc>
              <a:spcBef>
                <a:spcPts val="310"/>
              </a:spcBef>
              <a:buChar char="–"/>
              <a:tabLst>
                <a:tab pos="76835" algn="l"/>
              </a:tabLst>
            </a:pP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Interface</a:t>
            </a:r>
            <a:r>
              <a:rPr dirty="0" sz="650" spc="8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para</a:t>
            </a:r>
            <a:r>
              <a:rPr dirty="0" sz="650" spc="3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câmera</a:t>
            </a:r>
            <a:r>
              <a:rPr dirty="0" sz="650" spc="5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(CSI)</a:t>
            </a:r>
            <a:r>
              <a:rPr dirty="0" sz="650" spc="6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e</a:t>
            </a:r>
            <a:r>
              <a:rPr dirty="0" sz="650" spc="4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display</a:t>
            </a:r>
            <a:r>
              <a:rPr dirty="0" sz="650" spc="5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 spc="-10">
                <a:solidFill>
                  <a:srgbClr val="262626"/>
                </a:solidFill>
                <a:latin typeface="Calibri"/>
                <a:cs typeface="Calibri"/>
              </a:rPr>
              <a:t>(DSI);</a:t>
            </a:r>
            <a:endParaRPr sz="650">
              <a:latin typeface="Calibri"/>
              <a:cs typeface="Calibri"/>
            </a:endParaRPr>
          </a:p>
          <a:p>
            <a:pPr marL="76835" indent="-64135">
              <a:lnSpc>
                <a:spcPct val="100000"/>
              </a:lnSpc>
              <a:spcBef>
                <a:spcPts val="315"/>
              </a:spcBef>
              <a:buChar char="–"/>
              <a:tabLst>
                <a:tab pos="76835" algn="l"/>
              </a:tabLst>
            </a:pP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GPIO</a:t>
            </a:r>
            <a:r>
              <a:rPr dirty="0" sz="650" spc="6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de</a:t>
            </a:r>
            <a:r>
              <a:rPr dirty="0" sz="650" spc="4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40</a:t>
            </a:r>
            <a:r>
              <a:rPr dirty="0" sz="650" spc="4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 spc="-10">
                <a:solidFill>
                  <a:srgbClr val="262626"/>
                </a:solidFill>
                <a:latin typeface="Calibri"/>
                <a:cs typeface="Calibri"/>
              </a:rPr>
              <a:t>pinos;</a:t>
            </a:r>
            <a:endParaRPr sz="650">
              <a:latin typeface="Calibri"/>
              <a:cs typeface="Calibri"/>
            </a:endParaRPr>
          </a:p>
          <a:p>
            <a:pPr marL="76835" indent="-64135">
              <a:lnSpc>
                <a:spcPct val="100000"/>
              </a:lnSpc>
              <a:spcBef>
                <a:spcPts val="310"/>
              </a:spcBef>
              <a:buChar char="–"/>
              <a:tabLst>
                <a:tab pos="76835" algn="l"/>
              </a:tabLst>
            </a:pP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Dimensões:</a:t>
            </a:r>
            <a:r>
              <a:rPr dirty="0" sz="650" spc="7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85</a:t>
            </a:r>
            <a:r>
              <a:rPr dirty="0" sz="650" spc="4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x</a:t>
            </a:r>
            <a:r>
              <a:rPr dirty="0" sz="650" spc="5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56</a:t>
            </a:r>
            <a:r>
              <a:rPr dirty="0" sz="650" spc="5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x</a:t>
            </a:r>
            <a:r>
              <a:rPr dirty="0" sz="650" spc="4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 spc="-10">
                <a:solidFill>
                  <a:srgbClr val="262626"/>
                </a:solidFill>
                <a:latin typeface="Calibri"/>
                <a:cs typeface="Calibri"/>
              </a:rPr>
              <a:t>17mm.</a:t>
            </a:r>
            <a:endParaRPr sz="65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36748" y="1615440"/>
            <a:ext cx="534924" cy="64312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924043" y="2258111"/>
            <a:ext cx="536575" cy="71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" spc="-10">
                <a:latin typeface="Calibri"/>
                <a:cs typeface="Calibri"/>
              </a:rPr>
              <a:t>Fonte:</a:t>
            </a:r>
            <a:r>
              <a:rPr dirty="0" sz="300" spc="45">
                <a:latin typeface="Calibri"/>
                <a:cs typeface="Calibri"/>
              </a:rPr>
              <a:t> </a:t>
            </a:r>
            <a:r>
              <a:rPr dirty="0" sz="300" spc="-10">
                <a:latin typeface="Calibri"/>
                <a:cs typeface="Calibri"/>
              </a:rPr>
              <a:t>encurtador.com.br/lkHq4.</a:t>
            </a:r>
            <a:endParaRPr sz="3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34923" y="1379219"/>
            <a:ext cx="3086100" cy="1729739"/>
          </a:xfrm>
          <a:custGeom>
            <a:avLst/>
            <a:gdLst/>
            <a:ahLst/>
            <a:cxnLst/>
            <a:rect l="l" t="t" r="r" b="b"/>
            <a:pathLst>
              <a:path w="3086100" h="1729739">
                <a:moveTo>
                  <a:pt x="3086100" y="0"/>
                </a:moveTo>
                <a:lnTo>
                  <a:pt x="0" y="0"/>
                </a:lnTo>
                <a:lnTo>
                  <a:pt x="0" y="1729739"/>
                </a:lnTo>
                <a:lnTo>
                  <a:pt x="3086100" y="1729739"/>
                </a:lnTo>
                <a:lnTo>
                  <a:pt x="3086100" y="0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7" name="object 7"/>
          <p:cNvGrpSpPr/>
          <p:nvPr/>
        </p:nvGrpSpPr>
        <p:grpSpPr>
          <a:xfrm>
            <a:off x="4108247" y="1727760"/>
            <a:ext cx="2925445" cy="1389380"/>
            <a:chOff x="4108247" y="1727760"/>
            <a:chExt cx="2925445" cy="1389380"/>
          </a:xfrm>
        </p:grpSpPr>
        <p:sp>
          <p:nvSpPr>
            <p:cNvPr id="8" name="object 8"/>
            <p:cNvSpPr/>
            <p:nvPr/>
          </p:nvSpPr>
          <p:spPr>
            <a:xfrm>
              <a:off x="4116323" y="2872740"/>
              <a:ext cx="2752725" cy="0"/>
            </a:xfrm>
            <a:custGeom>
              <a:avLst/>
              <a:gdLst/>
              <a:ahLst/>
              <a:cxnLst/>
              <a:rect l="l" t="t" r="r" b="b"/>
              <a:pathLst>
                <a:path w="2752725" h="0">
                  <a:moveTo>
                    <a:pt x="0" y="0"/>
                  </a:moveTo>
                  <a:lnTo>
                    <a:pt x="2752343" y="0"/>
                  </a:lnTo>
                </a:path>
              </a:pathLst>
            </a:custGeom>
            <a:ln w="4572">
              <a:solidFill>
                <a:srgbClr val="07347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06667" y="2046732"/>
              <a:ext cx="926592" cy="106984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08247" y="1727760"/>
              <a:ext cx="1150122" cy="1114899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3938015" y="1379219"/>
            <a:ext cx="3088005" cy="1729739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wrap="square" lIns="0" tIns="1778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40"/>
              </a:spcBef>
            </a:pPr>
            <a:endParaRPr sz="1000">
              <a:latin typeface="Times New Roman"/>
              <a:cs typeface="Times New Roman"/>
            </a:endParaRPr>
          </a:p>
          <a:p>
            <a:pPr marL="233045">
              <a:lnSpc>
                <a:spcPct val="100000"/>
              </a:lnSpc>
            </a:pPr>
            <a:r>
              <a:rPr dirty="0" sz="1000" b="1">
                <a:solidFill>
                  <a:srgbClr val="073472"/>
                </a:solidFill>
                <a:latin typeface="Calibri"/>
                <a:cs typeface="Calibri"/>
              </a:rPr>
              <a:t>O</a:t>
            </a:r>
            <a:r>
              <a:rPr dirty="0" sz="1000" spc="15" b="1">
                <a:solidFill>
                  <a:srgbClr val="073472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073472"/>
                </a:solidFill>
                <a:latin typeface="Calibri"/>
                <a:cs typeface="Calibri"/>
              </a:rPr>
              <a:t>Raspberry</a:t>
            </a:r>
            <a:r>
              <a:rPr dirty="0" sz="1000" spc="30" b="1">
                <a:solidFill>
                  <a:srgbClr val="073472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073472"/>
                </a:solidFill>
                <a:latin typeface="Calibri"/>
                <a:cs typeface="Calibri"/>
              </a:rPr>
              <a:t>Pi</a:t>
            </a:r>
            <a:r>
              <a:rPr dirty="0" sz="1000" spc="30" b="1">
                <a:solidFill>
                  <a:srgbClr val="073472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073472"/>
                </a:solidFill>
                <a:latin typeface="Calibri"/>
                <a:cs typeface="Calibri"/>
              </a:rPr>
              <a:t>(Rpi)</a:t>
            </a:r>
            <a:r>
              <a:rPr dirty="0" sz="1000" spc="35" b="1">
                <a:solidFill>
                  <a:srgbClr val="073472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073472"/>
                </a:solidFill>
                <a:latin typeface="Calibri"/>
                <a:cs typeface="Calibri"/>
              </a:rPr>
              <a:t>como</a:t>
            </a:r>
            <a:r>
              <a:rPr dirty="0" sz="1000" spc="20" b="1">
                <a:solidFill>
                  <a:srgbClr val="073472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073472"/>
                </a:solidFill>
                <a:latin typeface="Calibri"/>
                <a:cs typeface="Calibri"/>
              </a:rPr>
              <a:t>plataforma</a:t>
            </a:r>
            <a:r>
              <a:rPr dirty="0" sz="1000" spc="5" b="1">
                <a:solidFill>
                  <a:srgbClr val="073472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073472"/>
                </a:solidFill>
                <a:latin typeface="Calibri"/>
                <a:cs typeface="Calibri"/>
              </a:rPr>
              <a:t>para</a:t>
            </a:r>
            <a:r>
              <a:rPr dirty="0" sz="1000" spc="30" b="1">
                <a:solidFill>
                  <a:srgbClr val="073472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073472"/>
                </a:solidFill>
                <a:latin typeface="Calibri"/>
                <a:cs typeface="Calibri"/>
              </a:rPr>
              <a:t>a</a:t>
            </a:r>
            <a:r>
              <a:rPr dirty="0" sz="1000" spc="45" b="1">
                <a:solidFill>
                  <a:srgbClr val="073472"/>
                </a:solidFill>
                <a:latin typeface="Calibri"/>
                <a:cs typeface="Calibri"/>
              </a:rPr>
              <a:t> </a:t>
            </a:r>
            <a:r>
              <a:rPr dirty="0" sz="1000" spc="-25" b="1">
                <a:solidFill>
                  <a:srgbClr val="073472"/>
                </a:solidFill>
                <a:latin typeface="Calibri"/>
                <a:cs typeface="Calibri"/>
              </a:rPr>
              <a:t>IoT</a:t>
            </a:r>
            <a:endParaRPr sz="1000">
              <a:latin typeface="Calibri"/>
              <a:cs typeface="Calibri"/>
            </a:endParaRPr>
          </a:p>
          <a:p>
            <a:pPr algn="just" marL="1938020" marR="71120">
              <a:lnSpc>
                <a:spcPct val="116300"/>
              </a:lnSpc>
              <a:spcBef>
                <a:spcPts val="165"/>
              </a:spcBef>
            </a:pP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Construído</a:t>
            </a:r>
            <a:r>
              <a:rPr dirty="0" sz="650" spc="235">
                <a:solidFill>
                  <a:srgbClr val="262626"/>
                </a:solidFill>
                <a:latin typeface="Calibri"/>
                <a:cs typeface="Calibri"/>
              </a:rPr>
              <a:t> 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para</a:t>
            </a:r>
            <a:r>
              <a:rPr dirty="0" sz="650" spc="240">
                <a:solidFill>
                  <a:srgbClr val="262626"/>
                </a:solidFill>
                <a:latin typeface="Calibri"/>
                <a:cs typeface="Calibri"/>
              </a:rPr>
              <a:t> 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ser</a:t>
            </a:r>
            <a:r>
              <a:rPr dirty="0" sz="650" spc="240">
                <a:solidFill>
                  <a:srgbClr val="262626"/>
                </a:solidFill>
                <a:latin typeface="Calibri"/>
                <a:cs typeface="Calibri"/>
              </a:rPr>
              <a:t>  </a:t>
            </a:r>
            <a:r>
              <a:rPr dirty="0" sz="650" spc="-25">
                <a:solidFill>
                  <a:srgbClr val="262626"/>
                </a:solidFill>
                <a:latin typeface="Calibri"/>
                <a:cs typeface="Calibri"/>
              </a:rPr>
              <a:t>uma</a:t>
            </a:r>
            <a:r>
              <a:rPr dirty="0" sz="650" spc="50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plataforma</a:t>
            </a:r>
            <a:r>
              <a:rPr dirty="0" sz="650" spc="48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educacional</a:t>
            </a:r>
            <a:r>
              <a:rPr dirty="0" sz="650" spc="49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 spc="-25">
                <a:solidFill>
                  <a:srgbClr val="262626"/>
                </a:solidFill>
                <a:latin typeface="Calibri"/>
                <a:cs typeface="Calibri"/>
              </a:rPr>
              <a:t>que</a:t>
            </a:r>
            <a:r>
              <a:rPr dirty="0" sz="650" spc="50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pudesse</a:t>
            </a:r>
            <a:r>
              <a:rPr dirty="0" sz="650" spc="2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ser</a:t>
            </a:r>
            <a:r>
              <a:rPr dirty="0" sz="650" spc="2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utilizada</a:t>
            </a:r>
            <a:r>
              <a:rPr dirty="0" sz="650" spc="3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no</a:t>
            </a:r>
            <a:r>
              <a:rPr dirty="0" sz="650" spc="3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 spc="-10">
                <a:solidFill>
                  <a:srgbClr val="262626"/>
                </a:solidFill>
                <a:latin typeface="Calibri"/>
                <a:cs typeface="Calibri"/>
              </a:rPr>
              <a:t>ensino</a:t>
            </a:r>
            <a:r>
              <a:rPr dirty="0" sz="650" spc="50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da</a:t>
            </a:r>
            <a:r>
              <a:rPr dirty="0" sz="650" spc="25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Computação,</a:t>
            </a:r>
            <a:r>
              <a:rPr dirty="0" sz="650" spc="26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o</a:t>
            </a:r>
            <a:r>
              <a:rPr dirty="0" sz="650" spc="25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Rpi</a:t>
            </a:r>
            <a:r>
              <a:rPr dirty="0" sz="650" spc="27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é</a:t>
            </a:r>
            <a:r>
              <a:rPr dirty="0" sz="650" spc="254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 spc="-25">
                <a:solidFill>
                  <a:srgbClr val="262626"/>
                </a:solidFill>
                <a:latin typeface="Calibri"/>
                <a:cs typeface="Calibri"/>
              </a:rPr>
              <a:t>do</a:t>
            </a:r>
            <a:r>
              <a:rPr dirty="0" sz="650" spc="50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tamanho</a:t>
            </a:r>
            <a:r>
              <a:rPr dirty="0" sz="650" spc="38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de</a:t>
            </a:r>
            <a:r>
              <a:rPr dirty="0" sz="650" spc="38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um</a:t>
            </a:r>
            <a:r>
              <a:rPr dirty="0" sz="650" spc="39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cartão</a:t>
            </a:r>
            <a:r>
              <a:rPr dirty="0" sz="650" spc="38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 spc="-25">
                <a:solidFill>
                  <a:srgbClr val="262626"/>
                </a:solidFill>
                <a:latin typeface="Calibri"/>
                <a:cs typeface="Calibri"/>
              </a:rPr>
              <a:t>de</a:t>
            </a:r>
            <a:r>
              <a:rPr dirty="0" sz="650" spc="50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 spc="-10">
                <a:solidFill>
                  <a:srgbClr val="262626"/>
                </a:solidFill>
                <a:latin typeface="Calibri"/>
                <a:cs typeface="Calibri"/>
              </a:rPr>
              <a:t>crédito.</a:t>
            </a:r>
            <a:endParaRPr sz="6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6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6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55"/>
              </a:spcBef>
            </a:pPr>
            <a:endParaRPr sz="650">
              <a:latin typeface="Calibri"/>
              <a:cs typeface="Calibri"/>
            </a:endParaRPr>
          </a:p>
          <a:p>
            <a:pPr algn="ctr" marR="248920">
              <a:lnSpc>
                <a:spcPct val="100000"/>
              </a:lnSpc>
            </a:pPr>
            <a:r>
              <a:rPr dirty="0" sz="300" spc="-10">
                <a:latin typeface="Calibri"/>
                <a:cs typeface="Calibri"/>
              </a:rPr>
              <a:t>Fonte:</a:t>
            </a:r>
            <a:r>
              <a:rPr dirty="0" sz="300" spc="60">
                <a:latin typeface="Calibri"/>
                <a:cs typeface="Calibri"/>
              </a:rPr>
              <a:t> </a:t>
            </a:r>
            <a:r>
              <a:rPr dirty="0" sz="300" spc="-10">
                <a:latin typeface="Calibri"/>
                <a:cs typeface="Calibri"/>
              </a:rPr>
              <a:t>Curvello;</a:t>
            </a:r>
            <a:r>
              <a:rPr dirty="0" sz="300" spc="40">
                <a:latin typeface="Calibri"/>
                <a:cs typeface="Calibri"/>
              </a:rPr>
              <a:t> </a:t>
            </a:r>
            <a:r>
              <a:rPr dirty="0" sz="300" spc="-10">
                <a:latin typeface="Calibri"/>
                <a:cs typeface="Calibri"/>
              </a:rPr>
              <a:t>Vieira</a:t>
            </a:r>
            <a:r>
              <a:rPr dirty="0" sz="300" spc="40">
                <a:latin typeface="Calibri"/>
                <a:cs typeface="Calibri"/>
              </a:rPr>
              <a:t> </a:t>
            </a:r>
            <a:r>
              <a:rPr dirty="0" sz="300" spc="-10">
                <a:latin typeface="Calibri"/>
                <a:cs typeface="Calibri"/>
              </a:rPr>
              <a:t>(2019)</a:t>
            </a:r>
            <a:endParaRPr sz="300">
              <a:latin typeface="Calibri"/>
              <a:cs typeface="Calibri"/>
            </a:endParaRPr>
          </a:p>
        </p:txBody>
      </p: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98720" y="2339340"/>
            <a:ext cx="752856" cy="361187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713231" y="4593335"/>
            <a:ext cx="2915920" cy="1621790"/>
            <a:chOff x="713231" y="4593335"/>
            <a:chExt cx="2915920" cy="1621790"/>
          </a:xfrm>
        </p:grpSpPr>
        <p:sp>
          <p:nvSpPr>
            <p:cNvPr id="14" name="object 14"/>
            <p:cNvSpPr/>
            <p:nvPr/>
          </p:nvSpPr>
          <p:spPr>
            <a:xfrm>
              <a:off x="713231" y="5971032"/>
              <a:ext cx="2752725" cy="0"/>
            </a:xfrm>
            <a:custGeom>
              <a:avLst/>
              <a:gdLst/>
              <a:ahLst/>
              <a:cxnLst/>
              <a:rect l="l" t="t" r="r" b="b"/>
              <a:pathLst>
                <a:path w="2752725" h="0">
                  <a:moveTo>
                    <a:pt x="0" y="0"/>
                  </a:moveTo>
                  <a:lnTo>
                    <a:pt x="2752343" y="0"/>
                  </a:lnTo>
                </a:path>
              </a:pathLst>
            </a:custGeom>
            <a:ln w="4572">
              <a:solidFill>
                <a:srgbClr val="07347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03575" y="5145023"/>
              <a:ext cx="925067" cy="106984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122932" y="4802124"/>
              <a:ext cx="1456943" cy="63245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45235" y="4593335"/>
              <a:ext cx="1367925" cy="1353005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534923" y="4477511"/>
            <a:ext cx="3086100" cy="1729739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wrap="square" lIns="0" tIns="1079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85"/>
              </a:spcBef>
            </a:pPr>
            <a:endParaRPr sz="650">
              <a:latin typeface="Times New Roman"/>
              <a:cs typeface="Times New Roman"/>
            </a:endParaRPr>
          </a:p>
          <a:p>
            <a:pPr marL="1654810">
              <a:lnSpc>
                <a:spcPct val="100000"/>
              </a:lnSpc>
            </a:pPr>
            <a:r>
              <a:rPr dirty="0" sz="1000" b="1">
                <a:solidFill>
                  <a:srgbClr val="073472"/>
                </a:solidFill>
                <a:latin typeface="Calibri"/>
                <a:cs typeface="Calibri"/>
              </a:rPr>
              <a:t>GPIOS</a:t>
            </a:r>
            <a:r>
              <a:rPr dirty="0" sz="1000" spc="25" b="1">
                <a:solidFill>
                  <a:srgbClr val="073472"/>
                </a:solidFill>
                <a:latin typeface="Calibri"/>
                <a:cs typeface="Calibri"/>
              </a:rPr>
              <a:t> </a:t>
            </a:r>
            <a:r>
              <a:rPr dirty="0" sz="650" spc="-10" b="1">
                <a:solidFill>
                  <a:srgbClr val="073472"/>
                </a:solidFill>
                <a:latin typeface="Calibri"/>
                <a:cs typeface="Calibri"/>
              </a:rPr>
              <a:t>(</a:t>
            </a:r>
            <a:r>
              <a:rPr dirty="0" sz="650" spc="-10" b="1">
                <a:solidFill>
                  <a:srgbClr val="073472"/>
                </a:solidFill>
                <a:latin typeface="Calibri"/>
                <a:cs typeface="Calibri"/>
                <a:hlinkClick r:id="rId9"/>
              </a:rPr>
              <a:t>https://pinout.xyz/)</a:t>
            </a:r>
            <a:endParaRPr sz="6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6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6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6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6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6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6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6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6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6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6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sz="650">
              <a:latin typeface="Calibri"/>
              <a:cs typeface="Calibri"/>
            </a:endParaRPr>
          </a:p>
          <a:p>
            <a:pPr marL="1610360">
              <a:lnSpc>
                <a:spcPct val="100000"/>
              </a:lnSpc>
              <a:spcBef>
                <a:spcPts val="5"/>
              </a:spcBef>
            </a:pPr>
            <a:r>
              <a:rPr dirty="0" sz="300" spc="-10">
                <a:latin typeface="Calibri"/>
                <a:cs typeface="Calibri"/>
              </a:rPr>
              <a:t>Fonte:</a:t>
            </a:r>
            <a:r>
              <a:rPr dirty="0" sz="300" spc="60">
                <a:latin typeface="Calibri"/>
                <a:cs typeface="Calibri"/>
              </a:rPr>
              <a:t> </a:t>
            </a:r>
            <a:r>
              <a:rPr dirty="0" sz="300" spc="-10">
                <a:latin typeface="Calibri"/>
                <a:cs typeface="Calibri"/>
              </a:rPr>
              <a:t>Curvello;</a:t>
            </a:r>
            <a:r>
              <a:rPr dirty="0" sz="300" spc="40">
                <a:latin typeface="Calibri"/>
                <a:cs typeface="Calibri"/>
              </a:rPr>
              <a:t> </a:t>
            </a:r>
            <a:r>
              <a:rPr dirty="0" sz="300" spc="-10">
                <a:latin typeface="Calibri"/>
                <a:cs typeface="Calibri"/>
              </a:rPr>
              <a:t>Vieira</a:t>
            </a:r>
            <a:r>
              <a:rPr dirty="0" sz="300" spc="40">
                <a:latin typeface="Calibri"/>
                <a:cs typeface="Calibri"/>
              </a:rPr>
              <a:t> </a:t>
            </a:r>
            <a:r>
              <a:rPr dirty="0" sz="300" spc="-10">
                <a:latin typeface="Calibri"/>
                <a:cs typeface="Calibri"/>
              </a:rPr>
              <a:t>(2019)</a:t>
            </a:r>
            <a:endParaRPr sz="3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116323" y="4732020"/>
            <a:ext cx="2917190" cy="1483360"/>
            <a:chOff x="4116323" y="4732020"/>
            <a:chExt cx="2917190" cy="1483360"/>
          </a:xfrm>
        </p:grpSpPr>
        <p:sp>
          <p:nvSpPr>
            <p:cNvPr id="20" name="object 20"/>
            <p:cNvSpPr/>
            <p:nvPr/>
          </p:nvSpPr>
          <p:spPr>
            <a:xfrm>
              <a:off x="4116323" y="5971032"/>
              <a:ext cx="2752725" cy="0"/>
            </a:xfrm>
            <a:custGeom>
              <a:avLst/>
              <a:gdLst/>
              <a:ahLst/>
              <a:cxnLst/>
              <a:rect l="l" t="t" r="r" b="b"/>
              <a:pathLst>
                <a:path w="2752725" h="0">
                  <a:moveTo>
                    <a:pt x="0" y="0"/>
                  </a:moveTo>
                  <a:lnTo>
                    <a:pt x="2752343" y="0"/>
                  </a:lnTo>
                </a:path>
              </a:pathLst>
            </a:custGeom>
            <a:ln w="4572">
              <a:solidFill>
                <a:srgbClr val="07347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106667" y="5145024"/>
              <a:ext cx="926592" cy="1069847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111239" y="4732020"/>
              <a:ext cx="757427" cy="464819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145280" y="5196839"/>
              <a:ext cx="833627" cy="682751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019607" y="5360141"/>
              <a:ext cx="1047974" cy="458257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3938015" y="4477511"/>
            <a:ext cx="3088005" cy="1729739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wrap="square" lIns="0" tIns="1778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40"/>
              </a:spcBef>
            </a:pPr>
            <a:endParaRPr sz="1000">
              <a:latin typeface="Times New Roman"/>
              <a:cs typeface="Times New Roman"/>
            </a:endParaRPr>
          </a:p>
          <a:p>
            <a:pPr marL="233045">
              <a:lnSpc>
                <a:spcPct val="100000"/>
              </a:lnSpc>
            </a:pPr>
            <a:r>
              <a:rPr dirty="0" sz="1000" b="1">
                <a:solidFill>
                  <a:srgbClr val="073472"/>
                </a:solidFill>
                <a:latin typeface="Calibri"/>
                <a:cs typeface="Calibri"/>
              </a:rPr>
              <a:t>Conversor</a:t>
            </a:r>
            <a:r>
              <a:rPr dirty="0" sz="1000" spc="15" b="1">
                <a:solidFill>
                  <a:srgbClr val="073472"/>
                </a:solidFill>
                <a:latin typeface="Calibri"/>
                <a:cs typeface="Calibri"/>
              </a:rPr>
              <a:t> </a:t>
            </a:r>
            <a:r>
              <a:rPr dirty="0" sz="1000" spc="-25" b="1">
                <a:solidFill>
                  <a:srgbClr val="073472"/>
                </a:solidFill>
                <a:latin typeface="Calibri"/>
                <a:cs typeface="Calibri"/>
              </a:rPr>
              <a:t>A/D</a:t>
            </a:r>
            <a:endParaRPr sz="1000">
              <a:latin typeface="Calibri"/>
              <a:cs typeface="Calibri"/>
            </a:endParaRPr>
          </a:p>
          <a:p>
            <a:pPr marL="233045">
              <a:lnSpc>
                <a:spcPct val="100000"/>
              </a:lnSpc>
              <a:spcBef>
                <a:spcPts val="575"/>
              </a:spcBef>
            </a:pPr>
            <a:r>
              <a:rPr dirty="0" sz="700">
                <a:solidFill>
                  <a:srgbClr val="262626"/>
                </a:solidFill>
                <a:latin typeface="Calibri"/>
                <a:cs typeface="Calibri"/>
              </a:rPr>
              <a:t>-</a:t>
            </a:r>
            <a:r>
              <a:rPr dirty="0" sz="700" spc="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262626"/>
                </a:solidFill>
                <a:latin typeface="Calibri"/>
                <a:cs typeface="Calibri"/>
              </a:rPr>
              <a:t>ADS1115</a:t>
            </a:r>
            <a:endParaRPr sz="700">
              <a:latin typeface="Calibri"/>
              <a:cs typeface="Calibri"/>
            </a:endParaRPr>
          </a:p>
          <a:p>
            <a:pPr marL="233045">
              <a:lnSpc>
                <a:spcPct val="100000"/>
              </a:lnSpc>
              <a:spcBef>
                <a:spcPts val="290"/>
              </a:spcBef>
            </a:pPr>
            <a:r>
              <a:rPr dirty="0" sz="700">
                <a:solidFill>
                  <a:srgbClr val="262626"/>
                </a:solidFill>
                <a:latin typeface="Calibri"/>
                <a:cs typeface="Calibri"/>
              </a:rPr>
              <a:t>-</a:t>
            </a:r>
            <a:r>
              <a:rPr dirty="0" sz="700" spc="-1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262626"/>
                </a:solidFill>
                <a:latin typeface="Calibri"/>
                <a:cs typeface="Calibri"/>
              </a:rPr>
              <a:t>Arduino</a:t>
            </a:r>
            <a:r>
              <a:rPr dirty="0" sz="700" spc="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262626"/>
                </a:solidFill>
                <a:latin typeface="Calibri"/>
                <a:cs typeface="Calibri"/>
              </a:rPr>
              <a:t>(boa</a:t>
            </a:r>
            <a:r>
              <a:rPr dirty="0" sz="700" spc="-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262626"/>
                </a:solidFill>
                <a:latin typeface="Calibri"/>
                <a:cs typeface="Calibri"/>
              </a:rPr>
              <a:t>resposta</a:t>
            </a:r>
            <a:r>
              <a:rPr dirty="0" sz="700" spc="3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262626"/>
                </a:solidFill>
                <a:latin typeface="Calibri"/>
                <a:cs typeface="Calibri"/>
              </a:rPr>
              <a:t>com</a:t>
            </a:r>
            <a:r>
              <a:rPr dirty="0" sz="700" spc="-10">
                <a:solidFill>
                  <a:srgbClr val="262626"/>
                </a:solidFill>
                <a:latin typeface="Calibri"/>
                <a:cs typeface="Calibri"/>
              </a:rPr>
              <a:t> sensores)</a:t>
            </a:r>
            <a:endParaRPr sz="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700">
              <a:latin typeface="Calibri"/>
              <a:cs typeface="Calibri"/>
            </a:endParaRPr>
          </a:p>
          <a:p>
            <a:pPr algn="r" marR="284480">
              <a:lnSpc>
                <a:spcPct val="100000"/>
              </a:lnSpc>
              <a:spcBef>
                <a:spcPts val="5"/>
              </a:spcBef>
            </a:pPr>
            <a:r>
              <a:rPr dirty="0" sz="300" spc="-10">
                <a:latin typeface="Calibri"/>
                <a:cs typeface="Calibri"/>
              </a:rPr>
              <a:t>Fonte:</a:t>
            </a:r>
            <a:r>
              <a:rPr dirty="0" sz="300" spc="45">
                <a:latin typeface="Calibri"/>
                <a:cs typeface="Calibri"/>
              </a:rPr>
              <a:t> </a:t>
            </a:r>
            <a:r>
              <a:rPr dirty="0" sz="300" spc="-10">
                <a:latin typeface="Calibri"/>
                <a:cs typeface="Calibri"/>
              </a:rPr>
              <a:t>encurtador.com.br/tyIu4.</a:t>
            </a:r>
            <a:endParaRPr sz="3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3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3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3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3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3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3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3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3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3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3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3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300">
              <a:latin typeface="Calibri"/>
              <a:cs typeface="Calibri"/>
            </a:endParaRPr>
          </a:p>
          <a:p>
            <a:pPr marL="650240">
              <a:lnSpc>
                <a:spcPct val="100000"/>
              </a:lnSpc>
            </a:pPr>
            <a:r>
              <a:rPr dirty="0" sz="300" spc="-10">
                <a:latin typeface="Calibri"/>
                <a:cs typeface="Calibri"/>
              </a:rPr>
              <a:t>Fonte:</a:t>
            </a:r>
            <a:r>
              <a:rPr dirty="0" sz="300" spc="45">
                <a:latin typeface="Calibri"/>
                <a:cs typeface="Calibri"/>
              </a:rPr>
              <a:t> </a:t>
            </a:r>
            <a:r>
              <a:rPr dirty="0" sz="300" spc="-10">
                <a:latin typeface="Calibri"/>
                <a:cs typeface="Calibri"/>
              </a:rPr>
              <a:t>encurtador.com.br/aqVf8.</a:t>
            </a:r>
            <a:endParaRPr sz="300">
              <a:latin typeface="Calibri"/>
              <a:cs typeface="Calibri"/>
            </a:endParaRPr>
          </a:p>
        </p:txBody>
      </p:sp>
      <p:pic>
        <p:nvPicPr>
          <p:cNvPr id="26" name="object 26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703575" y="8244840"/>
            <a:ext cx="925067" cy="1068324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766572" y="7749540"/>
            <a:ext cx="1831847" cy="1292351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534923" y="7577328"/>
            <a:ext cx="3086100" cy="1728470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90"/>
              </a:spcBef>
            </a:pPr>
            <a:endParaRPr sz="700">
              <a:latin typeface="Times New Roman"/>
              <a:cs typeface="Times New Roman"/>
            </a:endParaRPr>
          </a:p>
          <a:p>
            <a:pPr algn="r" marR="313690">
              <a:lnSpc>
                <a:spcPct val="100000"/>
              </a:lnSpc>
              <a:spcBef>
                <a:spcPts val="5"/>
              </a:spcBef>
            </a:pPr>
            <a:r>
              <a:rPr dirty="0" sz="700">
                <a:solidFill>
                  <a:srgbClr val="262626"/>
                </a:solidFill>
                <a:latin typeface="Calibri"/>
                <a:cs typeface="Calibri"/>
              </a:rPr>
              <a:t>Interface</a:t>
            </a:r>
            <a:r>
              <a:rPr dirty="0" sz="700" spc="-3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262626"/>
                </a:solidFill>
                <a:latin typeface="Calibri"/>
                <a:cs typeface="Calibri"/>
              </a:rPr>
              <a:t>gráfica.</a:t>
            </a:r>
            <a:endParaRPr sz="7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7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7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7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7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7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7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7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7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700">
              <a:latin typeface="Calibri"/>
              <a:cs typeface="Calibri"/>
            </a:endParaRPr>
          </a:p>
          <a:p>
            <a:pPr marL="177800">
              <a:lnSpc>
                <a:spcPct val="100000"/>
              </a:lnSpc>
              <a:tabLst>
                <a:tab pos="789305" algn="l"/>
                <a:tab pos="2930525" algn="l"/>
              </a:tabLst>
            </a:pPr>
            <a:r>
              <a:rPr dirty="0" u="sng" sz="300">
                <a:uFill>
                  <a:solidFill>
                    <a:srgbClr val="073472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300" spc="-10">
                <a:uFill>
                  <a:solidFill>
                    <a:srgbClr val="073472"/>
                  </a:solidFill>
                </a:uFill>
                <a:latin typeface="Calibri"/>
                <a:cs typeface="Calibri"/>
              </a:rPr>
              <a:t>Fonte:</a:t>
            </a:r>
            <a:r>
              <a:rPr dirty="0" u="sng" sz="300" spc="55">
                <a:uFill>
                  <a:solidFill>
                    <a:srgbClr val="073472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300" spc="-10">
                <a:uFill>
                  <a:solidFill>
                    <a:srgbClr val="073472"/>
                  </a:solidFill>
                </a:uFill>
                <a:latin typeface="Calibri"/>
                <a:cs typeface="Calibri"/>
              </a:rPr>
              <a:t>Elaborado</a:t>
            </a:r>
            <a:r>
              <a:rPr dirty="0" u="sng" sz="300" spc="50">
                <a:uFill>
                  <a:solidFill>
                    <a:srgbClr val="073472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300" spc="-10">
                <a:uFill>
                  <a:solidFill>
                    <a:srgbClr val="073472"/>
                  </a:solidFill>
                </a:uFill>
                <a:latin typeface="Calibri"/>
                <a:cs typeface="Calibri"/>
              </a:rPr>
              <a:t>pelo</a:t>
            </a:r>
            <a:r>
              <a:rPr dirty="0" u="sng" sz="300" spc="30">
                <a:uFill>
                  <a:solidFill>
                    <a:srgbClr val="073472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300" spc="-10">
                <a:uFill>
                  <a:solidFill>
                    <a:srgbClr val="073472"/>
                  </a:solidFill>
                </a:uFill>
                <a:latin typeface="Calibri"/>
                <a:cs typeface="Calibri"/>
              </a:rPr>
              <a:t>Autor.</a:t>
            </a:r>
            <a:r>
              <a:rPr dirty="0" u="sng" sz="300">
                <a:uFill>
                  <a:solidFill>
                    <a:srgbClr val="073472"/>
                  </a:solidFill>
                </a:uFill>
                <a:latin typeface="Calibri"/>
                <a:cs typeface="Calibri"/>
              </a:rPr>
              <a:t>	</a:t>
            </a:r>
            <a:endParaRPr sz="30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116323" y="7950707"/>
            <a:ext cx="2917190" cy="1362710"/>
            <a:chOff x="4116323" y="7950707"/>
            <a:chExt cx="2917190" cy="1362710"/>
          </a:xfrm>
        </p:grpSpPr>
        <p:sp>
          <p:nvSpPr>
            <p:cNvPr id="30" name="object 30"/>
            <p:cNvSpPr/>
            <p:nvPr/>
          </p:nvSpPr>
          <p:spPr>
            <a:xfrm>
              <a:off x="4116323" y="9070848"/>
              <a:ext cx="2752725" cy="0"/>
            </a:xfrm>
            <a:custGeom>
              <a:avLst/>
              <a:gdLst/>
              <a:ahLst/>
              <a:cxnLst/>
              <a:rect l="l" t="t" r="r" b="b"/>
              <a:pathLst>
                <a:path w="2752725" h="0">
                  <a:moveTo>
                    <a:pt x="0" y="0"/>
                  </a:moveTo>
                  <a:lnTo>
                    <a:pt x="2752343" y="0"/>
                  </a:lnTo>
                </a:path>
              </a:pathLst>
            </a:custGeom>
            <a:ln w="4572">
              <a:solidFill>
                <a:srgbClr val="07347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106667" y="8244839"/>
              <a:ext cx="926592" cy="1068324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386864" y="7950707"/>
              <a:ext cx="1491504" cy="1040317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3938015" y="7577328"/>
            <a:ext cx="3088005" cy="1728470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endParaRPr sz="1000">
              <a:latin typeface="Times New Roman"/>
              <a:cs typeface="Times New Roman"/>
            </a:endParaRPr>
          </a:p>
          <a:p>
            <a:pPr marL="233045">
              <a:lnSpc>
                <a:spcPct val="100000"/>
              </a:lnSpc>
            </a:pPr>
            <a:r>
              <a:rPr dirty="0" sz="1000" b="1">
                <a:solidFill>
                  <a:srgbClr val="073472"/>
                </a:solidFill>
                <a:latin typeface="Calibri"/>
                <a:cs typeface="Calibri"/>
              </a:rPr>
              <a:t>Construção</a:t>
            </a:r>
            <a:r>
              <a:rPr dirty="0" sz="1000" spc="40" b="1">
                <a:solidFill>
                  <a:srgbClr val="073472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073472"/>
                </a:solidFill>
                <a:latin typeface="Calibri"/>
                <a:cs typeface="Calibri"/>
              </a:rPr>
              <a:t>de</a:t>
            </a:r>
            <a:r>
              <a:rPr dirty="0" sz="1000" spc="20" b="1">
                <a:solidFill>
                  <a:srgbClr val="073472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073472"/>
                </a:solidFill>
                <a:latin typeface="Calibri"/>
                <a:cs typeface="Calibri"/>
              </a:rPr>
              <a:t>objeto/instrumento</a:t>
            </a:r>
            <a:r>
              <a:rPr dirty="0" sz="1000" spc="60" b="1">
                <a:solidFill>
                  <a:srgbClr val="073472"/>
                </a:solidFill>
                <a:latin typeface="Calibri"/>
                <a:cs typeface="Calibri"/>
              </a:rPr>
              <a:t> </a:t>
            </a:r>
            <a:r>
              <a:rPr dirty="0" sz="1000" spc="-10" b="1">
                <a:solidFill>
                  <a:srgbClr val="073472"/>
                </a:solidFill>
                <a:latin typeface="Calibri"/>
                <a:cs typeface="Calibri"/>
              </a:rPr>
              <a:t>inteligente</a:t>
            </a: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sz="1000">
              <a:latin typeface="Calibri"/>
              <a:cs typeface="Calibri"/>
            </a:endParaRPr>
          </a:p>
          <a:p>
            <a:pPr algn="ctr" marR="498475">
              <a:lnSpc>
                <a:spcPct val="100000"/>
              </a:lnSpc>
              <a:spcBef>
                <a:spcPts val="5"/>
              </a:spcBef>
            </a:pPr>
            <a:r>
              <a:rPr dirty="0" sz="300" spc="-10">
                <a:latin typeface="Calibri"/>
                <a:cs typeface="Calibri"/>
              </a:rPr>
              <a:t>Fonte:</a:t>
            </a:r>
            <a:r>
              <a:rPr dirty="0" sz="300" spc="60">
                <a:latin typeface="Calibri"/>
                <a:cs typeface="Calibri"/>
              </a:rPr>
              <a:t> </a:t>
            </a:r>
            <a:r>
              <a:rPr dirty="0" sz="300" spc="-10">
                <a:latin typeface="Calibri"/>
                <a:cs typeface="Calibri"/>
              </a:rPr>
              <a:t>Curvello;</a:t>
            </a:r>
            <a:r>
              <a:rPr dirty="0" sz="300" spc="40">
                <a:latin typeface="Calibri"/>
                <a:cs typeface="Calibri"/>
              </a:rPr>
              <a:t> </a:t>
            </a:r>
            <a:r>
              <a:rPr dirty="0" sz="300" spc="-10">
                <a:latin typeface="Calibri"/>
                <a:cs typeface="Calibri"/>
              </a:rPr>
              <a:t>Vieira</a:t>
            </a:r>
            <a:r>
              <a:rPr dirty="0" sz="300" spc="40">
                <a:latin typeface="Calibri"/>
                <a:cs typeface="Calibri"/>
              </a:rPr>
              <a:t> </a:t>
            </a:r>
            <a:r>
              <a:rPr dirty="0" sz="300" spc="-10">
                <a:latin typeface="Calibri"/>
                <a:cs typeface="Calibri"/>
              </a:rPr>
              <a:t>(2019)</a:t>
            </a:r>
            <a:endParaRPr sz="3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16162" y="9378120"/>
            <a:ext cx="168275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 sz="1100" spc="-25">
                <a:solidFill>
                  <a:srgbClr val="262626"/>
                </a:solidFill>
                <a:latin typeface="Calibri"/>
                <a:cs typeface="Calibri"/>
              </a:rPr>
              <a:t>17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920421" y="9378120"/>
            <a:ext cx="168275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 sz="1100" spc="-25">
                <a:solidFill>
                  <a:srgbClr val="262626"/>
                </a:solidFill>
                <a:latin typeface="Calibri"/>
                <a:cs typeface="Calibri"/>
              </a:rPr>
              <a:t>18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16162" y="3145004"/>
            <a:ext cx="168275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25">
                <a:solidFill>
                  <a:srgbClr val="262626"/>
                </a:solidFill>
                <a:latin typeface="Calibri"/>
                <a:cs typeface="Calibri"/>
              </a:rPr>
              <a:t>13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920421" y="3145004"/>
            <a:ext cx="168275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25">
                <a:solidFill>
                  <a:srgbClr val="262626"/>
                </a:solidFill>
                <a:latin typeface="Calibri"/>
                <a:cs typeface="Calibri"/>
              </a:rPr>
              <a:t>14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16162" y="6244806"/>
            <a:ext cx="168275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25">
                <a:solidFill>
                  <a:srgbClr val="262626"/>
                </a:solidFill>
                <a:latin typeface="Calibri"/>
                <a:cs typeface="Calibri"/>
              </a:rPr>
              <a:t>15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920421" y="6244806"/>
            <a:ext cx="168275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25">
                <a:solidFill>
                  <a:srgbClr val="262626"/>
                </a:solidFill>
                <a:latin typeface="Calibri"/>
                <a:cs typeface="Calibri"/>
              </a:rPr>
              <a:t>16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28827" y="1373124"/>
            <a:ext cx="3100070" cy="1743710"/>
            <a:chOff x="528827" y="1373124"/>
            <a:chExt cx="3100070" cy="17437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8827" y="1373124"/>
              <a:ext cx="3099815" cy="174345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13231" y="2855975"/>
              <a:ext cx="2752725" cy="0"/>
            </a:xfrm>
            <a:custGeom>
              <a:avLst/>
              <a:gdLst/>
              <a:ahLst/>
              <a:cxnLst/>
              <a:rect l="l" t="t" r="r" b="b"/>
              <a:pathLst>
                <a:path w="2752725" h="0">
                  <a:moveTo>
                    <a:pt x="0" y="0"/>
                  </a:moveTo>
                  <a:lnTo>
                    <a:pt x="2752343" y="0"/>
                  </a:lnTo>
                </a:path>
              </a:pathLst>
            </a:custGeom>
            <a:ln w="4572">
              <a:solidFill>
                <a:srgbClr val="07347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94788" y="1373124"/>
              <a:ext cx="1133855" cy="118871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13231" y="2855975"/>
              <a:ext cx="2752725" cy="0"/>
            </a:xfrm>
            <a:custGeom>
              <a:avLst/>
              <a:gdLst/>
              <a:ahLst/>
              <a:cxnLst/>
              <a:rect l="l" t="t" r="r" b="b"/>
              <a:pathLst>
                <a:path w="2752725" h="0">
                  <a:moveTo>
                    <a:pt x="0" y="0"/>
                  </a:moveTo>
                  <a:lnTo>
                    <a:pt x="2752343" y="0"/>
                  </a:lnTo>
                </a:path>
              </a:pathLst>
            </a:custGeom>
            <a:ln w="457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575" y="2046732"/>
              <a:ext cx="925067" cy="1069847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534923" y="1379219"/>
            <a:ext cx="3086100" cy="1729739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wrap="square" lIns="0" tIns="4318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40"/>
              </a:spcBef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  <a:tabLst>
                <a:tab pos="278765" algn="l"/>
                <a:tab pos="935355" algn="l"/>
              </a:tabLst>
            </a:pPr>
            <a:r>
              <a:rPr dirty="0" u="sng" sz="900">
                <a:solidFill>
                  <a:srgbClr val="073472"/>
                </a:solidFill>
                <a:uFill>
                  <a:solidFill>
                    <a:srgbClr val="073472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900" spc="-10">
                <a:solidFill>
                  <a:srgbClr val="073472"/>
                </a:solidFill>
                <a:uFill>
                  <a:solidFill>
                    <a:srgbClr val="073472"/>
                  </a:solidFill>
                </a:uFill>
                <a:latin typeface="Calibri"/>
                <a:cs typeface="Calibri"/>
              </a:rPr>
              <a:t>Conceitos</a:t>
            </a:r>
            <a:r>
              <a:rPr dirty="0" u="sng" sz="900">
                <a:solidFill>
                  <a:srgbClr val="073472"/>
                </a:solidFill>
                <a:uFill>
                  <a:solidFill>
                    <a:srgbClr val="073472"/>
                  </a:solidFill>
                </a:uFill>
                <a:latin typeface="Calibri"/>
                <a:cs typeface="Calibri"/>
              </a:rPr>
              <a:t>	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900">
              <a:latin typeface="Calibri"/>
              <a:cs typeface="Calibri"/>
            </a:endParaRPr>
          </a:p>
          <a:p>
            <a:pPr marL="307340" marR="1435100">
              <a:lnSpc>
                <a:spcPts val="1680"/>
              </a:lnSpc>
            </a:pPr>
            <a:r>
              <a:rPr dirty="0" sz="1550" b="1">
                <a:solidFill>
                  <a:srgbClr val="262626"/>
                </a:solidFill>
                <a:latin typeface="Calibri"/>
                <a:cs typeface="Calibri"/>
              </a:rPr>
              <a:t>Computação</a:t>
            </a:r>
            <a:r>
              <a:rPr dirty="0" sz="1550" spc="-80" b="1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1550" spc="-25" b="1">
                <a:solidFill>
                  <a:srgbClr val="262626"/>
                </a:solidFill>
                <a:latin typeface="Calibri"/>
                <a:cs typeface="Calibri"/>
              </a:rPr>
              <a:t>em </a:t>
            </a:r>
            <a:r>
              <a:rPr dirty="0" sz="1550" b="1">
                <a:solidFill>
                  <a:srgbClr val="262626"/>
                </a:solidFill>
                <a:latin typeface="Calibri"/>
                <a:cs typeface="Calibri"/>
              </a:rPr>
              <a:t>nuvem</a:t>
            </a:r>
            <a:r>
              <a:rPr dirty="0" sz="1550" spc="-10" b="1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1550" b="1">
                <a:solidFill>
                  <a:srgbClr val="262626"/>
                </a:solidFill>
                <a:latin typeface="Calibri"/>
                <a:cs typeface="Calibri"/>
              </a:rPr>
              <a:t>e</a:t>
            </a:r>
            <a:r>
              <a:rPr dirty="0" sz="1550" spc="-5" b="1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1550" b="1">
                <a:solidFill>
                  <a:srgbClr val="262626"/>
                </a:solidFill>
                <a:latin typeface="Calibri"/>
                <a:cs typeface="Calibri"/>
              </a:rPr>
              <a:t>a</a:t>
            </a:r>
            <a:r>
              <a:rPr dirty="0" sz="1550" spc="-20" b="1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1550" spc="-25" b="1">
                <a:solidFill>
                  <a:srgbClr val="262626"/>
                </a:solidFill>
                <a:latin typeface="Calibri"/>
                <a:cs typeface="Calibri"/>
              </a:rPr>
              <a:t>IoT</a:t>
            </a:r>
            <a:endParaRPr sz="155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116323" y="1787220"/>
            <a:ext cx="2917190" cy="1329690"/>
            <a:chOff x="4116323" y="1787220"/>
            <a:chExt cx="2917190" cy="1329690"/>
          </a:xfrm>
        </p:grpSpPr>
        <p:sp>
          <p:nvSpPr>
            <p:cNvPr id="10" name="object 10"/>
            <p:cNvSpPr/>
            <p:nvPr/>
          </p:nvSpPr>
          <p:spPr>
            <a:xfrm>
              <a:off x="4116323" y="2872740"/>
              <a:ext cx="2752725" cy="0"/>
            </a:xfrm>
            <a:custGeom>
              <a:avLst/>
              <a:gdLst/>
              <a:ahLst/>
              <a:cxnLst/>
              <a:rect l="l" t="t" r="r" b="b"/>
              <a:pathLst>
                <a:path w="2752725" h="0">
                  <a:moveTo>
                    <a:pt x="0" y="0"/>
                  </a:moveTo>
                  <a:lnTo>
                    <a:pt x="2752343" y="0"/>
                  </a:lnTo>
                </a:path>
              </a:pathLst>
            </a:custGeom>
            <a:ln w="4572">
              <a:solidFill>
                <a:srgbClr val="07347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06667" y="2046732"/>
              <a:ext cx="926592" cy="106984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50435" y="1787220"/>
              <a:ext cx="1704813" cy="1007795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3938015" y="1379219"/>
            <a:ext cx="3088005" cy="1729739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wrap="square" lIns="0" tIns="1778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40"/>
              </a:spcBef>
            </a:pPr>
            <a:endParaRPr sz="1000">
              <a:latin typeface="Times New Roman"/>
              <a:cs typeface="Times New Roman"/>
            </a:endParaRPr>
          </a:p>
          <a:p>
            <a:pPr marL="233045">
              <a:lnSpc>
                <a:spcPct val="100000"/>
              </a:lnSpc>
            </a:pPr>
            <a:r>
              <a:rPr dirty="0" sz="1000" b="1">
                <a:solidFill>
                  <a:srgbClr val="073472"/>
                </a:solidFill>
                <a:latin typeface="Calibri"/>
                <a:cs typeface="Calibri"/>
              </a:rPr>
              <a:t>Conceitos</a:t>
            </a:r>
            <a:r>
              <a:rPr dirty="0" sz="1000" spc="20" b="1">
                <a:solidFill>
                  <a:srgbClr val="073472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073472"/>
                </a:solidFill>
                <a:latin typeface="Calibri"/>
                <a:cs typeface="Calibri"/>
              </a:rPr>
              <a:t>de</a:t>
            </a:r>
            <a:r>
              <a:rPr dirty="0" sz="1000" spc="45" b="1">
                <a:solidFill>
                  <a:srgbClr val="073472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073472"/>
                </a:solidFill>
                <a:latin typeface="Calibri"/>
                <a:cs typeface="Calibri"/>
              </a:rPr>
              <a:t>computação</a:t>
            </a:r>
            <a:r>
              <a:rPr dirty="0" sz="1000" spc="5" b="1">
                <a:solidFill>
                  <a:srgbClr val="073472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073472"/>
                </a:solidFill>
                <a:latin typeface="Calibri"/>
                <a:cs typeface="Calibri"/>
              </a:rPr>
              <a:t>em</a:t>
            </a:r>
            <a:r>
              <a:rPr dirty="0" sz="1000" spc="30" b="1">
                <a:solidFill>
                  <a:srgbClr val="073472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073472"/>
                </a:solidFill>
                <a:latin typeface="Calibri"/>
                <a:cs typeface="Calibri"/>
              </a:rPr>
              <a:t>nuvem</a:t>
            </a:r>
            <a:r>
              <a:rPr dirty="0" sz="1000" spc="30" b="1">
                <a:solidFill>
                  <a:srgbClr val="073472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073472"/>
                </a:solidFill>
                <a:latin typeface="Calibri"/>
                <a:cs typeface="Calibri"/>
              </a:rPr>
              <a:t>e</a:t>
            </a:r>
            <a:r>
              <a:rPr dirty="0" sz="1000" spc="45" b="1">
                <a:solidFill>
                  <a:srgbClr val="073472"/>
                </a:solidFill>
                <a:latin typeface="Calibri"/>
                <a:cs typeface="Calibri"/>
              </a:rPr>
              <a:t> </a:t>
            </a:r>
            <a:r>
              <a:rPr dirty="0" sz="1000" spc="-25" b="1">
                <a:solidFill>
                  <a:srgbClr val="073472"/>
                </a:solidFill>
                <a:latin typeface="Calibri"/>
                <a:cs typeface="Calibri"/>
              </a:rPr>
              <a:t>IoT</a:t>
            </a: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5"/>
              </a:spcBef>
            </a:pPr>
            <a:endParaRPr sz="1000">
              <a:latin typeface="Calibri"/>
              <a:cs typeface="Calibri"/>
            </a:endParaRPr>
          </a:p>
          <a:p>
            <a:pPr algn="ctr" marR="498475">
              <a:lnSpc>
                <a:spcPct val="100000"/>
              </a:lnSpc>
            </a:pPr>
            <a:r>
              <a:rPr dirty="0" sz="300" spc="-10">
                <a:latin typeface="Calibri"/>
                <a:cs typeface="Calibri"/>
              </a:rPr>
              <a:t>Fonte:</a:t>
            </a:r>
            <a:r>
              <a:rPr dirty="0" sz="300" spc="60">
                <a:latin typeface="Calibri"/>
                <a:cs typeface="Calibri"/>
              </a:rPr>
              <a:t> </a:t>
            </a:r>
            <a:r>
              <a:rPr dirty="0" sz="300" spc="-10">
                <a:latin typeface="Calibri"/>
                <a:cs typeface="Calibri"/>
              </a:rPr>
              <a:t>Curvello;</a:t>
            </a:r>
            <a:r>
              <a:rPr dirty="0" sz="300" spc="40">
                <a:latin typeface="Calibri"/>
                <a:cs typeface="Calibri"/>
              </a:rPr>
              <a:t> </a:t>
            </a:r>
            <a:r>
              <a:rPr dirty="0" sz="300" spc="-10">
                <a:latin typeface="Calibri"/>
                <a:cs typeface="Calibri"/>
              </a:rPr>
              <a:t>Vieira</a:t>
            </a:r>
            <a:r>
              <a:rPr dirty="0" sz="300" spc="40">
                <a:latin typeface="Calibri"/>
                <a:cs typeface="Calibri"/>
              </a:rPr>
              <a:t> </a:t>
            </a:r>
            <a:r>
              <a:rPr dirty="0" sz="300" spc="-10">
                <a:latin typeface="Calibri"/>
                <a:cs typeface="Calibri"/>
              </a:rPr>
              <a:t>(2019)</a:t>
            </a:r>
            <a:endParaRPr sz="3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13231" y="4867882"/>
            <a:ext cx="2915920" cy="1347470"/>
            <a:chOff x="713231" y="4867882"/>
            <a:chExt cx="2915920" cy="1347470"/>
          </a:xfrm>
        </p:grpSpPr>
        <p:sp>
          <p:nvSpPr>
            <p:cNvPr id="15" name="object 15"/>
            <p:cNvSpPr/>
            <p:nvPr/>
          </p:nvSpPr>
          <p:spPr>
            <a:xfrm>
              <a:off x="713231" y="5971031"/>
              <a:ext cx="2752725" cy="0"/>
            </a:xfrm>
            <a:custGeom>
              <a:avLst/>
              <a:gdLst/>
              <a:ahLst/>
              <a:cxnLst/>
              <a:rect l="l" t="t" r="r" b="b"/>
              <a:pathLst>
                <a:path w="2752725" h="0">
                  <a:moveTo>
                    <a:pt x="0" y="0"/>
                  </a:moveTo>
                  <a:lnTo>
                    <a:pt x="2752343" y="0"/>
                  </a:lnTo>
                </a:path>
              </a:pathLst>
            </a:custGeom>
            <a:ln w="4572">
              <a:solidFill>
                <a:srgbClr val="07347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03575" y="5145023"/>
              <a:ext cx="925067" cy="106984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54264" y="4867882"/>
              <a:ext cx="1462398" cy="1019427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534923" y="4477511"/>
            <a:ext cx="3086100" cy="1729739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wrap="square" lIns="0" tIns="1778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40"/>
              </a:spcBef>
            </a:pPr>
            <a:endParaRPr sz="1000">
              <a:latin typeface="Times New Roman"/>
              <a:cs typeface="Times New Roman"/>
            </a:endParaRPr>
          </a:p>
          <a:p>
            <a:pPr marL="229870">
              <a:lnSpc>
                <a:spcPct val="100000"/>
              </a:lnSpc>
            </a:pPr>
            <a:r>
              <a:rPr dirty="0" sz="1000" b="1">
                <a:solidFill>
                  <a:srgbClr val="073472"/>
                </a:solidFill>
                <a:latin typeface="Calibri"/>
                <a:cs typeface="Calibri"/>
              </a:rPr>
              <a:t>Conexão</a:t>
            </a:r>
            <a:r>
              <a:rPr dirty="0" sz="1000" spc="15" b="1">
                <a:solidFill>
                  <a:srgbClr val="073472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073472"/>
                </a:solidFill>
                <a:latin typeface="Calibri"/>
                <a:cs typeface="Calibri"/>
              </a:rPr>
              <a:t>de</a:t>
            </a:r>
            <a:r>
              <a:rPr dirty="0" sz="1000" spc="45" b="1">
                <a:solidFill>
                  <a:srgbClr val="073472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073472"/>
                </a:solidFill>
                <a:latin typeface="Calibri"/>
                <a:cs typeface="Calibri"/>
              </a:rPr>
              <a:t>computação</a:t>
            </a:r>
            <a:r>
              <a:rPr dirty="0" sz="1000" spc="15" b="1">
                <a:solidFill>
                  <a:srgbClr val="073472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073472"/>
                </a:solidFill>
                <a:latin typeface="Calibri"/>
                <a:cs typeface="Calibri"/>
              </a:rPr>
              <a:t>em</a:t>
            </a:r>
            <a:r>
              <a:rPr dirty="0" sz="1000" spc="25" b="1">
                <a:solidFill>
                  <a:srgbClr val="073472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073472"/>
                </a:solidFill>
                <a:latin typeface="Calibri"/>
                <a:cs typeface="Calibri"/>
              </a:rPr>
              <a:t>nuvem</a:t>
            </a:r>
            <a:r>
              <a:rPr dirty="0" sz="1000" spc="20" b="1">
                <a:solidFill>
                  <a:srgbClr val="073472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073472"/>
                </a:solidFill>
                <a:latin typeface="Calibri"/>
                <a:cs typeface="Calibri"/>
              </a:rPr>
              <a:t>e</a:t>
            </a:r>
            <a:r>
              <a:rPr dirty="0" sz="1000" spc="45" b="1">
                <a:solidFill>
                  <a:srgbClr val="073472"/>
                </a:solidFill>
                <a:latin typeface="Calibri"/>
                <a:cs typeface="Calibri"/>
              </a:rPr>
              <a:t> </a:t>
            </a:r>
            <a:r>
              <a:rPr dirty="0" sz="1000" spc="-25" b="1">
                <a:solidFill>
                  <a:srgbClr val="073472"/>
                </a:solidFill>
                <a:latin typeface="Calibri"/>
                <a:cs typeface="Calibri"/>
              </a:rPr>
              <a:t>IoT</a:t>
            </a: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5"/>
              </a:spcBef>
            </a:pPr>
            <a:endParaRPr sz="1000">
              <a:latin typeface="Calibri"/>
              <a:cs typeface="Calibri"/>
            </a:endParaRPr>
          </a:p>
          <a:p>
            <a:pPr marL="1010285">
              <a:lnSpc>
                <a:spcPct val="100000"/>
              </a:lnSpc>
            </a:pPr>
            <a:r>
              <a:rPr dirty="0" sz="300" spc="-10">
                <a:latin typeface="Calibri"/>
                <a:cs typeface="Calibri"/>
              </a:rPr>
              <a:t>Fonte:</a:t>
            </a:r>
            <a:r>
              <a:rPr dirty="0" sz="300" spc="60">
                <a:latin typeface="Calibri"/>
                <a:cs typeface="Calibri"/>
              </a:rPr>
              <a:t> </a:t>
            </a:r>
            <a:r>
              <a:rPr dirty="0" sz="300" spc="-10">
                <a:latin typeface="Calibri"/>
                <a:cs typeface="Calibri"/>
              </a:rPr>
              <a:t>Curvello;</a:t>
            </a:r>
            <a:r>
              <a:rPr dirty="0" sz="300" spc="40">
                <a:latin typeface="Calibri"/>
                <a:cs typeface="Calibri"/>
              </a:rPr>
              <a:t> </a:t>
            </a:r>
            <a:r>
              <a:rPr dirty="0" sz="300" spc="-10">
                <a:latin typeface="Calibri"/>
                <a:cs typeface="Calibri"/>
              </a:rPr>
              <a:t>Vieira</a:t>
            </a:r>
            <a:r>
              <a:rPr dirty="0" sz="300" spc="40">
                <a:latin typeface="Calibri"/>
                <a:cs typeface="Calibri"/>
              </a:rPr>
              <a:t> </a:t>
            </a:r>
            <a:r>
              <a:rPr dirty="0" sz="300" spc="-10">
                <a:latin typeface="Calibri"/>
                <a:cs typeface="Calibri"/>
              </a:rPr>
              <a:t>(2019)</a:t>
            </a:r>
            <a:endParaRPr sz="3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113784" y="5145023"/>
            <a:ext cx="2919730" cy="1069975"/>
            <a:chOff x="4113784" y="5145023"/>
            <a:chExt cx="2919730" cy="1069975"/>
          </a:xfrm>
        </p:grpSpPr>
        <p:sp>
          <p:nvSpPr>
            <p:cNvPr id="20" name="object 20"/>
            <p:cNvSpPr/>
            <p:nvPr/>
          </p:nvSpPr>
          <p:spPr>
            <a:xfrm>
              <a:off x="4116324" y="5971032"/>
              <a:ext cx="2752725" cy="0"/>
            </a:xfrm>
            <a:custGeom>
              <a:avLst/>
              <a:gdLst/>
              <a:ahLst/>
              <a:cxnLst/>
              <a:rect l="l" t="t" r="r" b="b"/>
              <a:pathLst>
                <a:path w="2752725" h="0">
                  <a:moveTo>
                    <a:pt x="0" y="0"/>
                  </a:moveTo>
                  <a:lnTo>
                    <a:pt x="2752343" y="0"/>
                  </a:lnTo>
                </a:path>
              </a:pathLst>
            </a:custGeom>
            <a:ln w="4572">
              <a:solidFill>
                <a:srgbClr val="07347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106668" y="5145023"/>
              <a:ext cx="926592" cy="1069847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4171238" y="4626437"/>
            <a:ext cx="1063625" cy="1809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1000" b="1">
                <a:solidFill>
                  <a:srgbClr val="073472"/>
                </a:solidFill>
                <a:latin typeface="Calibri"/>
                <a:cs typeface="Calibri"/>
              </a:rPr>
              <a:t>Nuvem</a:t>
            </a:r>
            <a:r>
              <a:rPr dirty="0" sz="1000" spc="20" b="1">
                <a:solidFill>
                  <a:srgbClr val="073472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073472"/>
                </a:solidFill>
                <a:latin typeface="Calibri"/>
                <a:cs typeface="Calibri"/>
              </a:rPr>
              <a:t>de</a:t>
            </a:r>
            <a:r>
              <a:rPr dirty="0" sz="1000" spc="25" b="1">
                <a:solidFill>
                  <a:srgbClr val="073472"/>
                </a:solidFill>
                <a:latin typeface="Calibri"/>
                <a:cs typeface="Calibri"/>
              </a:rPr>
              <a:t> </a:t>
            </a:r>
            <a:r>
              <a:rPr dirty="0" sz="1000" spc="-10" b="1">
                <a:solidFill>
                  <a:srgbClr val="073472"/>
                </a:solidFill>
                <a:latin typeface="Calibri"/>
                <a:cs typeface="Calibri"/>
              </a:rPr>
              <a:t>sensores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553542" y="4701021"/>
            <a:ext cx="1421765" cy="71628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just" marR="5080">
              <a:lnSpc>
                <a:spcPct val="116300"/>
              </a:lnSpc>
              <a:spcBef>
                <a:spcPts val="90"/>
              </a:spcBef>
            </a:pP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Quando</a:t>
            </a:r>
            <a:r>
              <a:rPr dirty="0" sz="650" spc="459">
                <a:solidFill>
                  <a:srgbClr val="262626"/>
                </a:solidFill>
                <a:latin typeface="Calibri"/>
                <a:cs typeface="Calibri"/>
              </a:rPr>
              <a:t> 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vários</a:t>
            </a:r>
            <a:r>
              <a:rPr dirty="0" sz="650" spc="465">
                <a:solidFill>
                  <a:srgbClr val="262626"/>
                </a:solidFill>
                <a:latin typeface="Calibri"/>
                <a:cs typeface="Calibri"/>
              </a:rPr>
              <a:t> 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sensores</a:t>
            </a:r>
            <a:r>
              <a:rPr dirty="0" sz="650" spc="465">
                <a:solidFill>
                  <a:srgbClr val="262626"/>
                </a:solidFill>
                <a:latin typeface="Calibri"/>
                <a:cs typeface="Calibri"/>
              </a:rPr>
              <a:t>  </a:t>
            </a:r>
            <a:r>
              <a:rPr dirty="0" sz="650" spc="-20">
                <a:solidFill>
                  <a:srgbClr val="262626"/>
                </a:solidFill>
                <a:latin typeface="Calibri"/>
                <a:cs typeface="Calibri"/>
              </a:rPr>
              <a:t>estão</a:t>
            </a:r>
            <a:r>
              <a:rPr dirty="0" sz="650" spc="50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conectados</a:t>
            </a:r>
            <a:r>
              <a:rPr dirty="0" sz="650" spc="23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de</a:t>
            </a:r>
            <a:r>
              <a:rPr dirty="0" sz="650" spc="22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forma</a:t>
            </a:r>
            <a:r>
              <a:rPr dirty="0" sz="650" spc="22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a</a:t>
            </a:r>
            <a:r>
              <a:rPr dirty="0" sz="650" spc="25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construir</a:t>
            </a:r>
            <a:r>
              <a:rPr dirty="0" sz="650" spc="229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 spc="-25">
                <a:solidFill>
                  <a:srgbClr val="262626"/>
                </a:solidFill>
                <a:latin typeface="Calibri"/>
                <a:cs typeface="Calibri"/>
              </a:rPr>
              <a:t>uma</a:t>
            </a:r>
            <a:r>
              <a:rPr dirty="0" sz="650" spc="50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infraestrutura</a:t>
            </a:r>
            <a:r>
              <a:rPr dirty="0" sz="650" spc="210">
                <a:solidFill>
                  <a:srgbClr val="262626"/>
                </a:solidFill>
                <a:latin typeface="Calibri"/>
                <a:cs typeface="Calibri"/>
              </a:rPr>
              <a:t> 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abrangente</a:t>
            </a:r>
            <a:r>
              <a:rPr dirty="0" sz="650" spc="210">
                <a:solidFill>
                  <a:srgbClr val="262626"/>
                </a:solidFill>
                <a:latin typeface="Calibri"/>
                <a:cs typeface="Calibri"/>
              </a:rPr>
              <a:t> 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capaz</a:t>
            </a:r>
            <a:r>
              <a:rPr dirty="0" sz="650" spc="210">
                <a:solidFill>
                  <a:srgbClr val="262626"/>
                </a:solidFill>
                <a:latin typeface="Calibri"/>
                <a:cs typeface="Calibri"/>
              </a:rPr>
              <a:t>  </a:t>
            </a:r>
            <a:r>
              <a:rPr dirty="0" sz="650" spc="-25">
                <a:solidFill>
                  <a:srgbClr val="262626"/>
                </a:solidFill>
                <a:latin typeface="Calibri"/>
                <a:cs typeface="Calibri"/>
              </a:rPr>
              <a:t>de</a:t>
            </a:r>
            <a:r>
              <a:rPr dirty="0" sz="650" spc="50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proporcionar</a:t>
            </a:r>
            <a:r>
              <a:rPr dirty="0" sz="650" spc="10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a</a:t>
            </a:r>
            <a:r>
              <a:rPr dirty="0" sz="650" spc="9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interface</a:t>
            </a:r>
            <a:r>
              <a:rPr dirty="0" sz="650" spc="8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entre</a:t>
            </a:r>
            <a:r>
              <a:rPr dirty="0" sz="650" spc="10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o</a:t>
            </a:r>
            <a:r>
              <a:rPr dirty="0" sz="650" spc="9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 spc="-20">
                <a:solidFill>
                  <a:srgbClr val="262626"/>
                </a:solidFill>
                <a:latin typeface="Calibri"/>
                <a:cs typeface="Calibri"/>
              </a:rPr>
              <a:t>mundo</a:t>
            </a:r>
            <a:r>
              <a:rPr dirty="0" sz="650" spc="50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físico</a:t>
            </a:r>
            <a:r>
              <a:rPr dirty="0" sz="650" spc="13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e</a:t>
            </a:r>
            <a:r>
              <a:rPr dirty="0" sz="650" spc="12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o</a:t>
            </a:r>
            <a:r>
              <a:rPr dirty="0" sz="650" spc="13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virtual,</a:t>
            </a:r>
            <a:r>
              <a:rPr dirty="0" sz="650" spc="13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através</a:t>
            </a:r>
            <a:r>
              <a:rPr dirty="0" sz="650" spc="13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da</a:t>
            </a:r>
            <a:r>
              <a:rPr dirty="0" sz="650" spc="12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internet,</a:t>
            </a:r>
            <a:r>
              <a:rPr dirty="0" sz="650" spc="13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 spc="-50">
                <a:solidFill>
                  <a:srgbClr val="262626"/>
                </a:solidFill>
                <a:latin typeface="Calibri"/>
                <a:cs typeface="Calibri"/>
              </a:rPr>
              <a:t>é</a:t>
            </a:r>
            <a:r>
              <a:rPr dirty="0" sz="650" spc="50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denominado</a:t>
            </a:r>
            <a:r>
              <a:rPr dirty="0" sz="650" spc="2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uma</a:t>
            </a:r>
            <a:r>
              <a:rPr dirty="0" sz="650" spc="2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nuvem</a:t>
            </a:r>
            <a:r>
              <a:rPr dirty="0" sz="650" spc="2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de</a:t>
            </a:r>
            <a:r>
              <a:rPr dirty="0" sz="650" spc="2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 spc="-10">
                <a:solidFill>
                  <a:srgbClr val="262626"/>
                </a:solidFill>
                <a:latin typeface="Calibri"/>
                <a:cs typeface="Calibri"/>
              </a:rPr>
              <a:t>sensores.</a:t>
            </a:r>
            <a:endParaRPr sz="650">
              <a:latin typeface="Calibri"/>
              <a:cs typeface="Calibri"/>
            </a:endParaRPr>
          </a:p>
        </p:txBody>
      </p:sp>
      <p:pic>
        <p:nvPicPr>
          <p:cNvPr id="24" name="object 2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153985" y="4908803"/>
            <a:ext cx="1317424" cy="944880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4591801" y="5905108"/>
            <a:ext cx="472440" cy="71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300" spc="-10">
                <a:latin typeface="Calibri"/>
                <a:cs typeface="Calibri"/>
              </a:rPr>
              <a:t>Fonte:</a:t>
            </a:r>
            <a:r>
              <a:rPr dirty="0" sz="300" spc="60">
                <a:latin typeface="Calibri"/>
                <a:cs typeface="Calibri"/>
              </a:rPr>
              <a:t> </a:t>
            </a:r>
            <a:r>
              <a:rPr dirty="0" sz="300" spc="-10">
                <a:latin typeface="Calibri"/>
                <a:cs typeface="Calibri"/>
              </a:rPr>
              <a:t>Curvello;</a:t>
            </a:r>
            <a:r>
              <a:rPr dirty="0" sz="300" spc="40">
                <a:latin typeface="Calibri"/>
                <a:cs typeface="Calibri"/>
              </a:rPr>
              <a:t> </a:t>
            </a:r>
            <a:r>
              <a:rPr dirty="0" sz="300" spc="-10">
                <a:latin typeface="Calibri"/>
                <a:cs typeface="Calibri"/>
              </a:rPr>
              <a:t>Vieira</a:t>
            </a:r>
            <a:r>
              <a:rPr dirty="0" sz="300" spc="40">
                <a:latin typeface="Calibri"/>
                <a:cs typeface="Calibri"/>
              </a:rPr>
              <a:t> </a:t>
            </a:r>
            <a:r>
              <a:rPr dirty="0" sz="300" spc="-10">
                <a:latin typeface="Calibri"/>
                <a:cs typeface="Calibri"/>
              </a:rPr>
              <a:t>(2019)</a:t>
            </a:r>
            <a:endParaRPr sz="300">
              <a:latin typeface="Calibri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938015" y="4477511"/>
            <a:ext cx="3088005" cy="1729739"/>
          </a:xfrm>
          <a:custGeom>
            <a:avLst/>
            <a:gdLst/>
            <a:ahLst/>
            <a:cxnLst/>
            <a:rect l="l" t="t" r="r" b="b"/>
            <a:pathLst>
              <a:path w="3088004" h="1729739">
                <a:moveTo>
                  <a:pt x="3087623" y="0"/>
                </a:moveTo>
                <a:lnTo>
                  <a:pt x="0" y="0"/>
                </a:lnTo>
                <a:lnTo>
                  <a:pt x="0" y="1729740"/>
                </a:lnTo>
                <a:lnTo>
                  <a:pt x="3087623" y="1729740"/>
                </a:lnTo>
                <a:lnTo>
                  <a:pt x="3087623" y="0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7" name="object 27"/>
          <p:cNvGrpSpPr/>
          <p:nvPr/>
        </p:nvGrpSpPr>
        <p:grpSpPr>
          <a:xfrm>
            <a:off x="713231" y="7930896"/>
            <a:ext cx="2915920" cy="1382395"/>
            <a:chOff x="713231" y="7930896"/>
            <a:chExt cx="2915920" cy="1382395"/>
          </a:xfrm>
        </p:grpSpPr>
        <p:sp>
          <p:nvSpPr>
            <p:cNvPr id="28" name="object 28"/>
            <p:cNvSpPr/>
            <p:nvPr/>
          </p:nvSpPr>
          <p:spPr>
            <a:xfrm>
              <a:off x="713231" y="9070848"/>
              <a:ext cx="2752725" cy="0"/>
            </a:xfrm>
            <a:custGeom>
              <a:avLst/>
              <a:gdLst/>
              <a:ahLst/>
              <a:cxnLst/>
              <a:rect l="l" t="t" r="r" b="b"/>
              <a:pathLst>
                <a:path w="2752725" h="0">
                  <a:moveTo>
                    <a:pt x="0" y="0"/>
                  </a:moveTo>
                  <a:lnTo>
                    <a:pt x="2752343" y="0"/>
                  </a:lnTo>
                </a:path>
              </a:pathLst>
            </a:custGeom>
            <a:ln w="4572">
              <a:solidFill>
                <a:srgbClr val="07347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703575" y="8244840"/>
              <a:ext cx="925067" cy="1068324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53483" y="7930896"/>
              <a:ext cx="1280997" cy="1086705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534923" y="7577328"/>
            <a:ext cx="3086100" cy="1728470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endParaRPr sz="1000">
              <a:latin typeface="Times New Roman"/>
              <a:cs typeface="Times New Roman"/>
            </a:endParaRPr>
          </a:p>
          <a:p>
            <a:pPr marL="229870">
              <a:lnSpc>
                <a:spcPct val="100000"/>
              </a:lnSpc>
            </a:pPr>
            <a:r>
              <a:rPr dirty="0" sz="1000" b="1">
                <a:solidFill>
                  <a:srgbClr val="073472"/>
                </a:solidFill>
                <a:latin typeface="Calibri"/>
                <a:cs typeface="Calibri"/>
              </a:rPr>
              <a:t>Exemplos</a:t>
            </a:r>
            <a:r>
              <a:rPr dirty="0" sz="1000" spc="25" b="1">
                <a:solidFill>
                  <a:srgbClr val="073472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073472"/>
                </a:solidFill>
                <a:latin typeface="Calibri"/>
                <a:cs typeface="Calibri"/>
              </a:rPr>
              <a:t>de</a:t>
            </a:r>
            <a:r>
              <a:rPr dirty="0" sz="1000" spc="10" b="1">
                <a:solidFill>
                  <a:srgbClr val="073472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073472"/>
                </a:solidFill>
                <a:latin typeface="Calibri"/>
                <a:cs typeface="Calibri"/>
              </a:rPr>
              <a:t>redes</a:t>
            </a:r>
            <a:r>
              <a:rPr dirty="0" sz="1000" spc="15" b="1">
                <a:solidFill>
                  <a:srgbClr val="073472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073472"/>
                </a:solidFill>
                <a:latin typeface="Calibri"/>
                <a:cs typeface="Calibri"/>
              </a:rPr>
              <a:t>de</a:t>
            </a:r>
            <a:r>
              <a:rPr dirty="0" sz="1000" spc="25" b="1">
                <a:solidFill>
                  <a:srgbClr val="073472"/>
                </a:solidFill>
                <a:latin typeface="Calibri"/>
                <a:cs typeface="Calibri"/>
              </a:rPr>
              <a:t> </a:t>
            </a:r>
            <a:r>
              <a:rPr dirty="0" sz="1000" spc="-10" b="1">
                <a:solidFill>
                  <a:srgbClr val="073472"/>
                </a:solidFill>
                <a:latin typeface="Calibri"/>
                <a:cs typeface="Calibri"/>
              </a:rPr>
              <a:t>sensores</a:t>
            </a:r>
            <a:endParaRPr sz="1000">
              <a:latin typeface="Calibri"/>
              <a:cs typeface="Calibri"/>
            </a:endParaRPr>
          </a:p>
          <a:p>
            <a:pPr algn="just" marL="1743075" marR="47625">
              <a:lnSpc>
                <a:spcPct val="116100"/>
              </a:lnSpc>
              <a:spcBef>
                <a:spcPts val="450"/>
              </a:spcBef>
            </a:pP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A</a:t>
            </a:r>
            <a:r>
              <a:rPr dirty="0" sz="650" spc="8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telemedicina</a:t>
            </a:r>
            <a:r>
              <a:rPr dirty="0" sz="650" spc="9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consiste</a:t>
            </a:r>
            <a:r>
              <a:rPr dirty="0" sz="650" spc="9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em</a:t>
            </a:r>
            <a:r>
              <a:rPr dirty="0" sz="650" spc="7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utilizar</a:t>
            </a:r>
            <a:r>
              <a:rPr dirty="0" sz="650" spc="7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 spc="-50">
                <a:solidFill>
                  <a:srgbClr val="262626"/>
                </a:solidFill>
                <a:latin typeface="Calibri"/>
                <a:cs typeface="Calibri"/>
              </a:rPr>
              <a:t>a</a:t>
            </a:r>
            <a:r>
              <a:rPr dirty="0" sz="650" spc="50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tecnologia</a:t>
            </a:r>
            <a:r>
              <a:rPr dirty="0" sz="650" spc="6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para</a:t>
            </a:r>
            <a:r>
              <a:rPr dirty="0" sz="650" spc="8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auxiliar</a:t>
            </a:r>
            <a:r>
              <a:rPr dirty="0" sz="650" spc="6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nos</a:t>
            </a:r>
            <a:r>
              <a:rPr dirty="0" sz="650" spc="8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 spc="-10">
                <a:solidFill>
                  <a:srgbClr val="262626"/>
                </a:solidFill>
                <a:latin typeface="Calibri"/>
                <a:cs typeface="Calibri"/>
              </a:rPr>
              <a:t>cuidados</a:t>
            </a:r>
            <a:r>
              <a:rPr dirty="0" sz="650" spc="50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com</a:t>
            </a:r>
            <a:r>
              <a:rPr dirty="0" sz="650" spc="37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a</a:t>
            </a:r>
            <a:r>
              <a:rPr dirty="0" sz="650" spc="37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saúde</a:t>
            </a:r>
            <a:r>
              <a:rPr dirty="0" sz="650" spc="37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em</a:t>
            </a:r>
            <a:r>
              <a:rPr dirty="0" sz="650" spc="37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locais</a:t>
            </a:r>
            <a:r>
              <a:rPr dirty="0" sz="650" spc="38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onde</a:t>
            </a:r>
            <a:r>
              <a:rPr dirty="0" sz="650" spc="36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 spc="-50">
                <a:solidFill>
                  <a:srgbClr val="262626"/>
                </a:solidFill>
                <a:latin typeface="Calibri"/>
                <a:cs typeface="Calibri"/>
              </a:rPr>
              <a:t>a</a:t>
            </a:r>
            <a:r>
              <a:rPr dirty="0" sz="650" spc="50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distância</a:t>
            </a:r>
            <a:r>
              <a:rPr dirty="0" sz="650" spc="40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entre</a:t>
            </a:r>
            <a:r>
              <a:rPr dirty="0" sz="650" spc="42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o</a:t>
            </a:r>
            <a:r>
              <a:rPr dirty="0" sz="650" spc="40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paciente</a:t>
            </a:r>
            <a:r>
              <a:rPr dirty="0" sz="650" spc="42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e</a:t>
            </a:r>
            <a:r>
              <a:rPr dirty="0" sz="650" spc="40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 spc="-25">
                <a:solidFill>
                  <a:srgbClr val="262626"/>
                </a:solidFill>
                <a:latin typeface="Calibri"/>
                <a:cs typeface="Calibri"/>
              </a:rPr>
              <a:t>os</a:t>
            </a:r>
            <a:r>
              <a:rPr dirty="0" sz="650" spc="50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centros</a:t>
            </a:r>
            <a:r>
              <a:rPr dirty="0" sz="650" spc="2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de</a:t>
            </a:r>
            <a:r>
              <a:rPr dirty="0" sz="650" spc="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saúde é</a:t>
            </a:r>
            <a:r>
              <a:rPr dirty="0" sz="650" spc="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um</a:t>
            </a:r>
            <a:r>
              <a:rPr dirty="0" sz="650" spc="-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fator</a:t>
            </a:r>
            <a:r>
              <a:rPr dirty="0" sz="650" spc="3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 spc="-10">
                <a:solidFill>
                  <a:srgbClr val="262626"/>
                </a:solidFill>
                <a:latin typeface="Calibri"/>
                <a:cs typeface="Calibri"/>
              </a:rPr>
              <a:t>crítico.</a:t>
            </a:r>
            <a:endParaRPr sz="6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6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6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6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95"/>
              </a:spcBef>
            </a:pPr>
            <a:endParaRPr sz="650">
              <a:latin typeface="Calibri"/>
              <a:cs typeface="Calibri"/>
            </a:endParaRPr>
          </a:p>
          <a:p>
            <a:pPr marL="650240">
              <a:lnSpc>
                <a:spcPct val="100000"/>
              </a:lnSpc>
            </a:pPr>
            <a:r>
              <a:rPr dirty="0" sz="300" spc="-10">
                <a:latin typeface="Calibri"/>
                <a:cs typeface="Calibri"/>
              </a:rPr>
              <a:t>Fonte:</a:t>
            </a:r>
            <a:r>
              <a:rPr dirty="0" sz="300" spc="60">
                <a:latin typeface="Calibri"/>
                <a:cs typeface="Calibri"/>
              </a:rPr>
              <a:t> </a:t>
            </a:r>
            <a:r>
              <a:rPr dirty="0" sz="300" spc="-10">
                <a:latin typeface="Calibri"/>
                <a:cs typeface="Calibri"/>
              </a:rPr>
              <a:t>Curvello;</a:t>
            </a:r>
            <a:r>
              <a:rPr dirty="0" sz="300" spc="40">
                <a:latin typeface="Calibri"/>
                <a:cs typeface="Calibri"/>
              </a:rPr>
              <a:t> </a:t>
            </a:r>
            <a:r>
              <a:rPr dirty="0" sz="300" spc="-10">
                <a:latin typeface="Calibri"/>
                <a:cs typeface="Calibri"/>
              </a:rPr>
              <a:t>Vieira</a:t>
            </a:r>
            <a:r>
              <a:rPr dirty="0" sz="300" spc="40">
                <a:latin typeface="Calibri"/>
                <a:cs typeface="Calibri"/>
              </a:rPr>
              <a:t> </a:t>
            </a:r>
            <a:r>
              <a:rPr dirty="0" sz="300" spc="-10">
                <a:latin typeface="Calibri"/>
                <a:cs typeface="Calibri"/>
              </a:rPr>
              <a:t>(2019)</a:t>
            </a:r>
            <a:endParaRPr sz="30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4113784" y="8244840"/>
            <a:ext cx="2919730" cy="1068705"/>
            <a:chOff x="4113784" y="8244840"/>
            <a:chExt cx="2919730" cy="1068705"/>
          </a:xfrm>
        </p:grpSpPr>
        <p:sp>
          <p:nvSpPr>
            <p:cNvPr id="33" name="object 33"/>
            <p:cNvSpPr/>
            <p:nvPr/>
          </p:nvSpPr>
          <p:spPr>
            <a:xfrm>
              <a:off x="4116324" y="9070848"/>
              <a:ext cx="2752725" cy="0"/>
            </a:xfrm>
            <a:custGeom>
              <a:avLst/>
              <a:gdLst/>
              <a:ahLst/>
              <a:cxnLst/>
              <a:rect l="l" t="t" r="r" b="b"/>
              <a:pathLst>
                <a:path w="2752725" h="0">
                  <a:moveTo>
                    <a:pt x="0" y="0"/>
                  </a:moveTo>
                  <a:lnTo>
                    <a:pt x="2752343" y="0"/>
                  </a:lnTo>
                </a:path>
              </a:pathLst>
            </a:custGeom>
            <a:ln w="4572">
              <a:solidFill>
                <a:srgbClr val="07347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106668" y="8244840"/>
              <a:ext cx="926592" cy="1068324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4171238" y="7724814"/>
            <a:ext cx="1258570" cy="1809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1000" b="1">
                <a:solidFill>
                  <a:srgbClr val="073472"/>
                </a:solidFill>
                <a:latin typeface="Calibri"/>
                <a:cs typeface="Calibri"/>
              </a:rPr>
              <a:t>Plataformas</a:t>
            </a:r>
            <a:r>
              <a:rPr dirty="0" sz="1000" spc="30" b="1">
                <a:solidFill>
                  <a:srgbClr val="073472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073472"/>
                </a:solidFill>
                <a:latin typeface="Calibri"/>
                <a:cs typeface="Calibri"/>
              </a:rPr>
              <a:t>em</a:t>
            </a:r>
            <a:r>
              <a:rPr dirty="0" sz="1000" spc="20" b="1">
                <a:solidFill>
                  <a:srgbClr val="073472"/>
                </a:solidFill>
                <a:latin typeface="Calibri"/>
                <a:cs typeface="Calibri"/>
              </a:rPr>
              <a:t> </a:t>
            </a:r>
            <a:r>
              <a:rPr dirty="0" sz="1000" spc="-20" b="1">
                <a:solidFill>
                  <a:srgbClr val="073472"/>
                </a:solidFill>
                <a:latin typeface="Calibri"/>
                <a:cs typeface="Calibri"/>
              </a:rPr>
              <a:t>nuvem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719686" y="7861896"/>
            <a:ext cx="1259840" cy="254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R="5080">
              <a:lnSpc>
                <a:spcPct val="115399"/>
              </a:lnSpc>
              <a:spcBef>
                <a:spcPts val="95"/>
              </a:spcBef>
              <a:tabLst>
                <a:tab pos="439420" algn="l"/>
                <a:tab pos="700405" algn="l"/>
                <a:tab pos="1205230" algn="l"/>
              </a:tabLst>
            </a:pP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Os</a:t>
            </a:r>
            <a:r>
              <a:rPr dirty="0" sz="650" spc="17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dados</a:t>
            </a:r>
            <a:r>
              <a:rPr dirty="0" sz="650" spc="19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gerados</a:t>
            </a:r>
            <a:r>
              <a:rPr dirty="0" sz="650" spc="18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pelos</a:t>
            </a:r>
            <a:r>
              <a:rPr dirty="0" sz="650" spc="17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 spc="-10">
                <a:solidFill>
                  <a:srgbClr val="262626"/>
                </a:solidFill>
                <a:latin typeface="Calibri"/>
                <a:cs typeface="Calibri"/>
              </a:rPr>
              <a:t>diferentes</a:t>
            </a:r>
            <a:r>
              <a:rPr dirty="0" sz="650" spc="50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 spc="-10">
                <a:solidFill>
                  <a:srgbClr val="262626"/>
                </a:solidFill>
                <a:latin typeface="Calibri"/>
                <a:cs typeface="Calibri"/>
              </a:rPr>
              <a:t>sensores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	</a:t>
            </a:r>
            <a:r>
              <a:rPr dirty="0" sz="650" spc="-25">
                <a:solidFill>
                  <a:srgbClr val="262626"/>
                </a:solidFill>
                <a:latin typeface="Calibri"/>
                <a:cs typeface="Calibri"/>
              </a:rPr>
              <a:t>são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	</a:t>
            </a:r>
            <a:r>
              <a:rPr dirty="0" sz="650" spc="-10">
                <a:solidFill>
                  <a:srgbClr val="262626"/>
                </a:solidFill>
                <a:latin typeface="Calibri"/>
                <a:cs typeface="Calibri"/>
              </a:rPr>
              <a:t>integrados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	</a:t>
            </a:r>
            <a:r>
              <a:rPr dirty="0" sz="650" spc="-50">
                <a:solidFill>
                  <a:srgbClr val="262626"/>
                </a:solidFill>
                <a:latin typeface="Calibri"/>
                <a:cs typeface="Calibri"/>
              </a:rPr>
              <a:t>e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719686" y="8091999"/>
            <a:ext cx="1260475" cy="48577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just" marR="5080">
              <a:lnSpc>
                <a:spcPct val="116399"/>
              </a:lnSpc>
              <a:spcBef>
                <a:spcPts val="90"/>
              </a:spcBef>
            </a:pP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analisados</a:t>
            </a:r>
            <a:r>
              <a:rPr dirty="0" sz="650" spc="300">
                <a:solidFill>
                  <a:srgbClr val="262626"/>
                </a:solidFill>
                <a:latin typeface="Calibri"/>
                <a:cs typeface="Calibri"/>
              </a:rPr>
              <a:t>  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e</a:t>
            </a:r>
            <a:r>
              <a:rPr dirty="0" sz="650" spc="305">
                <a:solidFill>
                  <a:srgbClr val="262626"/>
                </a:solidFill>
                <a:latin typeface="Calibri"/>
                <a:cs typeface="Calibri"/>
              </a:rPr>
              <a:t>  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podem</a:t>
            </a:r>
            <a:r>
              <a:rPr dirty="0" sz="650" spc="305">
                <a:solidFill>
                  <a:srgbClr val="262626"/>
                </a:solidFill>
                <a:latin typeface="Calibri"/>
                <a:cs typeface="Calibri"/>
              </a:rPr>
              <a:t>   </a:t>
            </a:r>
            <a:r>
              <a:rPr dirty="0" sz="650" spc="-25">
                <a:solidFill>
                  <a:srgbClr val="262626"/>
                </a:solidFill>
                <a:latin typeface="Calibri"/>
                <a:cs typeface="Calibri"/>
              </a:rPr>
              <a:t>ser</a:t>
            </a:r>
            <a:r>
              <a:rPr dirty="0" sz="650" spc="50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armazenados</a:t>
            </a:r>
            <a:r>
              <a:rPr dirty="0" sz="650" spc="459">
                <a:solidFill>
                  <a:srgbClr val="262626"/>
                </a:solidFill>
                <a:latin typeface="Calibri"/>
                <a:cs typeface="Calibri"/>
              </a:rPr>
              <a:t> 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e</a:t>
            </a:r>
            <a:r>
              <a:rPr dirty="0" sz="650" spc="459">
                <a:solidFill>
                  <a:srgbClr val="262626"/>
                </a:solidFill>
                <a:latin typeface="Calibri"/>
                <a:cs typeface="Calibri"/>
              </a:rPr>
              <a:t>  </a:t>
            </a:r>
            <a:r>
              <a:rPr dirty="0" sz="650" spc="-10">
                <a:solidFill>
                  <a:srgbClr val="262626"/>
                </a:solidFill>
                <a:latin typeface="Calibri"/>
                <a:cs typeface="Calibri"/>
              </a:rPr>
              <a:t>consolidados</a:t>
            </a:r>
            <a:r>
              <a:rPr dirty="0" sz="650" spc="50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utilizando</a:t>
            </a:r>
            <a:r>
              <a:rPr dirty="0" sz="650" spc="280">
                <a:solidFill>
                  <a:srgbClr val="262626"/>
                </a:solidFill>
                <a:latin typeface="Calibri"/>
                <a:cs typeface="Calibri"/>
              </a:rPr>
              <a:t> 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as</a:t>
            </a:r>
            <a:r>
              <a:rPr dirty="0" sz="650" spc="290">
                <a:solidFill>
                  <a:srgbClr val="262626"/>
                </a:solidFill>
                <a:latin typeface="Calibri"/>
                <a:cs typeface="Calibri"/>
              </a:rPr>
              <a:t> 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plataformas</a:t>
            </a:r>
            <a:r>
              <a:rPr dirty="0" sz="650" spc="285">
                <a:solidFill>
                  <a:srgbClr val="262626"/>
                </a:solidFill>
                <a:latin typeface="Calibri"/>
                <a:cs typeface="Calibri"/>
              </a:rPr>
              <a:t>  </a:t>
            </a:r>
            <a:r>
              <a:rPr dirty="0" sz="650" spc="-25">
                <a:solidFill>
                  <a:srgbClr val="262626"/>
                </a:solidFill>
                <a:latin typeface="Calibri"/>
                <a:cs typeface="Calibri"/>
              </a:rPr>
              <a:t>em</a:t>
            </a:r>
            <a:r>
              <a:rPr dirty="0" sz="650" spc="50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 spc="-10">
                <a:solidFill>
                  <a:srgbClr val="262626"/>
                </a:solidFill>
                <a:latin typeface="Calibri"/>
                <a:cs typeface="Calibri"/>
              </a:rPr>
              <a:t>nuvem.</a:t>
            </a:r>
            <a:endParaRPr sz="650">
              <a:latin typeface="Calibri"/>
              <a:cs typeface="Calibri"/>
            </a:endParaRPr>
          </a:p>
        </p:txBody>
      </p:sp>
      <p:pic>
        <p:nvPicPr>
          <p:cNvPr id="38" name="object 38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164670" y="7938516"/>
            <a:ext cx="1454261" cy="1083661"/>
          </a:xfrm>
          <a:prstGeom prst="rect">
            <a:avLst/>
          </a:prstGeom>
        </p:spPr>
      </p:pic>
      <p:sp>
        <p:nvSpPr>
          <p:cNvPr id="39" name="object 39"/>
          <p:cNvSpPr txBox="1"/>
          <p:nvPr/>
        </p:nvSpPr>
        <p:spPr>
          <a:xfrm>
            <a:off x="4591801" y="9003469"/>
            <a:ext cx="472440" cy="71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300" spc="-10">
                <a:latin typeface="Calibri"/>
                <a:cs typeface="Calibri"/>
              </a:rPr>
              <a:t>Fonte:</a:t>
            </a:r>
            <a:r>
              <a:rPr dirty="0" sz="300" spc="60">
                <a:latin typeface="Calibri"/>
                <a:cs typeface="Calibri"/>
              </a:rPr>
              <a:t> </a:t>
            </a:r>
            <a:r>
              <a:rPr dirty="0" sz="300" spc="-10">
                <a:latin typeface="Calibri"/>
                <a:cs typeface="Calibri"/>
              </a:rPr>
              <a:t>Curvello;</a:t>
            </a:r>
            <a:r>
              <a:rPr dirty="0" sz="300" spc="40">
                <a:latin typeface="Calibri"/>
                <a:cs typeface="Calibri"/>
              </a:rPr>
              <a:t> </a:t>
            </a:r>
            <a:r>
              <a:rPr dirty="0" sz="300" spc="-10">
                <a:latin typeface="Calibri"/>
                <a:cs typeface="Calibri"/>
              </a:rPr>
              <a:t>Vieira</a:t>
            </a:r>
            <a:r>
              <a:rPr dirty="0" sz="300" spc="40">
                <a:latin typeface="Calibri"/>
                <a:cs typeface="Calibri"/>
              </a:rPr>
              <a:t> </a:t>
            </a:r>
            <a:r>
              <a:rPr dirty="0" sz="300" spc="-10">
                <a:latin typeface="Calibri"/>
                <a:cs typeface="Calibri"/>
              </a:rPr>
              <a:t>(2019)</a:t>
            </a:r>
            <a:endParaRPr sz="300">
              <a:latin typeface="Calibri"/>
              <a:cs typeface="Calibri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3938015" y="7577328"/>
            <a:ext cx="3088005" cy="1728470"/>
          </a:xfrm>
          <a:custGeom>
            <a:avLst/>
            <a:gdLst/>
            <a:ahLst/>
            <a:cxnLst/>
            <a:rect l="l" t="t" r="r" b="b"/>
            <a:pathLst>
              <a:path w="3088004" h="1728470">
                <a:moveTo>
                  <a:pt x="3087623" y="0"/>
                </a:moveTo>
                <a:lnTo>
                  <a:pt x="0" y="0"/>
                </a:lnTo>
                <a:lnTo>
                  <a:pt x="0" y="1728216"/>
                </a:lnTo>
                <a:lnTo>
                  <a:pt x="3087623" y="1728216"/>
                </a:lnTo>
                <a:lnTo>
                  <a:pt x="3087623" y="0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516162" y="3145004"/>
            <a:ext cx="168275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25">
                <a:solidFill>
                  <a:srgbClr val="262626"/>
                </a:solidFill>
                <a:latin typeface="Calibri"/>
                <a:cs typeface="Calibri"/>
              </a:rPr>
              <a:t>19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16162" y="9378120"/>
            <a:ext cx="168275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 sz="1100" spc="-25">
                <a:solidFill>
                  <a:srgbClr val="262626"/>
                </a:solidFill>
                <a:latin typeface="Calibri"/>
                <a:cs typeface="Calibri"/>
              </a:rPr>
              <a:t>23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920421" y="9378120"/>
            <a:ext cx="168275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 sz="1100" spc="-25">
                <a:solidFill>
                  <a:srgbClr val="262626"/>
                </a:solidFill>
                <a:latin typeface="Calibri"/>
                <a:cs typeface="Calibri"/>
              </a:rPr>
              <a:t>24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920421" y="3145004"/>
            <a:ext cx="168275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25">
                <a:solidFill>
                  <a:srgbClr val="262626"/>
                </a:solidFill>
                <a:latin typeface="Calibri"/>
                <a:cs typeface="Calibri"/>
              </a:rPr>
              <a:t>20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16162" y="6244806"/>
            <a:ext cx="168275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25">
                <a:solidFill>
                  <a:srgbClr val="262626"/>
                </a:solidFill>
                <a:latin typeface="Calibri"/>
                <a:cs typeface="Calibri"/>
              </a:rPr>
              <a:t>21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920421" y="6244806"/>
            <a:ext cx="168275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25">
                <a:solidFill>
                  <a:srgbClr val="262626"/>
                </a:solidFill>
                <a:latin typeface="Calibri"/>
                <a:cs typeface="Calibri"/>
              </a:rPr>
              <a:t>22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0391" y="2196083"/>
            <a:ext cx="1645919" cy="65836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34923" y="1379219"/>
            <a:ext cx="3086100" cy="1729739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wrap="square" lIns="0" tIns="1778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40"/>
              </a:spcBef>
            </a:pPr>
            <a:endParaRPr sz="1000">
              <a:latin typeface="Times New Roman"/>
              <a:cs typeface="Times New Roman"/>
            </a:endParaRPr>
          </a:p>
          <a:p>
            <a:pPr algn="just" marL="229870">
              <a:lnSpc>
                <a:spcPct val="100000"/>
              </a:lnSpc>
            </a:pPr>
            <a:r>
              <a:rPr dirty="0" sz="1000" b="1">
                <a:solidFill>
                  <a:srgbClr val="073472"/>
                </a:solidFill>
                <a:latin typeface="Calibri"/>
                <a:cs typeface="Calibri"/>
              </a:rPr>
              <a:t>Aplicação</a:t>
            </a:r>
            <a:r>
              <a:rPr dirty="0" sz="1000" spc="30" b="1">
                <a:solidFill>
                  <a:srgbClr val="073472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073472"/>
                </a:solidFill>
                <a:latin typeface="Calibri"/>
                <a:cs typeface="Calibri"/>
              </a:rPr>
              <a:t>com</a:t>
            </a:r>
            <a:r>
              <a:rPr dirty="0" sz="1000" spc="40" b="1">
                <a:solidFill>
                  <a:srgbClr val="073472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073472"/>
                </a:solidFill>
                <a:latin typeface="Calibri"/>
                <a:cs typeface="Calibri"/>
              </a:rPr>
              <a:t>Raspberry</a:t>
            </a:r>
            <a:r>
              <a:rPr dirty="0" sz="1000" spc="90" b="1">
                <a:solidFill>
                  <a:srgbClr val="073472"/>
                </a:solidFill>
                <a:latin typeface="Calibri"/>
                <a:cs typeface="Calibri"/>
              </a:rPr>
              <a:t> </a:t>
            </a:r>
            <a:r>
              <a:rPr dirty="0" sz="1000" spc="-25" b="1">
                <a:solidFill>
                  <a:srgbClr val="073472"/>
                </a:solidFill>
                <a:latin typeface="Calibri"/>
                <a:cs typeface="Calibri"/>
              </a:rPr>
              <a:t>Pi</a:t>
            </a:r>
            <a:endParaRPr sz="1000">
              <a:latin typeface="Calibri"/>
              <a:cs typeface="Calibri"/>
            </a:endParaRPr>
          </a:p>
          <a:p>
            <a:pPr algn="just" marL="229870" marR="78740">
              <a:lnSpc>
                <a:spcPct val="115900"/>
              </a:lnSpc>
              <a:spcBef>
                <a:spcPts val="345"/>
              </a:spcBef>
            </a:pP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Sensores</a:t>
            </a:r>
            <a:r>
              <a:rPr dirty="0" sz="650" spc="9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são</a:t>
            </a:r>
            <a:r>
              <a:rPr dirty="0" sz="650" spc="10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conectados</a:t>
            </a:r>
            <a:r>
              <a:rPr dirty="0" sz="650" spc="11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ao</a:t>
            </a:r>
            <a:r>
              <a:rPr dirty="0" sz="650" spc="10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Rpi</a:t>
            </a:r>
            <a:r>
              <a:rPr dirty="0" sz="650" spc="9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por</a:t>
            </a:r>
            <a:r>
              <a:rPr dirty="0" sz="650" spc="10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meio</a:t>
            </a:r>
            <a:r>
              <a:rPr dirty="0" sz="650" spc="11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de</a:t>
            </a:r>
            <a:r>
              <a:rPr dirty="0" sz="650" spc="8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vários</a:t>
            </a:r>
            <a:r>
              <a:rPr dirty="0" sz="650" spc="9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protocolos</a:t>
            </a:r>
            <a:r>
              <a:rPr dirty="0" sz="650" spc="9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diferentes,</a:t>
            </a:r>
            <a:r>
              <a:rPr dirty="0" sz="650" spc="9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 spc="-20">
                <a:solidFill>
                  <a:srgbClr val="262626"/>
                </a:solidFill>
                <a:latin typeface="Calibri"/>
                <a:cs typeface="Calibri"/>
              </a:rPr>
              <a:t>pois</a:t>
            </a:r>
            <a:r>
              <a:rPr dirty="0" sz="650" spc="50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cada</a:t>
            </a:r>
            <a:r>
              <a:rPr dirty="0" sz="650" spc="7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um</a:t>
            </a:r>
            <a:r>
              <a:rPr dirty="0" sz="650" spc="8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dos</a:t>
            </a:r>
            <a:r>
              <a:rPr dirty="0" sz="650" spc="8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sensores</a:t>
            </a:r>
            <a:r>
              <a:rPr dirty="0" sz="650" spc="8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apresenta</a:t>
            </a:r>
            <a:r>
              <a:rPr dirty="0" sz="650" spc="7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uma</a:t>
            </a:r>
            <a:r>
              <a:rPr dirty="0" sz="650" spc="10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forma</a:t>
            </a:r>
            <a:r>
              <a:rPr dirty="0" sz="650" spc="9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de</a:t>
            </a:r>
            <a:r>
              <a:rPr dirty="0" sz="650" spc="8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comunicação</a:t>
            </a:r>
            <a:r>
              <a:rPr dirty="0" sz="650" spc="8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(saída</a:t>
            </a:r>
            <a:r>
              <a:rPr dirty="0" sz="650" spc="7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de</a:t>
            </a:r>
            <a:r>
              <a:rPr dirty="0" sz="650" spc="8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 spc="-10">
                <a:solidFill>
                  <a:srgbClr val="262626"/>
                </a:solidFill>
                <a:latin typeface="Calibri"/>
                <a:cs typeface="Calibri"/>
              </a:rPr>
              <a:t>dados).</a:t>
            </a:r>
            <a:r>
              <a:rPr dirty="0" sz="650" spc="50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Após</a:t>
            </a:r>
            <a:r>
              <a:rPr dirty="0" sz="650" spc="3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a</a:t>
            </a:r>
            <a:r>
              <a:rPr dirty="0" sz="650" spc="5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integração</a:t>
            </a:r>
            <a:r>
              <a:rPr dirty="0" sz="650" spc="3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desses</a:t>
            </a:r>
            <a:r>
              <a:rPr dirty="0" sz="650" spc="4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sensores</a:t>
            </a:r>
            <a:r>
              <a:rPr dirty="0" sz="650" spc="3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com</a:t>
            </a:r>
            <a:r>
              <a:rPr dirty="0" sz="650" spc="5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o</a:t>
            </a:r>
            <a:r>
              <a:rPr dirty="0" sz="650" spc="5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Rpi,</a:t>
            </a:r>
            <a:r>
              <a:rPr dirty="0" sz="650" spc="4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existe</a:t>
            </a:r>
            <a:r>
              <a:rPr dirty="0" sz="650" spc="4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a</a:t>
            </a:r>
            <a:r>
              <a:rPr dirty="0" sz="650" spc="5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possibilidade</a:t>
            </a:r>
            <a:r>
              <a:rPr dirty="0" sz="650" spc="3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de</a:t>
            </a:r>
            <a:r>
              <a:rPr dirty="0" sz="650" spc="4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realizar</a:t>
            </a:r>
            <a:r>
              <a:rPr dirty="0" sz="650" spc="4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 spc="-50">
                <a:solidFill>
                  <a:srgbClr val="262626"/>
                </a:solidFill>
                <a:latin typeface="Calibri"/>
                <a:cs typeface="Calibri"/>
              </a:rPr>
              <a:t>a</a:t>
            </a:r>
            <a:r>
              <a:rPr dirty="0" sz="650" spc="50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comunicação</a:t>
            </a:r>
            <a:r>
              <a:rPr dirty="0" sz="650" spc="1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através</a:t>
            </a:r>
            <a:r>
              <a:rPr dirty="0" sz="650" spc="3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da</a:t>
            </a:r>
            <a:r>
              <a:rPr dirty="0" sz="650" spc="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 spc="-10">
                <a:solidFill>
                  <a:srgbClr val="262626"/>
                </a:solidFill>
                <a:latin typeface="Calibri"/>
                <a:cs typeface="Calibri"/>
              </a:rPr>
              <a:t>internet.</a:t>
            </a:r>
            <a:endParaRPr sz="6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6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6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6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6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6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650">
              <a:latin typeface="Calibri"/>
              <a:cs typeface="Calibri"/>
            </a:endParaRPr>
          </a:p>
          <a:p>
            <a:pPr marL="871219">
              <a:lnSpc>
                <a:spcPct val="100000"/>
              </a:lnSpc>
              <a:spcBef>
                <a:spcPts val="5"/>
              </a:spcBef>
            </a:pPr>
            <a:r>
              <a:rPr dirty="0" sz="300" spc="-10">
                <a:latin typeface="Calibri"/>
                <a:cs typeface="Calibri"/>
              </a:rPr>
              <a:t>Fonte:</a:t>
            </a:r>
            <a:r>
              <a:rPr dirty="0" sz="300" spc="60">
                <a:latin typeface="Calibri"/>
                <a:cs typeface="Calibri"/>
              </a:rPr>
              <a:t> </a:t>
            </a:r>
            <a:r>
              <a:rPr dirty="0" sz="300" spc="-10">
                <a:latin typeface="Calibri"/>
                <a:cs typeface="Calibri"/>
              </a:rPr>
              <a:t>Curvello;</a:t>
            </a:r>
            <a:r>
              <a:rPr dirty="0" sz="300" spc="40">
                <a:latin typeface="Calibri"/>
                <a:cs typeface="Calibri"/>
              </a:rPr>
              <a:t> </a:t>
            </a:r>
            <a:r>
              <a:rPr dirty="0" sz="300" spc="-10">
                <a:latin typeface="Calibri"/>
                <a:cs typeface="Calibri"/>
              </a:rPr>
              <a:t>Vieira</a:t>
            </a:r>
            <a:r>
              <a:rPr dirty="0" sz="300" spc="40">
                <a:latin typeface="Calibri"/>
                <a:cs typeface="Calibri"/>
              </a:rPr>
              <a:t> </a:t>
            </a:r>
            <a:r>
              <a:rPr dirty="0" sz="300" spc="-10">
                <a:latin typeface="Calibri"/>
                <a:cs typeface="Calibri"/>
              </a:rPr>
              <a:t>(2019)</a:t>
            </a:r>
            <a:endParaRPr sz="3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931920" y="1373124"/>
            <a:ext cx="3101340" cy="1743710"/>
            <a:chOff x="3931920" y="1373124"/>
            <a:chExt cx="3101340" cy="174371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31920" y="1373124"/>
              <a:ext cx="3101340" cy="174345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116324" y="2855975"/>
              <a:ext cx="2752725" cy="0"/>
            </a:xfrm>
            <a:custGeom>
              <a:avLst/>
              <a:gdLst/>
              <a:ahLst/>
              <a:cxnLst/>
              <a:rect l="l" t="t" r="r" b="b"/>
              <a:pathLst>
                <a:path w="2752725" h="0">
                  <a:moveTo>
                    <a:pt x="0" y="0"/>
                  </a:moveTo>
                  <a:lnTo>
                    <a:pt x="2752343" y="0"/>
                  </a:lnTo>
                </a:path>
              </a:pathLst>
            </a:custGeom>
            <a:ln w="4572">
              <a:solidFill>
                <a:srgbClr val="07347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97880" y="1373124"/>
              <a:ext cx="1135380" cy="118871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116324" y="2855975"/>
              <a:ext cx="2752725" cy="0"/>
            </a:xfrm>
            <a:custGeom>
              <a:avLst/>
              <a:gdLst/>
              <a:ahLst/>
              <a:cxnLst/>
              <a:rect l="l" t="t" r="r" b="b"/>
              <a:pathLst>
                <a:path w="2752725" h="0">
                  <a:moveTo>
                    <a:pt x="0" y="0"/>
                  </a:moveTo>
                  <a:lnTo>
                    <a:pt x="2752343" y="0"/>
                  </a:lnTo>
                </a:path>
              </a:pathLst>
            </a:custGeom>
            <a:ln w="457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06668" y="2046732"/>
              <a:ext cx="926592" cy="1069847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3938015" y="1379219"/>
            <a:ext cx="3088005" cy="1729739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wrap="square" lIns="0" tIns="4318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40"/>
              </a:spcBef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  <a:tabLst>
                <a:tab pos="281305" algn="l"/>
                <a:tab pos="935355" algn="l"/>
              </a:tabLst>
            </a:pPr>
            <a:r>
              <a:rPr dirty="0" u="sng" sz="900">
                <a:solidFill>
                  <a:srgbClr val="073472"/>
                </a:solidFill>
                <a:uFill>
                  <a:solidFill>
                    <a:srgbClr val="073472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900" spc="-10">
                <a:solidFill>
                  <a:srgbClr val="073472"/>
                </a:solidFill>
                <a:uFill>
                  <a:solidFill>
                    <a:srgbClr val="073472"/>
                  </a:solidFill>
                </a:uFill>
                <a:latin typeface="Calibri"/>
                <a:cs typeface="Calibri"/>
              </a:rPr>
              <a:t>Conceitos</a:t>
            </a:r>
            <a:r>
              <a:rPr dirty="0" u="sng" sz="900">
                <a:solidFill>
                  <a:srgbClr val="073472"/>
                </a:solidFill>
                <a:uFill>
                  <a:solidFill>
                    <a:srgbClr val="073472"/>
                  </a:solidFill>
                </a:uFill>
                <a:latin typeface="Calibri"/>
                <a:cs typeface="Calibri"/>
              </a:rPr>
              <a:t>	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900">
              <a:latin typeface="Calibri"/>
              <a:cs typeface="Calibri"/>
            </a:endParaRPr>
          </a:p>
          <a:p>
            <a:pPr marL="310515" marR="1127125">
              <a:lnSpc>
                <a:spcPct val="91800"/>
              </a:lnSpc>
            </a:pPr>
            <a:r>
              <a:rPr dirty="0" sz="1650" b="1">
                <a:solidFill>
                  <a:srgbClr val="262626"/>
                </a:solidFill>
                <a:latin typeface="Calibri"/>
                <a:cs typeface="Calibri"/>
              </a:rPr>
              <a:t>Gerenciamento</a:t>
            </a:r>
            <a:r>
              <a:rPr dirty="0" sz="1650" spc="100" b="1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1650" spc="-25" b="1">
                <a:solidFill>
                  <a:srgbClr val="262626"/>
                </a:solidFill>
                <a:latin typeface="Calibri"/>
                <a:cs typeface="Calibri"/>
              </a:rPr>
              <a:t>de </a:t>
            </a:r>
            <a:r>
              <a:rPr dirty="0" sz="1650" b="1">
                <a:solidFill>
                  <a:srgbClr val="262626"/>
                </a:solidFill>
                <a:latin typeface="Calibri"/>
                <a:cs typeface="Calibri"/>
              </a:rPr>
              <a:t>dados</a:t>
            </a:r>
            <a:r>
              <a:rPr dirty="0" sz="1650" spc="55" b="1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1650" spc="-50" b="1">
                <a:solidFill>
                  <a:srgbClr val="262626"/>
                </a:solidFill>
                <a:latin typeface="Calibri"/>
                <a:cs typeface="Calibri"/>
              </a:rPr>
              <a:t>e </a:t>
            </a:r>
            <a:r>
              <a:rPr dirty="0" sz="1650" spc="-10" b="1">
                <a:solidFill>
                  <a:srgbClr val="262626"/>
                </a:solidFill>
                <a:latin typeface="Calibri"/>
                <a:cs typeface="Calibri"/>
              </a:rPr>
              <a:t>interoperabilidade</a:t>
            </a:r>
            <a:endParaRPr sz="165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13231" y="4978908"/>
            <a:ext cx="2915920" cy="1236345"/>
            <a:chOff x="713231" y="4978908"/>
            <a:chExt cx="2915920" cy="1236345"/>
          </a:xfrm>
        </p:grpSpPr>
        <p:sp>
          <p:nvSpPr>
            <p:cNvPr id="12" name="object 12"/>
            <p:cNvSpPr/>
            <p:nvPr/>
          </p:nvSpPr>
          <p:spPr>
            <a:xfrm>
              <a:off x="713231" y="5971032"/>
              <a:ext cx="2752725" cy="0"/>
            </a:xfrm>
            <a:custGeom>
              <a:avLst/>
              <a:gdLst/>
              <a:ahLst/>
              <a:cxnLst/>
              <a:rect l="l" t="t" r="r" b="b"/>
              <a:pathLst>
                <a:path w="2752725" h="0">
                  <a:moveTo>
                    <a:pt x="0" y="0"/>
                  </a:moveTo>
                  <a:lnTo>
                    <a:pt x="2752343" y="0"/>
                  </a:lnTo>
                </a:path>
              </a:pathLst>
            </a:custGeom>
            <a:ln w="4572">
              <a:solidFill>
                <a:srgbClr val="07347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03575" y="5145023"/>
              <a:ext cx="925067" cy="1069847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3998" y="4978908"/>
              <a:ext cx="1524406" cy="951714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534923" y="4477511"/>
            <a:ext cx="3086100" cy="1729739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wrap="square" lIns="0" tIns="3302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60"/>
              </a:spcBef>
            </a:pPr>
            <a:endParaRPr sz="1000">
              <a:latin typeface="Times New Roman"/>
              <a:cs typeface="Times New Roman"/>
            </a:endParaRPr>
          </a:p>
          <a:p>
            <a:pPr marL="229870" marR="243840">
              <a:lnSpc>
                <a:spcPts val="1100"/>
              </a:lnSpc>
            </a:pPr>
            <a:r>
              <a:rPr dirty="0" sz="1000" b="1">
                <a:solidFill>
                  <a:srgbClr val="073472"/>
                </a:solidFill>
                <a:latin typeface="Calibri"/>
                <a:cs typeface="Calibri"/>
              </a:rPr>
              <a:t>Passos</a:t>
            </a:r>
            <a:r>
              <a:rPr dirty="0" sz="1000" spc="20" b="1">
                <a:solidFill>
                  <a:srgbClr val="073472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073472"/>
                </a:solidFill>
                <a:latin typeface="Calibri"/>
                <a:cs typeface="Calibri"/>
              </a:rPr>
              <a:t>para</a:t>
            </a:r>
            <a:r>
              <a:rPr dirty="0" sz="1000" spc="30" b="1">
                <a:solidFill>
                  <a:srgbClr val="073472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073472"/>
                </a:solidFill>
                <a:latin typeface="Calibri"/>
                <a:cs typeface="Calibri"/>
              </a:rPr>
              <a:t>a</a:t>
            </a:r>
            <a:r>
              <a:rPr dirty="0" sz="1000" spc="45" b="1">
                <a:solidFill>
                  <a:srgbClr val="073472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073472"/>
                </a:solidFill>
                <a:latin typeface="Calibri"/>
                <a:cs typeface="Calibri"/>
              </a:rPr>
              <a:t>transformação</a:t>
            </a:r>
            <a:r>
              <a:rPr dirty="0" sz="1000" spc="30" b="1">
                <a:solidFill>
                  <a:srgbClr val="073472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073472"/>
                </a:solidFill>
                <a:latin typeface="Calibri"/>
                <a:cs typeface="Calibri"/>
              </a:rPr>
              <a:t>dos</a:t>
            </a:r>
            <a:r>
              <a:rPr dirty="0" sz="1000" spc="15" b="1">
                <a:solidFill>
                  <a:srgbClr val="073472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073472"/>
                </a:solidFill>
                <a:latin typeface="Calibri"/>
                <a:cs typeface="Calibri"/>
              </a:rPr>
              <a:t>dados</a:t>
            </a:r>
            <a:r>
              <a:rPr dirty="0" sz="1000" spc="10" b="1">
                <a:solidFill>
                  <a:srgbClr val="073472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073472"/>
                </a:solidFill>
                <a:latin typeface="Calibri"/>
                <a:cs typeface="Calibri"/>
              </a:rPr>
              <a:t>em</a:t>
            </a:r>
            <a:r>
              <a:rPr dirty="0" sz="1000" spc="20" b="1">
                <a:solidFill>
                  <a:srgbClr val="073472"/>
                </a:solidFill>
                <a:latin typeface="Calibri"/>
                <a:cs typeface="Calibri"/>
              </a:rPr>
              <a:t> </a:t>
            </a:r>
            <a:r>
              <a:rPr dirty="0" sz="1000" spc="-20" b="1">
                <a:solidFill>
                  <a:srgbClr val="073472"/>
                </a:solidFill>
                <a:latin typeface="Calibri"/>
                <a:cs typeface="Calibri"/>
              </a:rPr>
              <a:t>valor </a:t>
            </a:r>
            <a:r>
              <a:rPr dirty="0" sz="1000" b="1">
                <a:solidFill>
                  <a:srgbClr val="073472"/>
                </a:solidFill>
                <a:latin typeface="Calibri"/>
                <a:cs typeface="Calibri"/>
              </a:rPr>
              <a:t>de</a:t>
            </a:r>
            <a:r>
              <a:rPr dirty="0" sz="1000" spc="20" b="1">
                <a:solidFill>
                  <a:srgbClr val="073472"/>
                </a:solidFill>
                <a:latin typeface="Calibri"/>
                <a:cs typeface="Calibri"/>
              </a:rPr>
              <a:t> </a:t>
            </a:r>
            <a:r>
              <a:rPr dirty="0" sz="1000" spc="-10" b="1">
                <a:solidFill>
                  <a:srgbClr val="073472"/>
                </a:solidFill>
                <a:latin typeface="Calibri"/>
                <a:cs typeface="Calibri"/>
              </a:rPr>
              <a:t>negócio</a:t>
            </a: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15"/>
              </a:spcBef>
            </a:pPr>
            <a:endParaRPr sz="1000">
              <a:latin typeface="Calibri"/>
              <a:cs typeface="Calibri"/>
            </a:endParaRPr>
          </a:p>
          <a:p>
            <a:pPr marL="878840">
              <a:lnSpc>
                <a:spcPct val="100000"/>
              </a:lnSpc>
            </a:pPr>
            <a:r>
              <a:rPr dirty="0" sz="300" spc="-10">
                <a:latin typeface="Calibri"/>
                <a:cs typeface="Calibri"/>
              </a:rPr>
              <a:t>Fonte:</a:t>
            </a:r>
            <a:r>
              <a:rPr dirty="0" sz="300" spc="60">
                <a:latin typeface="Calibri"/>
                <a:cs typeface="Calibri"/>
              </a:rPr>
              <a:t> </a:t>
            </a:r>
            <a:r>
              <a:rPr dirty="0" sz="300" spc="-10">
                <a:latin typeface="Calibri"/>
                <a:cs typeface="Calibri"/>
              </a:rPr>
              <a:t>Curvello;</a:t>
            </a:r>
            <a:r>
              <a:rPr dirty="0" sz="300" spc="40">
                <a:latin typeface="Calibri"/>
                <a:cs typeface="Calibri"/>
              </a:rPr>
              <a:t> </a:t>
            </a:r>
            <a:r>
              <a:rPr dirty="0" sz="300" spc="-10">
                <a:latin typeface="Calibri"/>
                <a:cs typeface="Calibri"/>
              </a:rPr>
              <a:t>Vieira</a:t>
            </a:r>
            <a:r>
              <a:rPr dirty="0" sz="300" spc="40">
                <a:latin typeface="Calibri"/>
                <a:cs typeface="Calibri"/>
              </a:rPr>
              <a:t> </a:t>
            </a:r>
            <a:r>
              <a:rPr dirty="0" sz="300" spc="-10">
                <a:latin typeface="Calibri"/>
                <a:cs typeface="Calibri"/>
              </a:rPr>
              <a:t>(2019)</a:t>
            </a:r>
            <a:endParaRPr sz="3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116323" y="4820411"/>
            <a:ext cx="2917190" cy="1394460"/>
            <a:chOff x="4116323" y="4820411"/>
            <a:chExt cx="2917190" cy="1394460"/>
          </a:xfrm>
        </p:grpSpPr>
        <p:sp>
          <p:nvSpPr>
            <p:cNvPr id="17" name="object 17"/>
            <p:cNvSpPr/>
            <p:nvPr/>
          </p:nvSpPr>
          <p:spPr>
            <a:xfrm>
              <a:off x="4116323" y="5971032"/>
              <a:ext cx="2752725" cy="0"/>
            </a:xfrm>
            <a:custGeom>
              <a:avLst/>
              <a:gdLst/>
              <a:ahLst/>
              <a:cxnLst/>
              <a:rect l="l" t="t" r="r" b="b"/>
              <a:pathLst>
                <a:path w="2752725" h="0">
                  <a:moveTo>
                    <a:pt x="0" y="0"/>
                  </a:moveTo>
                  <a:lnTo>
                    <a:pt x="2752343" y="0"/>
                  </a:lnTo>
                </a:path>
              </a:pathLst>
            </a:custGeom>
            <a:ln w="4572">
              <a:solidFill>
                <a:srgbClr val="07347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106667" y="5145023"/>
              <a:ext cx="926592" cy="1069847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159475" y="4820411"/>
              <a:ext cx="1235005" cy="1106453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3938015" y="4477511"/>
            <a:ext cx="3088005" cy="1729739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wrap="square" lIns="0" tIns="1778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40"/>
              </a:spcBef>
            </a:pPr>
            <a:endParaRPr sz="1000">
              <a:latin typeface="Times New Roman"/>
              <a:cs typeface="Times New Roman"/>
            </a:endParaRPr>
          </a:p>
          <a:p>
            <a:pPr marL="233045">
              <a:lnSpc>
                <a:spcPct val="100000"/>
              </a:lnSpc>
            </a:pPr>
            <a:r>
              <a:rPr dirty="0" sz="1000" b="1">
                <a:solidFill>
                  <a:srgbClr val="073472"/>
                </a:solidFill>
                <a:latin typeface="Calibri"/>
                <a:cs typeface="Calibri"/>
              </a:rPr>
              <a:t>Análise</a:t>
            </a:r>
            <a:r>
              <a:rPr dirty="0" sz="1000" spc="20" b="1">
                <a:solidFill>
                  <a:srgbClr val="073472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073472"/>
                </a:solidFill>
                <a:latin typeface="Calibri"/>
                <a:cs typeface="Calibri"/>
              </a:rPr>
              <a:t>de</a:t>
            </a:r>
            <a:r>
              <a:rPr dirty="0" sz="1000" spc="35" b="1">
                <a:solidFill>
                  <a:srgbClr val="073472"/>
                </a:solidFill>
                <a:latin typeface="Calibri"/>
                <a:cs typeface="Calibri"/>
              </a:rPr>
              <a:t> </a:t>
            </a:r>
            <a:r>
              <a:rPr dirty="0" sz="1000" spc="-20" b="1">
                <a:solidFill>
                  <a:srgbClr val="073472"/>
                </a:solidFill>
                <a:latin typeface="Calibri"/>
                <a:cs typeface="Calibri"/>
              </a:rPr>
              <a:t>dados</a:t>
            </a:r>
            <a:endParaRPr sz="1000">
              <a:latin typeface="Calibri"/>
              <a:cs typeface="Calibri"/>
            </a:endParaRPr>
          </a:p>
          <a:p>
            <a:pPr algn="just" marL="1595120" marR="132080">
              <a:lnSpc>
                <a:spcPct val="116199"/>
              </a:lnSpc>
              <a:spcBef>
                <a:spcPts val="235"/>
              </a:spcBef>
            </a:pP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Para</a:t>
            </a:r>
            <a:r>
              <a:rPr dirty="0" sz="650" spc="16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cada</a:t>
            </a:r>
            <a:r>
              <a:rPr dirty="0" sz="650" spc="16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tipo</a:t>
            </a:r>
            <a:r>
              <a:rPr dirty="0" sz="650" spc="16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de</a:t>
            </a:r>
            <a:r>
              <a:rPr dirty="0" sz="650" spc="16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aplicação</a:t>
            </a:r>
            <a:r>
              <a:rPr dirty="0" sz="650" spc="16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de</a:t>
            </a:r>
            <a:r>
              <a:rPr dirty="0" sz="650" spc="16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IoT</a:t>
            </a:r>
            <a:r>
              <a:rPr dirty="0" sz="650" spc="17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 spc="-50">
                <a:solidFill>
                  <a:srgbClr val="262626"/>
                </a:solidFill>
                <a:latin typeface="Calibri"/>
                <a:cs typeface="Calibri"/>
              </a:rPr>
              <a:t>é</a:t>
            </a:r>
            <a:r>
              <a:rPr dirty="0" sz="650" spc="50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necessário</a:t>
            </a:r>
            <a:r>
              <a:rPr dirty="0" sz="650" spc="6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que</a:t>
            </a:r>
            <a:r>
              <a:rPr dirty="0" sz="650" spc="5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seja</a:t>
            </a:r>
            <a:r>
              <a:rPr dirty="0" sz="650" spc="5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executado</a:t>
            </a:r>
            <a:r>
              <a:rPr dirty="0" sz="650" spc="7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um</a:t>
            </a:r>
            <a:r>
              <a:rPr dirty="0" sz="650" spc="7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 spc="-20">
                <a:solidFill>
                  <a:srgbClr val="262626"/>
                </a:solidFill>
                <a:latin typeface="Calibri"/>
                <a:cs typeface="Calibri"/>
              </a:rPr>
              <a:t>tipo</a:t>
            </a:r>
            <a:r>
              <a:rPr dirty="0" sz="650" spc="50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específico</a:t>
            </a:r>
            <a:r>
              <a:rPr dirty="0" sz="650" spc="15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de</a:t>
            </a:r>
            <a:r>
              <a:rPr dirty="0" sz="650" spc="16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análise,</a:t>
            </a:r>
            <a:r>
              <a:rPr dirty="0" sz="650" spc="16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pois</a:t>
            </a:r>
            <a:r>
              <a:rPr dirty="0" sz="650" spc="17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a</a:t>
            </a:r>
            <a:r>
              <a:rPr dirty="0" sz="650" spc="16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 spc="-10">
                <a:solidFill>
                  <a:srgbClr val="262626"/>
                </a:solidFill>
                <a:latin typeface="Calibri"/>
                <a:cs typeface="Calibri"/>
              </a:rPr>
              <a:t>natureza</a:t>
            </a:r>
            <a:r>
              <a:rPr dirty="0" sz="650" spc="50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dos</a:t>
            </a:r>
            <a:r>
              <a:rPr dirty="0" sz="650" spc="35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dados</a:t>
            </a:r>
            <a:r>
              <a:rPr dirty="0" sz="650" spc="35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coletados</a:t>
            </a:r>
            <a:r>
              <a:rPr dirty="0" sz="650" spc="35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influencia</a:t>
            </a:r>
            <a:r>
              <a:rPr dirty="0" sz="650" spc="36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 spc="-25">
                <a:solidFill>
                  <a:srgbClr val="262626"/>
                </a:solidFill>
                <a:latin typeface="Calibri"/>
                <a:cs typeface="Calibri"/>
              </a:rPr>
              <a:t>nos</a:t>
            </a:r>
            <a:r>
              <a:rPr dirty="0" sz="650" spc="50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resultados</a:t>
            </a:r>
            <a:r>
              <a:rPr dirty="0" sz="650" spc="3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 spc="-10">
                <a:solidFill>
                  <a:srgbClr val="262626"/>
                </a:solidFill>
                <a:latin typeface="Calibri"/>
                <a:cs typeface="Calibri"/>
              </a:rPr>
              <a:t>obtidos.</a:t>
            </a:r>
            <a:endParaRPr sz="6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6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6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6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6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650">
              <a:latin typeface="Calibri"/>
              <a:cs typeface="Calibri"/>
            </a:endParaRPr>
          </a:p>
          <a:p>
            <a:pPr algn="just" marL="1534160">
              <a:lnSpc>
                <a:spcPct val="100000"/>
              </a:lnSpc>
            </a:pPr>
            <a:r>
              <a:rPr dirty="0" sz="300" spc="-10">
                <a:latin typeface="Calibri"/>
                <a:cs typeface="Calibri"/>
              </a:rPr>
              <a:t>Fonte:</a:t>
            </a:r>
            <a:r>
              <a:rPr dirty="0" sz="300" spc="60">
                <a:latin typeface="Calibri"/>
                <a:cs typeface="Calibri"/>
              </a:rPr>
              <a:t> </a:t>
            </a:r>
            <a:r>
              <a:rPr dirty="0" sz="300" spc="-10">
                <a:latin typeface="Calibri"/>
                <a:cs typeface="Calibri"/>
              </a:rPr>
              <a:t>Curvello;</a:t>
            </a:r>
            <a:r>
              <a:rPr dirty="0" sz="300" spc="40">
                <a:latin typeface="Calibri"/>
                <a:cs typeface="Calibri"/>
              </a:rPr>
              <a:t> </a:t>
            </a:r>
            <a:r>
              <a:rPr dirty="0" sz="300" spc="-10">
                <a:latin typeface="Calibri"/>
                <a:cs typeface="Calibri"/>
              </a:rPr>
              <a:t>Vieira</a:t>
            </a:r>
            <a:r>
              <a:rPr dirty="0" sz="300" spc="40">
                <a:latin typeface="Calibri"/>
                <a:cs typeface="Calibri"/>
              </a:rPr>
              <a:t> </a:t>
            </a:r>
            <a:r>
              <a:rPr dirty="0" sz="300" spc="-10">
                <a:latin typeface="Calibri"/>
                <a:cs typeface="Calibri"/>
              </a:rPr>
              <a:t>(2019)</a:t>
            </a:r>
            <a:endParaRPr sz="3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97819" y="8244840"/>
            <a:ext cx="2931160" cy="1068705"/>
            <a:chOff x="697819" y="8244840"/>
            <a:chExt cx="2931160" cy="1068705"/>
          </a:xfrm>
        </p:grpSpPr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703576" y="8244840"/>
              <a:ext cx="925067" cy="106832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97819" y="8470967"/>
              <a:ext cx="1977573" cy="541444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534923" y="7577328"/>
            <a:ext cx="3086100" cy="1728470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wrap="square" lIns="0" tIns="3175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50"/>
              </a:spcBef>
            </a:pPr>
            <a:endParaRPr sz="1000">
              <a:latin typeface="Times New Roman"/>
              <a:cs typeface="Times New Roman"/>
            </a:endParaRPr>
          </a:p>
          <a:p>
            <a:pPr algn="just" marL="205740" marR="241300">
              <a:lnSpc>
                <a:spcPts val="1100"/>
              </a:lnSpc>
            </a:pPr>
            <a:r>
              <a:rPr dirty="0" sz="1000" b="1">
                <a:solidFill>
                  <a:srgbClr val="073472"/>
                </a:solidFill>
                <a:latin typeface="Calibri"/>
                <a:cs typeface="Calibri"/>
              </a:rPr>
              <a:t>Passos</a:t>
            </a:r>
            <a:r>
              <a:rPr dirty="0" sz="1000" spc="15" b="1">
                <a:solidFill>
                  <a:srgbClr val="073472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073472"/>
                </a:solidFill>
                <a:latin typeface="Calibri"/>
                <a:cs typeface="Calibri"/>
              </a:rPr>
              <a:t>para</a:t>
            </a:r>
            <a:r>
              <a:rPr dirty="0" sz="1000" spc="25" b="1">
                <a:solidFill>
                  <a:srgbClr val="073472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073472"/>
                </a:solidFill>
                <a:latin typeface="Calibri"/>
                <a:cs typeface="Calibri"/>
              </a:rPr>
              <a:t>o</a:t>
            </a:r>
            <a:r>
              <a:rPr dirty="0" sz="1000" spc="20" b="1">
                <a:solidFill>
                  <a:srgbClr val="073472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073472"/>
                </a:solidFill>
                <a:latin typeface="Calibri"/>
                <a:cs typeface="Calibri"/>
              </a:rPr>
              <a:t>gerenciamento</a:t>
            </a:r>
            <a:r>
              <a:rPr dirty="0" sz="1000" spc="25" b="1">
                <a:solidFill>
                  <a:srgbClr val="073472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073472"/>
                </a:solidFill>
                <a:latin typeface="Calibri"/>
                <a:cs typeface="Calibri"/>
              </a:rPr>
              <a:t>eficiente</a:t>
            </a:r>
            <a:r>
              <a:rPr dirty="0" sz="1000" spc="30" b="1">
                <a:solidFill>
                  <a:srgbClr val="073472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073472"/>
                </a:solidFill>
                <a:latin typeface="Calibri"/>
                <a:cs typeface="Calibri"/>
              </a:rPr>
              <a:t>dos</a:t>
            </a:r>
            <a:r>
              <a:rPr dirty="0" sz="1000" spc="5" b="1">
                <a:solidFill>
                  <a:srgbClr val="073472"/>
                </a:solidFill>
                <a:latin typeface="Calibri"/>
                <a:cs typeface="Calibri"/>
              </a:rPr>
              <a:t> </a:t>
            </a:r>
            <a:r>
              <a:rPr dirty="0" sz="1000" spc="-20" b="1">
                <a:solidFill>
                  <a:srgbClr val="073472"/>
                </a:solidFill>
                <a:latin typeface="Calibri"/>
                <a:cs typeface="Calibri"/>
              </a:rPr>
              <a:t>dados </a:t>
            </a:r>
            <a:r>
              <a:rPr dirty="0" sz="1000" b="1">
                <a:solidFill>
                  <a:srgbClr val="073472"/>
                </a:solidFill>
                <a:latin typeface="Calibri"/>
                <a:cs typeface="Calibri"/>
              </a:rPr>
              <a:t>da</a:t>
            </a:r>
            <a:r>
              <a:rPr dirty="0" sz="1000" spc="20" b="1">
                <a:solidFill>
                  <a:srgbClr val="073472"/>
                </a:solidFill>
                <a:latin typeface="Calibri"/>
                <a:cs typeface="Calibri"/>
              </a:rPr>
              <a:t> </a:t>
            </a:r>
            <a:r>
              <a:rPr dirty="0" sz="1000" spc="-25" b="1">
                <a:solidFill>
                  <a:srgbClr val="073472"/>
                </a:solidFill>
                <a:latin typeface="Calibri"/>
                <a:cs typeface="Calibri"/>
              </a:rPr>
              <a:t>IoT</a:t>
            </a:r>
            <a:endParaRPr sz="1000">
              <a:latin typeface="Calibri"/>
              <a:cs typeface="Calibri"/>
            </a:endParaRPr>
          </a:p>
          <a:p>
            <a:pPr algn="just" marL="180975" marR="236220">
              <a:lnSpc>
                <a:spcPct val="116100"/>
              </a:lnSpc>
              <a:spcBef>
                <a:spcPts val="160"/>
              </a:spcBef>
            </a:pP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Uma</a:t>
            </a:r>
            <a:r>
              <a:rPr dirty="0" sz="650" spc="32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questão</a:t>
            </a:r>
            <a:r>
              <a:rPr dirty="0" sz="650" spc="32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importante</a:t>
            </a:r>
            <a:r>
              <a:rPr dirty="0" sz="650" spc="32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para</a:t>
            </a:r>
            <a:r>
              <a:rPr dirty="0" sz="650" spc="32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viabilizar</a:t>
            </a:r>
            <a:r>
              <a:rPr dirty="0" sz="650" spc="34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a</a:t>
            </a:r>
            <a:r>
              <a:rPr dirty="0" sz="650" spc="33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utilização</a:t>
            </a:r>
            <a:r>
              <a:rPr dirty="0" sz="650" spc="32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dos</a:t>
            </a:r>
            <a:r>
              <a:rPr dirty="0" sz="650" spc="32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sistemas</a:t>
            </a:r>
            <a:r>
              <a:rPr dirty="0" sz="650" spc="34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 spc="-25">
                <a:solidFill>
                  <a:srgbClr val="262626"/>
                </a:solidFill>
                <a:latin typeface="Calibri"/>
                <a:cs typeface="Calibri"/>
              </a:rPr>
              <a:t>de</a:t>
            </a:r>
            <a:r>
              <a:rPr dirty="0" sz="650" spc="50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computação</a:t>
            </a:r>
            <a:r>
              <a:rPr dirty="0" sz="650" spc="11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em</a:t>
            </a:r>
            <a:r>
              <a:rPr dirty="0" sz="650" spc="114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nuvem</a:t>
            </a:r>
            <a:r>
              <a:rPr dirty="0" sz="650" spc="10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e</a:t>
            </a:r>
            <a:r>
              <a:rPr dirty="0" sz="650" spc="11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análise</a:t>
            </a:r>
            <a:r>
              <a:rPr dirty="0" sz="650" spc="9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dos</a:t>
            </a:r>
            <a:r>
              <a:rPr dirty="0" sz="650" spc="10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dados</a:t>
            </a:r>
            <a:r>
              <a:rPr dirty="0" sz="650" spc="114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é</a:t>
            </a:r>
            <a:r>
              <a:rPr dirty="0" sz="650" spc="11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a</a:t>
            </a:r>
            <a:r>
              <a:rPr dirty="0" sz="650" spc="10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escalabilidade.</a:t>
            </a:r>
            <a:r>
              <a:rPr dirty="0" sz="650" spc="10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Isso</a:t>
            </a:r>
            <a:r>
              <a:rPr dirty="0" sz="650" spc="9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 spc="-10">
                <a:solidFill>
                  <a:srgbClr val="262626"/>
                </a:solidFill>
                <a:latin typeface="Calibri"/>
                <a:cs typeface="Calibri"/>
              </a:rPr>
              <a:t>ocorre,</a:t>
            </a:r>
            <a:r>
              <a:rPr dirty="0" sz="650" spc="50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pois</a:t>
            </a:r>
            <a:r>
              <a:rPr dirty="0" sz="650" spc="1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a</a:t>
            </a:r>
            <a:r>
              <a:rPr dirty="0" sz="650" spc="1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IoT</a:t>
            </a:r>
            <a:r>
              <a:rPr dirty="0" sz="650" spc="1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pode</a:t>
            </a:r>
            <a:r>
              <a:rPr dirty="0" sz="650" spc="1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ser</a:t>
            </a:r>
            <a:r>
              <a:rPr dirty="0" sz="650" spc="1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composta</a:t>
            </a:r>
            <a:r>
              <a:rPr dirty="0" sz="650" spc="2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por</a:t>
            </a:r>
            <a:r>
              <a:rPr dirty="0" sz="650" spc="2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dezenas</a:t>
            </a:r>
            <a:r>
              <a:rPr dirty="0" sz="650" spc="3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ou</a:t>
            </a:r>
            <a:r>
              <a:rPr dirty="0" sz="650" spc="1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milhares</a:t>
            </a:r>
            <a:r>
              <a:rPr dirty="0" sz="650" spc="2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262626"/>
                </a:solidFill>
                <a:latin typeface="Calibri"/>
                <a:cs typeface="Calibri"/>
              </a:rPr>
              <a:t>de</a:t>
            </a:r>
            <a:r>
              <a:rPr dirty="0" sz="650" spc="1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650" spc="-10">
                <a:solidFill>
                  <a:srgbClr val="262626"/>
                </a:solidFill>
                <a:latin typeface="Calibri"/>
                <a:cs typeface="Calibri"/>
              </a:rPr>
              <a:t>dispositivos.</a:t>
            </a:r>
            <a:endParaRPr sz="6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6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6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6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6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6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650">
              <a:latin typeface="Calibri"/>
              <a:cs typeface="Calibri"/>
            </a:endParaRPr>
          </a:p>
          <a:p>
            <a:pPr marL="177800">
              <a:lnSpc>
                <a:spcPct val="100000"/>
              </a:lnSpc>
              <a:spcBef>
                <a:spcPts val="5"/>
              </a:spcBef>
              <a:tabLst>
                <a:tab pos="941705" algn="l"/>
                <a:tab pos="2930525" algn="l"/>
              </a:tabLst>
            </a:pPr>
            <a:r>
              <a:rPr dirty="0" u="sng" sz="300">
                <a:uFill>
                  <a:solidFill>
                    <a:srgbClr val="073472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300" spc="-10">
                <a:uFill>
                  <a:solidFill>
                    <a:srgbClr val="073472"/>
                  </a:solidFill>
                </a:uFill>
                <a:latin typeface="Calibri"/>
                <a:cs typeface="Calibri"/>
              </a:rPr>
              <a:t>Fonte:</a:t>
            </a:r>
            <a:r>
              <a:rPr dirty="0" u="sng" sz="300" spc="60">
                <a:uFill>
                  <a:solidFill>
                    <a:srgbClr val="073472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300" spc="-10">
                <a:uFill>
                  <a:solidFill>
                    <a:srgbClr val="073472"/>
                  </a:solidFill>
                </a:uFill>
                <a:latin typeface="Calibri"/>
                <a:cs typeface="Calibri"/>
              </a:rPr>
              <a:t>Curvello;</a:t>
            </a:r>
            <a:r>
              <a:rPr dirty="0" u="sng" sz="300" spc="40">
                <a:uFill>
                  <a:solidFill>
                    <a:srgbClr val="073472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300" spc="-10">
                <a:uFill>
                  <a:solidFill>
                    <a:srgbClr val="073472"/>
                  </a:solidFill>
                </a:uFill>
                <a:latin typeface="Calibri"/>
                <a:cs typeface="Calibri"/>
              </a:rPr>
              <a:t>Vieira</a:t>
            </a:r>
            <a:r>
              <a:rPr dirty="0" u="sng" sz="300" spc="40">
                <a:uFill>
                  <a:solidFill>
                    <a:srgbClr val="073472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300" spc="-10">
                <a:uFill>
                  <a:solidFill>
                    <a:srgbClr val="073472"/>
                  </a:solidFill>
                </a:uFill>
                <a:latin typeface="Calibri"/>
                <a:cs typeface="Calibri"/>
              </a:rPr>
              <a:t>(2019)</a:t>
            </a:r>
            <a:r>
              <a:rPr dirty="0" u="sng" sz="300">
                <a:uFill>
                  <a:solidFill>
                    <a:srgbClr val="073472"/>
                  </a:solidFill>
                </a:uFill>
                <a:latin typeface="Calibri"/>
                <a:cs typeface="Calibri"/>
              </a:rPr>
              <a:t>	</a:t>
            </a:r>
            <a:endParaRPr sz="3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4116323" y="8089152"/>
            <a:ext cx="2917190" cy="1224280"/>
            <a:chOff x="4116323" y="8089152"/>
            <a:chExt cx="2917190" cy="1224280"/>
          </a:xfrm>
        </p:grpSpPr>
        <p:sp>
          <p:nvSpPr>
            <p:cNvPr id="26" name="object 26"/>
            <p:cNvSpPr/>
            <p:nvPr/>
          </p:nvSpPr>
          <p:spPr>
            <a:xfrm>
              <a:off x="4116323" y="9070847"/>
              <a:ext cx="2752725" cy="0"/>
            </a:xfrm>
            <a:custGeom>
              <a:avLst/>
              <a:gdLst/>
              <a:ahLst/>
              <a:cxnLst/>
              <a:rect l="l" t="t" r="r" b="b"/>
              <a:pathLst>
                <a:path w="2752725" h="0">
                  <a:moveTo>
                    <a:pt x="0" y="0"/>
                  </a:moveTo>
                  <a:lnTo>
                    <a:pt x="2752343" y="0"/>
                  </a:lnTo>
                </a:path>
              </a:pathLst>
            </a:custGeom>
            <a:ln w="4572">
              <a:solidFill>
                <a:srgbClr val="07347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106667" y="8244839"/>
              <a:ext cx="926592" cy="1068324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211940" y="8089152"/>
              <a:ext cx="1799824" cy="798934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3938015" y="7577328"/>
            <a:ext cx="3088005" cy="1728470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endParaRPr sz="1000">
              <a:latin typeface="Times New Roman"/>
              <a:cs typeface="Times New Roman"/>
            </a:endParaRPr>
          </a:p>
          <a:p>
            <a:pPr marL="233045">
              <a:lnSpc>
                <a:spcPct val="100000"/>
              </a:lnSpc>
            </a:pPr>
            <a:r>
              <a:rPr dirty="0" sz="1000" b="1">
                <a:solidFill>
                  <a:srgbClr val="073472"/>
                </a:solidFill>
                <a:latin typeface="Calibri"/>
                <a:cs typeface="Calibri"/>
              </a:rPr>
              <a:t>Modelo</a:t>
            </a:r>
            <a:r>
              <a:rPr dirty="0" sz="1000" spc="15" b="1">
                <a:solidFill>
                  <a:srgbClr val="073472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073472"/>
                </a:solidFill>
                <a:latin typeface="Calibri"/>
                <a:cs typeface="Calibri"/>
              </a:rPr>
              <a:t>para</a:t>
            </a:r>
            <a:r>
              <a:rPr dirty="0" sz="1000" spc="25" b="1">
                <a:solidFill>
                  <a:srgbClr val="073472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073472"/>
                </a:solidFill>
                <a:latin typeface="Calibri"/>
                <a:cs typeface="Calibri"/>
              </a:rPr>
              <a:t>a</a:t>
            </a:r>
            <a:r>
              <a:rPr dirty="0" sz="1000" spc="45" b="1">
                <a:solidFill>
                  <a:srgbClr val="073472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073472"/>
                </a:solidFill>
                <a:latin typeface="Calibri"/>
                <a:cs typeface="Calibri"/>
              </a:rPr>
              <a:t>análise</a:t>
            </a:r>
            <a:r>
              <a:rPr dirty="0" sz="1000" spc="15" b="1">
                <a:solidFill>
                  <a:srgbClr val="073472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073472"/>
                </a:solidFill>
                <a:latin typeface="Calibri"/>
                <a:cs typeface="Calibri"/>
              </a:rPr>
              <a:t>dos</a:t>
            </a:r>
            <a:r>
              <a:rPr dirty="0" sz="1000" spc="30" b="1">
                <a:solidFill>
                  <a:srgbClr val="073472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073472"/>
                </a:solidFill>
                <a:latin typeface="Calibri"/>
                <a:cs typeface="Calibri"/>
              </a:rPr>
              <a:t>dados</a:t>
            </a:r>
            <a:r>
              <a:rPr dirty="0" sz="1000" spc="20" b="1">
                <a:solidFill>
                  <a:srgbClr val="073472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073472"/>
                </a:solidFill>
                <a:latin typeface="Calibri"/>
                <a:cs typeface="Calibri"/>
              </a:rPr>
              <a:t>da</a:t>
            </a:r>
            <a:r>
              <a:rPr dirty="0" sz="1000" spc="5" b="1">
                <a:solidFill>
                  <a:srgbClr val="073472"/>
                </a:solidFill>
                <a:latin typeface="Calibri"/>
                <a:cs typeface="Calibri"/>
              </a:rPr>
              <a:t> </a:t>
            </a:r>
            <a:r>
              <a:rPr dirty="0" sz="1000" spc="-25" b="1">
                <a:solidFill>
                  <a:srgbClr val="073472"/>
                </a:solidFill>
                <a:latin typeface="Calibri"/>
                <a:cs typeface="Calibri"/>
              </a:rPr>
              <a:t>IoT</a:t>
            </a: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1000">
              <a:latin typeface="Calibri"/>
              <a:cs typeface="Calibri"/>
            </a:endParaRPr>
          </a:p>
          <a:p>
            <a:pPr marL="942975">
              <a:lnSpc>
                <a:spcPct val="100000"/>
              </a:lnSpc>
            </a:pPr>
            <a:r>
              <a:rPr dirty="0" sz="300" spc="-10">
                <a:latin typeface="Calibri"/>
                <a:cs typeface="Calibri"/>
              </a:rPr>
              <a:t>Fonte:</a:t>
            </a:r>
            <a:r>
              <a:rPr dirty="0" sz="300" spc="60">
                <a:latin typeface="Calibri"/>
                <a:cs typeface="Calibri"/>
              </a:rPr>
              <a:t> </a:t>
            </a:r>
            <a:r>
              <a:rPr dirty="0" sz="300" spc="-10">
                <a:latin typeface="Calibri"/>
                <a:cs typeface="Calibri"/>
              </a:rPr>
              <a:t>Curvello;</a:t>
            </a:r>
            <a:r>
              <a:rPr dirty="0" sz="300" spc="40">
                <a:latin typeface="Calibri"/>
                <a:cs typeface="Calibri"/>
              </a:rPr>
              <a:t> </a:t>
            </a:r>
            <a:r>
              <a:rPr dirty="0" sz="300" spc="-10">
                <a:latin typeface="Calibri"/>
                <a:cs typeface="Calibri"/>
              </a:rPr>
              <a:t>Vieira</a:t>
            </a:r>
            <a:r>
              <a:rPr dirty="0" sz="300" spc="40">
                <a:latin typeface="Calibri"/>
                <a:cs typeface="Calibri"/>
              </a:rPr>
              <a:t> </a:t>
            </a:r>
            <a:r>
              <a:rPr dirty="0" sz="300" spc="-10">
                <a:latin typeface="Calibri"/>
                <a:cs typeface="Calibri"/>
              </a:rPr>
              <a:t>(2019)</a:t>
            </a:r>
            <a:endParaRPr sz="3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16162" y="9378120"/>
            <a:ext cx="168275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 sz="1100" spc="-25">
                <a:solidFill>
                  <a:srgbClr val="262626"/>
                </a:solidFill>
                <a:latin typeface="Calibri"/>
                <a:cs typeface="Calibri"/>
              </a:rPr>
              <a:t>29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920421" y="9378120"/>
            <a:ext cx="168275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 sz="1100" spc="-25">
                <a:solidFill>
                  <a:srgbClr val="262626"/>
                </a:solidFill>
                <a:latin typeface="Calibri"/>
                <a:cs typeface="Calibri"/>
              </a:rPr>
              <a:t>30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16162" y="3145004"/>
            <a:ext cx="168275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25">
                <a:solidFill>
                  <a:srgbClr val="262626"/>
                </a:solidFill>
                <a:latin typeface="Calibri"/>
                <a:cs typeface="Calibri"/>
              </a:rPr>
              <a:t>25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920421" y="3145004"/>
            <a:ext cx="168275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25">
                <a:solidFill>
                  <a:srgbClr val="262626"/>
                </a:solidFill>
                <a:latin typeface="Calibri"/>
                <a:cs typeface="Calibri"/>
              </a:rPr>
              <a:t>26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16162" y="6244806"/>
            <a:ext cx="168275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25">
                <a:solidFill>
                  <a:srgbClr val="262626"/>
                </a:solidFill>
                <a:latin typeface="Calibri"/>
                <a:cs typeface="Calibri"/>
              </a:rPr>
              <a:t>27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920421" y="6244806"/>
            <a:ext cx="168275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25">
                <a:solidFill>
                  <a:srgbClr val="262626"/>
                </a:solidFill>
                <a:latin typeface="Calibri"/>
                <a:cs typeface="Calibri"/>
              </a:rPr>
              <a:t>28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9354" y="1899287"/>
            <a:ext cx="1871166" cy="82309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34923" y="1379219"/>
            <a:ext cx="3086100" cy="1729739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wrap="square" lIns="0" tIns="1778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40"/>
              </a:spcBef>
            </a:pPr>
            <a:endParaRPr sz="1000">
              <a:latin typeface="Times New Roman"/>
              <a:cs typeface="Times New Roman"/>
            </a:endParaRPr>
          </a:p>
          <a:p>
            <a:pPr marL="229870">
              <a:lnSpc>
                <a:spcPct val="100000"/>
              </a:lnSpc>
            </a:pPr>
            <a:r>
              <a:rPr dirty="0" sz="1000" b="1">
                <a:solidFill>
                  <a:srgbClr val="073472"/>
                </a:solidFill>
                <a:latin typeface="Calibri"/>
                <a:cs typeface="Calibri"/>
              </a:rPr>
              <a:t>Armazém</a:t>
            </a:r>
            <a:r>
              <a:rPr dirty="0" sz="1000" spc="35" b="1">
                <a:solidFill>
                  <a:srgbClr val="073472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073472"/>
                </a:solidFill>
                <a:latin typeface="Calibri"/>
                <a:cs typeface="Calibri"/>
              </a:rPr>
              <a:t>e</a:t>
            </a:r>
            <a:r>
              <a:rPr dirty="0" sz="1000" spc="40" b="1">
                <a:solidFill>
                  <a:srgbClr val="073472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073472"/>
                </a:solidFill>
                <a:latin typeface="Calibri"/>
                <a:cs typeface="Calibri"/>
              </a:rPr>
              <a:t>mineração</a:t>
            </a:r>
            <a:r>
              <a:rPr dirty="0" sz="1000" spc="35" b="1">
                <a:solidFill>
                  <a:srgbClr val="073472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073472"/>
                </a:solidFill>
                <a:latin typeface="Calibri"/>
                <a:cs typeface="Calibri"/>
              </a:rPr>
              <a:t>de</a:t>
            </a:r>
            <a:r>
              <a:rPr dirty="0" sz="1000" spc="20" b="1">
                <a:solidFill>
                  <a:srgbClr val="073472"/>
                </a:solidFill>
                <a:latin typeface="Calibri"/>
                <a:cs typeface="Calibri"/>
              </a:rPr>
              <a:t> </a:t>
            </a:r>
            <a:r>
              <a:rPr dirty="0" sz="1000" spc="-20" b="1">
                <a:solidFill>
                  <a:srgbClr val="073472"/>
                </a:solidFill>
                <a:latin typeface="Calibri"/>
                <a:cs typeface="Calibri"/>
              </a:rPr>
              <a:t>dados</a:t>
            </a: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05"/>
              </a:spcBef>
            </a:pPr>
            <a:endParaRPr sz="1000">
              <a:latin typeface="Calibri"/>
              <a:cs typeface="Calibri"/>
            </a:endParaRPr>
          </a:p>
          <a:p>
            <a:pPr marL="937260">
              <a:lnSpc>
                <a:spcPct val="100000"/>
              </a:lnSpc>
            </a:pPr>
            <a:r>
              <a:rPr dirty="0" sz="300" spc="-10">
                <a:latin typeface="Calibri"/>
                <a:cs typeface="Calibri"/>
              </a:rPr>
              <a:t>Fonte:</a:t>
            </a:r>
            <a:r>
              <a:rPr dirty="0" sz="300" spc="60">
                <a:latin typeface="Calibri"/>
                <a:cs typeface="Calibri"/>
              </a:rPr>
              <a:t> </a:t>
            </a:r>
            <a:r>
              <a:rPr dirty="0" sz="300" spc="-10">
                <a:latin typeface="Calibri"/>
                <a:cs typeface="Calibri"/>
              </a:rPr>
              <a:t>Curvello;</a:t>
            </a:r>
            <a:r>
              <a:rPr dirty="0" sz="300" spc="40">
                <a:latin typeface="Calibri"/>
                <a:cs typeface="Calibri"/>
              </a:rPr>
              <a:t> </a:t>
            </a:r>
            <a:r>
              <a:rPr dirty="0" sz="300" spc="-10">
                <a:latin typeface="Calibri"/>
                <a:cs typeface="Calibri"/>
              </a:rPr>
              <a:t>Vieira</a:t>
            </a:r>
            <a:r>
              <a:rPr dirty="0" sz="300" spc="40">
                <a:latin typeface="Calibri"/>
                <a:cs typeface="Calibri"/>
              </a:rPr>
              <a:t> </a:t>
            </a:r>
            <a:r>
              <a:rPr dirty="0" sz="300" spc="-10">
                <a:latin typeface="Calibri"/>
                <a:cs typeface="Calibri"/>
              </a:rPr>
              <a:t>(2019)</a:t>
            </a:r>
            <a:endParaRPr sz="3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116323" y="1767840"/>
            <a:ext cx="2917190" cy="1348740"/>
            <a:chOff x="4116323" y="1767840"/>
            <a:chExt cx="2917190" cy="1348740"/>
          </a:xfrm>
        </p:grpSpPr>
        <p:sp>
          <p:nvSpPr>
            <p:cNvPr id="5" name="object 5"/>
            <p:cNvSpPr/>
            <p:nvPr/>
          </p:nvSpPr>
          <p:spPr>
            <a:xfrm>
              <a:off x="4116323" y="2872740"/>
              <a:ext cx="2752725" cy="0"/>
            </a:xfrm>
            <a:custGeom>
              <a:avLst/>
              <a:gdLst/>
              <a:ahLst/>
              <a:cxnLst/>
              <a:rect l="l" t="t" r="r" b="b"/>
              <a:pathLst>
                <a:path w="2752725" h="0">
                  <a:moveTo>
                    <a:pt x="0" y="0"/>
                  </a:moveTo>
                  <a:lnTo>
                    <a:pt x="2752343" y="0"/>
                  </a:lnTo>
                </a:path>
              </a:pathLst>
            </a:custGeom>
            <a:ln w="4572">
              <a:solidFill>
                <a:srgbClr val="07347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06667" y="2046732"/>
              <a:ext cx="926592" cy="106984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14648" y="1767840"/>
              <a:ext cx="1161517" cy="108331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3938015" y="1379219"/>
            <a:ext cx="3088005" cy="1729739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wrap="square" lIns="0" tIns="1778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40"/>
              </a:spcBef>
            </a:pPr>
            <a:endParaRPr sz="1000">
              <a:latin typeface="Times New Roman"/>
              <a:cs typeface="Times New Roman"/>
            </a:endParaRPr>
          </a:p>
          <a:p>
            <a:pPr marL="233045">
              <a:lnSpc>
                <a:spcPct val="100000"/>
              </a:lnSpc>
            </a:pPr>
            <a:r>
              <a:rPr dirty="0" sz="1000" b="1">
                <a:solidFill>
                  <a:srgbClr val="073472"/>
                </a:solidFill>
                <a:latin typeface="Calibri"/>
                <a:cs typeface="Calibri"/>
              </a:rPr>
              <a:t>Etapas</a:t>
            </a:r>
            <a:r>
              <a:rPr dirty="0" sz="1000" spc="35" b="1">
                <a:solidFill>
                  <a:srgbClr val="073472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073472"/>
                </a:solidFill>
                <a:latin typeface="Calibri"/>
                <a:cs typeface="Calibri"/>
              </a:rPr>
              <a:t>para</a:t>
            </a:r>
            <a:r>
              <a:rPr dirty="0" sz="1000" spc="35" b="1">
                <a:solidFill>
                  <a:srgbClr val="073472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073472"/>
                </a:solidFill>
                <a:latin typeface="Calibri"/>
                <a:cs typeface="Calibri"/>
              </a:rPr>
              <a:t>construção</a:t>
            </a:r>
            <a:r>
              <a:rPr dirty="0" sz="1000" spc="10" b="1">
                <a:solidFill>
                  <a:srgbClr val="073472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073472"/>
                </a:solidFill>
                <a:latin typeface="Calibri"/>
                <a:cs typeface="Calibri"/>
              </a:rPr>
              <a:t>de</a:t>
            </a:r>
            <a:r>
              <a:rPr dirty="0" sz="1000" spc="10" b="1">
                <a:solidFill>
                  <a:srgbClr val="073472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073472"/>
                </a:solidFill>
                <a:latin typeface="Calibri"/>
                <a:cs typeface="Calibri"/>
              </a:rPr>
              <a:t>equip.</a:t>
            </a:r>
            <a:r>
              <a:rPr dirty="0" sz="1000" spc="25" b="1">
                <a:solidFill>
                  <a:srgbClr val="073472"/>
                </a:solidFill>
                <a:latin typeface="Calibri"/>
                <a:cs typeface="Calibri"/>
              </a:rPr>
              <a:t> </a:t>
            </a:r>
            <a:r>
              <a:rPr dirty="0" sz="1000" spc="-10" b="1">
                <a:solidFill>
                  <a:srgbClr val="073472"/>
                </a:solidFill>
                <a:latin typeface="Calibri"/>
                <a:cs typeface="Calibri"/>
              </a:rPr>
              <a:t>inteligente</a:t>
            </a:r>
            <a:endParaRPr sz="1000">
              <a:latin typeface="Calibri"/>
              <a:cs typeface="Calibri"/>
            </a:endParaRPr>
          </a:p>
          <a:p>
            <a:pPr algn="just" marL="1590675" marR="75565">
              <a:lnSpc>
                <a:spcPct val="101899"/>
              </a:lnSpc>
              <a:spcBef>
                <a:spcPts val="310"/>
              </a:spcBef>
            </a:pPr>
            <a:r>
              <a:rPr dirty="0" sz="650">
                <a:latin typeface="Calibri"/>
                <a:cs typeface="Calibri"/>
              </a:rPr>
              <a:t>A</a:t>
            </a:r>
            <a:r>
              <a:rPr dirty="0" sz="650" spc="44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figura</a:t>
            </a:r>
            <a:r>
              <a:rPr dirty="0" sz="650" spc="45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apresenta</a:t>
            </a:r>
            <a:r>
              <a:rPr dirty="0" sz="650" spc="459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um</a:t>
            </a:r>
            <a:r>
              <a:rPr dirty="0" sz="650" spc="459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modelo</a:t>
            </a:r>
            <a:r>
              <a:rPr dirty="0" sz="650" spc="459">
                <a:latin typeface="Calibri"/>
                <a:cs typeface="Calibri"/>
              </a:rPr>
              <a:t> </a:t>
            </a:r>
            <a:r>
              <a:rPr dirty="0" sz="650" spc="-25">
                <a:latin typeface="Calibri"/>
                <a:cs typeface="Calibri"/>
              </a:rPr>
              <a:t>de</a:t>
            </a:r>
            <a:r>
              <a:rPr dirty="0" sz="650" spc="50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protótipo</a:t>
            </a:r>
            <a:r>
              <a:rPr dirty="0" sz="650" spc="29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para</a:t>
            </a:r>
            <a:r>
              <a:rPr dirty="0" sz="650" spc="31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o</a:t>
            </a:r>
            <a:r>
              <a:rPr dirty="0" sz="650" spc="31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desenvolvimento</a:t>
            </a:r>
            <a:r>
              <a:rPr dirty="0" sz="650" spc="310">
                <a:latin typeface="Calibri"/>
                <a:cs typeface="Calibri"/>
              </a:rPr>
              <a:t> </a:t>
            </a:r>
            <a:r>
              <a:rPr dirty="0" sz="650" spc="-25">
                <a:latin typeface="Calibri"/>
                <a:cs typeface="Calibri"/>
              </a:rPr>
              <a:t>do</a:t>
            </a:r>
            <a:r>
              <a:rPr dirty="0" sz="650" spc="50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instrumento</a:t>
            </a:r>
            <a:r>
              <a:rPr dirty="0" sz="650" spc="190">
                <a:latin typeface="Calibri"/>
                <a:cs typeface="Calibri"/>
              </a:rPr>
              <a:t>  </a:t>
            </a:r>
            <a:r>
              <a:rPr dirty="0" sz="650">
                <a:latin typeface="Calibri"/>
                <a:cs typeface="Calibri"/>
              </a:rPr>
              <a:t>inteligente</a:t>
            </a:r>
            <a:r>
              <a:rPr dirty="0" sz="650" spc="195">
                <a:latin typeface="Calibri"/>
                <a:cs typeface="Calibri"/>
              </a:rPr>
              <a:t>  </a:t>
            </a:r>
            <a:r>
              <a:rPr dirty="0" sz="650">
                <a:latin typeface="Calibri"/>
                <a:cs typeface="Calibri"/>
              </a:rPr>
              <a:t>utilizando</a:t>
            </a:r>
            <a:r>
              <a:rPr dirty="0" sz="650" spc="195">
                <a:latin typeface="Calibri"/>
                <a:cs typeface="Calibri"/>
              </a:rPr>
              <a:t>  </a:t>
            </a:r>
            <a:r>
              <a:rPr dirty="0" sz="650" spc="-50">
                <a:latin typeface="Calibri"/>
                <a:cs typeface="Calibri"/>
              </a:rPr>
              <a:t>o</a:t>
            </a:r>
            <a:r>
              <a:rPr dirty="0" sz="650" spc="50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Raspberry</a:t>
            </a:r>
            <a:r>
              <a:rPr dirty="0" sz="650" spc="12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Pi</a:t>
            </a:r>
            <a:r>
              <a:rPr dirty="0" sz="650" spc="11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e</a:t>
            </a:r>
            <a:r>
              <a:rPr dirty="0" sz="650" spc="114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o</a:t>
            </a:r>
            <a:r>
              <a:rPr dirty="0" sz="650" spc="10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esquema</a:t>
            </a:r>
            <a:r>
              <a:rPr dirty="0" sz="650" spc="9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para</a:t>
            </a:r>
            <a:r>
              <a:rPr dirty="0" sz="650" spc="105">
                <a:latin typeface="Calibri"/>
                <a:cs typeface="Calibri"/>
              </a:rPr>
              <a:t> </a:t>
            </a:r>
            <a:r>
              <a:rPr dirty="0" sz="650" spc="-10">
                <a:latin typeface="Calibri"/>
                <a:cs typeface="Calibri"/>
              </a:rPr>
              <a:t>geração</a:t>
            </a:r>
            <a:r>
              <a:rPr dirty="0" sz="650" spc="50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de</a:t>
            </a:r>
            <a:r>
              <a:rPr dirty="0" sz="650" spc="-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valor</a:t>
            </a:r>
            <a:r>
              <a:rPr dirty="0" sz="650" spc="1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através</a:t>
            </a:r>
            <a:r>
              <a:rPr dirty="0" sz="650" spc="5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desse</a:t>
            </a:r>
            <a:r>
              <a:rPr dirty="0" sz="650" spc="-5">
                <a:latin typeface="Calibri"/>
                <a:cs typeface="Calibri"/>
              </a:rPr>
              <a:t> </a:t>
            </a:r>
            <a:r>
              <a:rPr dirty="0" sz="650" spc="-10">
                <a:latin typeface="Calibri"/>
                <a:cs typeface="Calibri"/>
              </a:rPr>
              <a:t>instrumento.</a:t>
            </a:r>
            <a:endParaRPr sz="6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6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6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6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6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0"/>
              </a:spcBef>
            </a:pPr>
            <a:endParaRPr sz="650">
              <a:latin typeface="Calibri"/>
              <a:cs typeface="Calibri"/>
            </a:endParaRPr>
          </a:p>
          <a:p>
            <a:pPr algn="just" marL="1534160">
              <a:lnSpc>
                <a:spcPct val="100000"/>
              </a:lnSpc>
            </a:pPr>
            <a:r>
              <a:rPr dirty="0" sz="300" spc="-10">
                <a:latin typeface="Calibri"/>
                <a:cs typeface="Calibri"/>
              </a:rPr>
              <a:t>Fonte:</a:t>
            </a:r>
            <a:r>
              <a:rPr dirty="0" sz="300" spc="60">
                <a:latin typeface="Calibri"/>
                <a:cs typeface="Calibri"/>
              </a:rPr>
              <a:t> </a:t>
            </a:r>
            <a:r>
              <a:rPr dirty="0" sz="300" spc="-10">
                <a:latin typeface="Calibri"/>
                <a:cs typeface="Calibri"/>
              </a:rPr>
              <a:t>Curvello;</a:t>
            </a:r>
            <a:r>
              <a:rPr dirty="0" sz="300" spc="40">
                <a:latin typeface="Calibri"/>
                <a:cs typeface="Calibri"/>
              </a:rPr>
              <a:t> </a:t>
            </a:r>
            <a:r>
              <a:rPr dirty="0" sz="300" spc="-10">
                <a:latin typeface="Calibri"/>
                <a:cs typeface="Calibri"/>
              </a:rPr>
              <a:t>Vieira</a:t>
            </a:r>
            <a:r>
              <a:rPr dirty="0" sz="300" spc="40">
                <a:latin typeface="Calibri"/>
                <a:cs typeface="Calibri"/>
              </a:rPr>
              <a:t> </a:t>
            </a:r>
            <a:r>
              <a:rPr dirty="0" sz="300" spc="-10">
                <a:latin typeface="Calibri"/>
                <a:cs typeface="Calibri"/>
              </a:rPr>
              <a:t>(2019)</a:t>
            </a:r>
            <a:endParaRPr sz="3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28827" y="4471415"/>
            <a:ext cx="3100070" cy="1743710"/>
            <a:chOff x="528827" y="4471415"/>
            <a:chExt cx="3100070" cy="1743710"/>
          </a:xfrm>
        </p:grpSpPr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8827" y="4471415"/>
              <a:ext cx="3099815" cy="174345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713231" y="5954267"/>
              <a:ext cx="2752725" cy="0"/>
            </a:xfrm>
            <a:custGeom>
              <a:avLst/>
              <a:gdLst/>
              <a:ahLst/>
              <a:cxnLst/>
              <a:rect l="l" t="t" r="r" b="b"/>
              <a:pathLst>
                <a:path w="2752725" h="0">
                  <a:moveTo>
                    <a:pt x="0" y="0"/>
                  </a:moveTo>
                  <a:lnTo>
                    <a:pt x="2752343" y="0"/>
                  </a:lnTo>
                </a:path>
              </a:pathLst>
            </a:custGeom>
            <a:ln w="4572">
              <a:solidFill>
                <a:srgbClr val="07347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494788" y="4471415"/>
              <a:ext cx="1133855" cy="118871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713231" y="5954267"/>
              <a:ext cx="2752725" cy="0"/>
            </a:xfrm>
            <a:custGeom>
              <a:avLst/>
              <a:gdLst/>
              <a:ahLst/>
              <a:cxnLst/>
              <a:rect l="l" t="t" r="r" b="b"/>
              <a:pathLst>
                <a:path w="2752725" h="0">
                  <a:moveTo>
                    <a:pt x="0" y="0"/>
                  </a:moveTo>
                  <a:lnTo>
                    <a:pt x="2752343" y="0"/>
                  </a:lnTo>
                </a:path>
              </a:pathLst>
            </a:custGeom>
            <a:ln w="457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03575" y="5145023"/>
              <a:ext cx="925067" cy="1069847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534923" y="4477511"/>
            <a:ext cx="3086100" cy="1729739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wrap="square" lIns="0" tIns="4508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55"/>
              </a:spcBef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tabLst>
                <a:tab pos="278765" algn="l"/>
                <a:tab pos="935355" algn="l"/>
              </a:tabLst>
            </a:pPr>
            <a:r>
              <a:rPr dirty="0" u="sng" sz="900">
                <a:solidFill>
                  <a:srgbClr val="073472"/>
                </a:solidFill>
                <a:uFill>
                  <a:solidFill>
                    <a:srgbClr val="073472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900" spc="-10">
                <a:solidFill>
                  <a:srgbClr val="073472"/>
                </a:solidFill>
                <a:uFill>
                  <a:solidFill>
                    <a:srgbClr val="073472"/>
                  </a:solidFill>
                </a:uFill>
                <a:latin typeface="Calibri"/>
                <a:cs typeface="Calibri"/>
              </a:rPr>
              <a:t>Conceitos</a:t>
            </a:r>
            <a:r>
              <a:rPr dirty="0" u="sng" sz="900">
                <a:solidFill>
                  <a:srgbClr val="073472"/>
                </a:solidFill>
                <a:uFill>
                  <a:solidFill>
                    <a:srgbClr val="073472"/>
                  </a:solidFill>
                </a:uFill>
                <a:latin typeface="Calibri"/>
                <a:cs typeface="Calibri"/>
              </a:rPr>
              <a:t>	</a:t>
            </a:r>
            <a:endParaRPr sz="900">
              <a:latin typeface="Calibri"/>
              <a:cs typeface="Calibri"/>
            </a:endParaRPr>
          </a:p>
          <a:p>
            <a:pPr marL="307340">
              <a:lnSpc>
                <a:spcPct val="100000"/>
              </a:lnSpc>
              <a:spcBef>
                <a:spcPts val="990"/>
              </a:spcBef>
            </a:pPr>
            <a:r>
              <a:rPr dirty="0" sz="1650" spc="-10" b="1">
                <a:solidFill>
                  <a:srgbClr val="262626"/>
                </a:solidFill>
                <a:latin typeface="Calibri"/>
                <a:cs typeface="Calibri"/>
              </a:rPr>
              <a:t>Recapitulando</a:t>
            </a:r>
            <a:endParaRPr sz="165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116323" y="5145023"/>
            <a:ext cx="2917190" cy="1069975"/>
            <a:chOff x="4116323" y="5145023"/>
            <a:chExt cx="2917190" cy="1069975"/>
          </a:xfrm>
        </p:grpSpPr>
        <p:sp>
          <p:nvSpPr>
            <p:cNvPr id="17" name="object 17"/>
            <p:cNvSpPr/>
            <p:nvPr/>
          </p:nvSpPr>
          <p:spPr>
            <a:xfrm>
              <a:off x="4116323" y="5971032"/>
              <a:ext cx="2752725" cy="0"/>
            </a:xfrm>
            <a:custGeom>
              <a:avLst/>
              <a:gdLst/>
              <a:ahLst/>
              <a:cxnLst/>
              <a:rect l="l" t="t" r="r" b="b"/>
              <a:pathLst>
                <a:path w="2752725" h="0">
                  <a:moveTo>
                    <a:pt x="0" y="0"/>
                  </a:moveTo>
                  <a:lnTo>
                    <a:pt x="2752343" y="0"/>
                  </a:lnTo>
                </a:path>
              </a:pathLst>
            </a:custGeom>
            <a:ln w="4572">
              <a:solidFill>
                <a:srgbClr val="07347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106667" y="5145023"/>
              <a:ext cx="926592" cy="1069847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3938015" y="4477511"/>
            <a:ext cx="3088005" cy="1729739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wrap="square" lIns="0" tIns="1778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40"/>
              </a:spcBef>
            </a:pPr>
            <a:endParaRPr sz="1000">
              <a:latin typeface="Times New Roman"/>
              <a:cs typeface="Times New Roman"/>
            </a:endParaRPr>
          </a:p>
          <a:p>
            <a:pPr marL="233045">
              <a:lnSpc>
                <a:spcPct val="100000"/>
              </a:lnSpc>
            </a:pPr>
            <a:r>
              <a:rPr dirty="0" sz="1000" spc="-10" b="1">
                <a:solidFill>
                  <a:srgbClr val="073472"/>
                </a:solidFill>
                <a:latin typeface="Calibri"/>
                <a:cs typeface="Calibri"/>
              </a:rPr>
              <a:t>Recapitulando</a:t>
            </a: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90"/>
              </a:spcBef>
            </a:pPr>
            <a:endParaRPr sz="1000">
              <a:latin typeface="Calibri"/>
              <a:cs typeface="Calibri"/>
            </a:endParaRPr>
          </a:p>
          <a:p>
            <a:pPr marL="352425" indent="-119380">
              <a:lnSpc>
                <a:spcPct val="100000"/>
              </a:lnSpc>
              <a:buChar char="-"/>
              <a:tabLst>
                <a:tab pos="352425" algn="l"/>
              </a:tabLst>
            </a:pPr>
            <a:r>
              <a:rPr dirty="0" sz="700" spc="-10">
                <a:solidFill>
                  <a:srgbClr val="262626"/>
                </a:solidFill>
                <a:latin typeface="Calibri"/>
                <a:cs typeface="Calibri"/>
              </a:rPr>
              <a:t>Tecnologia</a:t>
            </a:r>
            <a:r>
              <a:rPr dirty="0" sz="700">
                <a:solidFill>
                  <a:srgbClr val="262626"/>
                </a:solidFill>
                <a:latin typeface="Calibri"/>
                <a:cs typeface="Calibri"/>
              </a:rPr>
              <a:t> da</a:t>
            </a:r>
            <a:r>
              <a:rPr dirty="0" sz="700" spc="1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262626"/>
                </a:solidFill>
                <a:latin typeface="Calibri"/>
                <a:cs typeface="Calibri"/>
              </a:rPr>
              <a:t>computação</a:t>
            </a:r>
            <a:r>
              <a:rPr dirty="0" sz="700" spc="2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262626"/>
                </a:solidFill>
                <a:latin typeface="Calibri"/>
                <a:cs typeface="Calibri"/>
              </a:rPr>
              <a:t>em</a:t>
            </a:r>
            <a:r>
              <a:rPr dirty="0" sz="700" spc="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262626"/>
                </a:solidFill>
                <a:latin typeface="Calibri"/>
                <a:cs typeface="Calibri"/>
              </a:rPr>
              <a:t>nuvem</a:t>
            </a:r>
            <a:r>
              <a:rPr dirty="0" sz="700" spc="2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262626"/>
                </a:solidFill>
                <a:latin typeface="Calibri"/>
                <a:cs typeface="Calibri"/>
              </a:rPr>
              <a:t>e </a:t>
            </a:r>
            <a:r>
              <a:rPr dirty="0" sz="700" spc="-20">
                <a:solidFill>
                  <a:srgbClr val="262626"/>
                </a:solidFill>
                <a:latin typeface="Calibri"/>
                <a:cs typeface="Calibri"/>
              </a:rPr>
              <a:t>IoT;</a:t>
            </a:r>
            <a:endParaRPr sz="700">
              <a:latin typeface="Calibri"/>
              <a:cs typeface="Calibri"/>
            </a:endParaRPr>
          </a:p>
          <a:p>
            <a:pPr marL="352425" indent="-119380">
              <a:lnSpc>
                <a:spcPct val="100000"/>
              </a:lnSpc>
              <a:spcBef>
                <a:spcPts val="600"/>
              </a:spcBef>
              <a:buChar char="-"/>
              <a:tabLst>
                <a:tab pos="352425" algn="l"/>
              </a:tabLst>
            </a:pPr>
            <a:r>
              <a:rPr dirty="0" sz="700">
                <a:solidFill>
                  <a:srgbClr val="262626"/>
                </a:solidFill>
                <a:latin typeface="Calibri"/>
                <a:cs typeface="Calibri"/>
              </a:rPr>
              <a:t>O</a:t>
            </a:r>
            <a:r>
              <a:rPr dirty="0" sz="700" spc="-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262626"/>
                </a:solidFill>
                <a:latin typeface="Calibri"/>
                <a:cs typeface="Calibri"/>
              </a:rPr>
              <a:t>Raspberry</a:t>
            </a:r>
            <a:r>
              <a:rPr dirty="0" sz="700" spc="2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262626"/>
                </a:solidFill>
                <a:latin typeface="Calibri"/>
                <a:cs typeface="Calibri"/>
              </a:rPr>
              <a:t>Pi</a:t>
            </a:r>
            <a:r>
              <a:rPr dirty="0" sz="700" spc="1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262626"/>
                </a:solidFill>
                <a:latin typeface="Calibri"/>
                <a:cs typeface="Calibri"/>
              </a:rPr>
              <a:t>e a</a:t>
            </a:r>
            <a:r>
              <a:rPr dirty="0" sz="700" spc="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700" spc="-20">
                <a:solidFill>
                  <a:srgbClr val="262626"/>
                </a:solidFill>
                <a:latin typeface="Calibri"/>
                <a:cs typeface="Calibri"/>
              </a:rPr>
              <a:t>IoT;</a:t>
            </a:r>
            <a:endParaRPr sz="700">
              <a:latin typeface="Calibri"/>
              <a:cs typeface="Calibri"/>
            </a:endParaRPr>
          </a:p>
          <a:p>
            <a:pPr marL="352425" indent="-119380">
              <a:lnSpc>
                <a:spcPct val="100000"/>
              </a:lnSpc>
              <a:spcBef>
                <a:spcPts val="600"/>
              </a:spcBef>
              <a:buChar char="-"/>
              <a:tabLst>
                <a:tab pos="352425" algn="l"/>
              </a:tabLst>
            </a:pPr>
            <a:r>
              <a:rPr dirty="0" sz="700">
                <a:solidFill>
                  <a:srgbClr val="262626"/>
                </a:solidFill>
                <a:latin typeface="Calibri"/>
                <a:cs typeface="Calibri"/>
              </a:rPr>
              <a:t>Computação</a:t>
            </a:r>
            <a:r>
              <a:rPr dirty="0" sz="700" spc="2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262626"/>
                </a:solidFill>
                <a:latin typeface="Calibri"/>
                <a:cs typeface="Calibri"/>
              </a:rPr>
              <a:t>em nuvem</a:t>
            </a:r>
            <a:r>
              <a:rPr dirty="0" sz="700" spc="1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262626"/>
                </a:solidFill>
                <a:latin typeface="Calibri"/>
                <a:cs typeface="Calibri"/>
              </a:rPr>
              <a:t>e</a:t>
            </a:r>
            <a:r>
              <a:rPr dirty="0" sz="700" spc="-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262626"/>
                </a:solidFill>
                <a:latin typeface="Calibri"/>
                <a:cs typeface="Calibri"/>
              </a:rPr>
              <a:t>a</a:t>
            </a:r>
            <a:r>
              <a:rPr dirty="0" sz="700" spc="-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700" spc="-20">
                <a:solidFill>
                  <a:srgbClr val="262626"/>
                </a:solidFill>
                <a:latin typeface="Calibri"/>
                <a:cs typeface="Calibri"/>
              </a:rPr>
              <a:t>IoT;</a:t>
            </a:r>
            <a:endParaRPr sz="700">
              <a:latin typeface="Calibri"/>
              <a:cs typeface="Calibri"/>
            </a:endParaRPr>
          </a:p>
          <a:p>
            <a:pPr marL="352425" indent="-119380">
              <a:lnSpc>
                <a:spcPct val="100000"/>
              </a:lnSpc>
              <a:spcBef>
                <a:spcPts val="600"/>
              </a:spcBef>
              <a:buChar char="-"/>
              <a:tabLst>
                <a:tab pos="352425" algn="l"/>
              </a:tabLst>
            </a:pPr>
            <a:r>
              <a:rPr dirty="0" sz="700" spc="-10">
                <a:solidFill>
                  <a:srgbClr val="262626"/>
                </a:solidFill>
                <a:latin typeface="Calibri"/>
                <a:cs typeface="Calibri"/>
              </a:rPr>
              <a:t>Gerenciamento</a:t>
            </a:r>
            <a:r>
              <a:rPr dirty="0" sz="700" spc="7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262626"/>
                </a:solidFill>
                <a:latin typeface="Calibri"/>
                <a:cs typeface="Calibri"/>
              </a:rPr>
              <a:t>de</a:t>
            </a:r>
            <a:r>
              <a:rPr dirty="0" sz="700" spc="1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262626"/>
                </a:solidFill>
                <a:latin typeface="Calibri"/>
                <a:cs typeface="Calibri"/>
              </a:rPr>
              <a:t>dados</a:t>
            </a:r>
            <a:r>
              <a:rPr dirty="0" sz="700" spc="4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262626"/>
                </a:solidFill>
                <a:latin typeface="Calibri"/>
                <a:cs typeface="Calibri"/>
              </a:rPr>
              <a:t>e</a:t>
            </a:r>
            <a:r>
              <a:rPr dirty="0" sz="700" spc="2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262626"/>
                </a:solidFill>
                <a:latin typeface="Calibri"/>
                <a:cs typeface="Calibri"/>
              </a:rPr>
              <a:t>interoperabilidade.</a:t>
            </a:r>
            <a:endParaRPr sz="7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710691" y="8244840"/>
            <a:ext cx="2918460" cy="1068705"/>
            <a:chOff x="710691" y="8244840"/>
            <a:chExt cx="2918460" cy="1068705"/>
          </a:xfrm>
        </p:grpSpPr>
        <p:sp>
          <p:nvSpPr>
            <p:cNvPr id="21" name="object 21"/>
            <p:cNvSpPr/>
            <p:nvPr/>
          </p:nvSpPr>
          <p:spPr>
            <a:xfrm>
              <a:off x="713231" y="9070848"/>
              <a:ext cx="2752725" cy="0"/>
            </a:xfrm>
            <a:custGeom>
              <a:avLst/>
              <a:gdLst/>
              <a:ahLst/>
              <a:cxnLst/>
              <a:rect l="l" t="t" r="r" b="b"/>
              <a:pathLst>
                <a:path w="2752725" h="0">
                  <a:moveTo>
                    <a:pt x="0" y="0"/>
                  </a:moveTo>
                  <a:lnTo>
                    <a:pt x="2752343" y="0"/>
                  </a:lnTo>
                </a:path>
              </a:pathLst>
            </a:custGeom>
            <a:ln w="4572">
              <a:solidFill>
                <a:srgbClr val="07347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703575" y="8244840"/>
              <a:ext cx="925067" cy="1068324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534923" y="7577328"/>
            <a:ext cx="3086100" cy="1728470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endParaRPr sz="1000">
              <a:latin typeface="Times New Roman"/>
              <a:cs typeface="Times New Roman"/>
            </a:endParaRPr>
          </a:p>
          <a:p>
            <a:pPr marL="229870">
              <a:lnSpc>
                <a:spcPct val="100000"/>
              </a:lnSpc>
            </a:pPr>
            <a:r>
              <a:rPr dirty="0" sz="1000" b="1">
                <a:solidFill>
                  <a:srgbClr val="073472"/>
                </a:solidFill>
                <a:latin typeface="Calibri"/>
                <a:cs typeface="Calibri"/>
              </a:rPr>
              <a:t>Computação</a:t>
            </a:r>
            <a:r>
              <a:rPr dirty="0" sz="1000" spc="45" b="1">
                <a:solidFill>
                  <a:srgbClr val="073472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073472"/>
                </a:solidFill>
                <a:latin typeface="Calibri"/>
                <a:cs typeface="Calibri"/>
              </a:rPr>
              <a:t>em</a:t>
            </a:r>
            <a:r>
              <a:rPr dirty="0" sz="1000" spc="45" b="1">
                <a:solidFill>
                  <a:srgbClr val="073472"/>
                </a:solidFill>
                <a:latin typeface="Calibri"/>
                <a:cs typeface="Calibri"/>
              </a:rPr>
              <a:t> </a:t>
            </a:r>
            <a:r>
              <a:rPr dirty="0" sz="1000" spc="-20" b="1">
                <a:solidFill>
                  <a:srgbClr val="073472"/>
                </a:solidFill>
                <a:latin typeface="Calibri"/>
                <a:cs typeface="Calibri"/>
              </a:rPr>
              <a:t>nuvem</a:t>
            </a:r>
            <a:endParaRPr sz="1000">
              <a:latin typeface="Calibri"/>
              <a:cs typeface="Calibri"/>
            </a:endParaRPr>
          </a:p>
          <a:p>
            <a:pPr marL="1409700" marR="50800">
              <a:lnSpc>
                <a:spcPts val="720"/>
              </a:lnSpc>
              <a:spcBef>
                <a:spcPts val="409"/>
              </a:spcBef>
            </a:pPr>
            <a:r>
              <a:rPr dirty="0" sz="650">
                <a:latin typeface="Calibri"/>
                <a:cs typeface="Calibri"/>
              </a:rPr>
              <a:t>Recursos</a:t>
            </a:r>
            <a:r>
              <a:rPr dirty="0" sz="650" spc="185">
                <a:latin typeface="Calibri"/>
                <a:cs typeface="Calibri"/>
              </a:rPr>
              <a:t>  </a:t>
            </a:r>
            <a:r>
              <a:rPr dirty="0" sz="650">
                <a:latin typeface="Calibri"/>
                <a:cs typeface="Calibri"/>
              </a:rPr>
              <a:t>de</a:t>
            </a:r>
            <a:r>
              <a:rPr dirty="0" sz="650" spc="185">
                <a:latin typeface="Calibri"/>
                <a:cs typeface="Calibri"/>
              </a:rPr>
              <a:t>  </a:t>
            </a:r>
            <a:r>
              <a:rPr dirty="0" sz="650">
                <a:latin typeface="Calibri"/>
                <a:cs typeface="Calibri"/>
              </a:rPr>
              <a:t>computação</a:t>
            </a:r>
            <a:r>
              <a:rPr dirty="0" sz="650" spc="195">
                <a:latin typeface="Calibri"/>
                <a:cs typeface="Calibri"/>
              </a:rPr>
              <a:t>  </a:t>
            </a:r>
            <a:r>
              <a:rPr dirty="0" sz="650">
                <a:latin typeface="Calibri"/>
                <a:cs typeface="Calibri"/>
              </a:rPr>
              <a:t>oferecidos</a:t>
            </a:r>
            <a:r>
              <a:rPr dirty="0" sz="650" spc="190">
                <a:latin typeface="Calibri"/>
                <a:cs typeface="Calibri"/>
              </a:rPr>
              <a:t>  </a:t>
            </a:r>
            <a:r>
              <a:rPr dirty="0" sz="650" spc="-25">
                <a:latin typeface="Calibri"/>
                <a:cs typeface="Calibri"/>
              </a:rPr>
              <a:t>por</a:t>
            </a:r>
            <a:r>
              <a:rPr dirty="0" sz="650" spc="50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provedores</a:t>
            </a:r>
            <a:r>
              <a:rPr dirty="0" sz="650" spc="4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de</a:t>
            </a:r>
            <a:r>
              <a:rPr dirty="0" sz="650" spc="2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serviços</a:t>
            </a:r>
            <a:r>
              <a:rPr dirty="0" sz="650" spc="1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pela</a:t>
            </a:r>
            <a:r>
              <a:rPr dirty="0" sz="650" spc="20">
                <a:latin typeface="Calibri"/>
                <a:cs typeface="Calibri"/>
              </a:rPr>
              <a:t> </a:t>
            </a:r>
            <a:r>
              <a:rPr dirty="0" sz="650" spc="-10">
                <a:latin typeface="Calibri"/>
                <a:cs typeface="Calibri"/>
              </a:rPr>
              <a:t>internet:</a:t>
            </a:r>
            <a:endParaRPr sz="650">
              <a:latin typeface="Calibri"/>
              <a:cs typeface="Calibri"/>
            </a:endParaRPr>
          </a:p>
          <a:p>
            <a:pPr marL="1466215" indent="-56515">
              <a:lnSpc>
                <a:spcPct val="100000"/>
              </a:lnSpc>
              <a:spcBef>
                <a:spcPts val="325"/>
              </a:spcBef>
              <a:buFont typeface="Arial"/>
              <a:buChar char="•"/>
              <a:tabLst>
                <a:tab pos="1466215" algn="l"/>
              </a:tabLst>
            </a:pPr>
            <a:r>
              <a:rPr dirty="0" sz="650">
                <a:latin typeface="Calibri"/>
                <a:cs typeface="Calibri"/>
              </a:rPr>
              <a:t>IaaS:</a:t>
            </a:r>
            <a:r>
              <a:rPr dirty="0" sz="650" spc="2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Infraestrutura</a:t>
            </a:r>
            <a:r>
              <a:rPr dirty="0" sz="650" spc="2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como</a:t>
            </a:r>
            <a:r>
              <a:rPr dirty="0" sz="650" spc="10">
                <a:latin typeface="Calibri"/>
                <a:cs typeface="Calibri"/>
              </a:rPr>
              <a:t> </a:t>
            </a:r>
            <a:r>
              <a:rPr dirty="0" sz="650" spc="-10">
                <a:latin typeface="Calibri"/>
                <a:cs typeface="Calibri"/>
              </a:rPr>
              <a:t>serviço.</a:t>
            </a:r>
            <a:endParaRPr sz="650">
              <a:latin typeface="Calibri"/>
              <a:cs typeface="Calibri"/>
            </a:endParaRPr>
          </a:p>
          <a:p>
            <a:pPr marL="1466215" indent="-56515">
              <a:lnSpc>
                <a:spcPct val="100000"/>
              </a:lnSpc>
              <a:spcBef>
                <a:spcPts val="345"/>
              </a:spcBef>
              <a:buFont typeface="Arial"/>
              <a:buChar char="•"/>
              <a:tabLst>
                <a:tab pos="1466215" algn="l"/>
              </a:tabLst>
            </a:pPr>
            <a:r>
              <a:rPr dirty="0" sz="650">
                <a:latin typeface="Calibri"/>
                <a:cs typeface="Calibri"/>
              </a:rPr>
              <a:t>PaaS:</a:t>
            </a:r>
            <a:r>
              <a:rPr dirty="0" sz="650" spc="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Plataforma</a:t>
            </a:r>
            <a:r>
              <a:rPr dirty="0" sz="650" spc="3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como</a:t>
            </a:r>
            <a:r>
              <a:rPr dirty="0" sz="650" spc="-5">
                <a:latin typeface="Calibri"/>
                <a:cs typeface="Calibri"/>
              </a:rPr>
              <a:t> </a:t>
            </a:r>
            <a:r>
              <a:rPr dirty="0" sz="650" spc="-10">
                <a:latin typeface="Calibri"/>
                <a:cs typeface="Calibri"/>
              </a:rPr>
              <a:t>serviço.</a:t>
            </a:r>
            <a:endParaRPr sz="650">
              <a:latin typeface="Calibri"/>
              <a:cs typeface="Calibri"/>
            </a:endParaRPr>
          </a:p>
          <a:p>
            <a:pPr marL="1466215" indent="-56515">
              <a:lnSpc>
                <a:spcPct val="100000"/>
              </a:lnSpc>
              <a:spcBef>
                <a:spcPts val="350"/>
              </a:spcBef>
              <a:buFont typeface="Arial"/>
              <a:buChar char="•"/>
              <a:tabLst>
                <a:tab pos="1466215" algn="l"/>
              </a:tabLst>
            </a:pPr>
            <a:r>
              <a:rPr dirty="0" sz="650">
                <a:latin typeface="Calibri"/>
                <a:cs typeface="Calibri"/>
              </a:rPr>
              <a:t>SaaS:</a:t>
            </a:r>
            <a:r>
              <a:rPr dirty="0" sz="650" spc="20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Software</a:t>
            </a:r>
            <a:r>
              <a:rPr dirty="0" sz="650" spc="45">
                <a:latin typeface="Calibri"/>
                <a:cs typeface="Calibri"/>
              </a:rPr>
              <a:t> </a:t>
            </a:r>
            <a:r>
              <a:rPr dirty="0" sz="650">
                <a:latin typeface="Calibri"/>
                <a:cs typeface="Calibri"/>
              </a:rPr>
              <a:t>como</a:t>
            </a:r>
            <a:r>
              <a:rPr dirty="0" sz="650" spc="-15">
                <a:latin typeface="Calibri"/>
                <a:cs typeface="Calibri"/>
              </a:rPr>
              <a:t> </a:t>
            </a:r>
            <a:r>
              <a:rPr dirty="0" sz="650" spc="-10">
                <a:latin typeface="Calibri"/>
                <a:cs typeface="Calibri"/>
              </a:rPr>
              <a:t>serviço.</a:t>
            </a:r>
            <a:endParaRPr sz="6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6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6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6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70"/>
              </a:spcBef>
            </a:pPr>
            <a:endParaRPr sz="650">
              <a:latin typeface="Calibri"/>
              <a:cs typeface="Calibri"/>
            </a:endParaRPr>
          </a:p>
          <a:p>
            <a:pPr algn="ctr" marL="125730">
              <a:lnSpc>
                <a:spcPct val="100000"/>
              </a:lnSpc>
            </a:pPr>
            <a:r>
              <a:rPr dirty="0" sz="250" spc="-10">
                <a:latin typeface="Trebuchet MS"/>
                <a:cs typeface="Trebuchet MS"/>
              </a:rPr>
              <a:t>Fonte:</a:t>
            </a:r>
            <a:r>
              <a:rPr dirty="0" sz="250" spc="10">
                <a:latin typeface="Trebuchet MS"/>
                <a:cs typeface="Trebuchet MS"/>
              </a:rPr>
              <a:t> </a:t>
            </a:r>
            <a:r>
              <a:rPr dirty="0" sz="250" spc="-10">
                <a:latin typeface="Trebuchet MS"/>
                <a:cs typeface="Trebuchet MS"/>
              </a:rPr>
              <a:t>Shutterstock.</a:t>
            </a:r>
            <a:r>
              <a:rPr dirty="0" sz="250" spc="35">
                <a:latin typeface="Trebuchet MS"/>
                <a:cs typeface="Trebuchet MS"/>
              </a:rPr>
              <a:t> </a:t>
            </a:r>
            <a:r>
              <a:rPr dirty="0" sz="250">
                <a:latin typeface="Trebuchet MS"/>
                <a:cs typeface="Trebuchet MS"/>
              </a:rPr>
              <a:t>ID</a:t>
            </a:r>
            <a:r>
              <a:rPr dirty="0" sz="250" spc="20">
                <a:latin typeface="Trebuchet MS"/>
                <a:cs typeface="Trebuchet MS"/>
              </a:rPr>
              <a:t> </a:t>
            </a:r>
            <a:r>
              <a:rPr dirty="0" sz="250" spc="-10">
                <a:latin typeface="Trebuchet MS"/>
                <a:cs typeface="Trebuchet MS"/>
              </a:rPr>
              <a:t>2398459777.</a:t>
            </a:r>
            <a:endParaRPr sz="250">
              <a:latin typeface="Trebuchet MS"/>
              <a:cs typeface="Trebuchet MS"/>
            </a:endParaRPr>
          </a:p>
        </p:txBody>
      </p:sp>
      <p:pic>
        <p:nvPicPr>
          <p:cNvPr id="24" name="object 2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17804" y="7921752"/>
            <a:ext cx="1136904" cy="1136903"/>
          </a:xfrm>
          <a:prstGeom prst="rect">
            <a:avLst/>
          </a:prstGeom>
        </p:spPr>
      </p:pic>
      <p:grpSp>
        <p:nvGrpSpPr>
          <p:cNvPr id="25" name="object 25"/>
          <p:cNvGrpSpPr/>
          <p:nvPr/>
        </p:nvGrpSpPr>
        <p:grpSpPr>
          <a:xfrm>
            <a:off x="4116323" y="7950707"/>
            <a:ext cx="2917190" cy="1362710"/>
            <a:chOff x="4116323" y="7950707"/>
            <a:chExt cx="2917190" cy="1362710"/>
          </a:xfrm>
        </p:grpSpPr>
        <p:sp>
          <p:nvSpPr>
            <p:cNvPr id="26" name="object 26"/>
            <p:cNvSpPr/>
            <p:nvPr/>
          </p:nvSpPr>
          <p:spPr>
            <a:xfrm>
              <a:off x="4116323" y="9070848"/>
              <a:ext cx="2752725" cy="0"/>
            </a:xfrm>
            <a:custGeom>
              <a:avLst/>
              <a:gdLst/>
              <a:ahLst/>
              <a:cxnLst/>
              <a:rect l="l" t="t" r="r" b="b"/>
              <a:pathLst>
                <a:path w="2752725" h="0">
                  <a:moveTo>
                    <a:pt x="0" y="0"/>
                  </a:moveTo>
                  <a:lnTo>
                    <a:pt x="2752343" y="0"/>
                  </a:lnTo>
                </a:path>
              </a:pathLst>
            </a:custGeom>
            <a:ln w="4572">
              <a:solidFill>
                <a:srgbClr val="07347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106667" y="8244839"/>
              <a:ext cx="926592" cy="1068324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386864" y="7950707"/>
              <a:ext cx="1491504" cy="1040317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3938015" y="7577328"/>
            <a:ext cx="3088005" cy="1728470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endParaRPr sz="1000">
              <a:latin typeface="Times New Roman"/>
              <a:cs typeface="Times New Roman"/>
            </a:endParaRPr>
          </a:p>
          <a:p>
            <a:pPr marL="233045">
              <a:lnSpc>
                <a:spcPct val="100000"/>
              </a:lnSpc>
            </a:pPr>
            <a:r>
              <a:rPr dirty="0" sz="1000" b="1">
                <a:solidFill>
                  <a:srgbClr val="073472"/>
                </a:solidFill>
                <a:latin typeface="Calibri"/>
                <a:cs typeface="Calibri"/>
              </a:rPr>
              <a:t>Construção</a:t>
            </a:r>
            <a:r>
              <a:rPr dirty="0" sz="1000" spc="40" b="1">
                <a:solidFill>
                  <a:srgbClr val="073472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073472"/>
                </a:solidFill>
                <a:latin typeface="Calibri"/>
                <a:cs typeface="Calibri"/>
              </a:rPr>
              <a:t>de</a:t>
            </a:r>
            <a:r>
              <a:rPr dirty="0" sz="1000" spc="20" b="1">
                <a:solidFill>
                  <a:srgbClr val="073472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073472"/>
                </a:solidFill>
                <a:latin typeface="Calibri"/>
                <a:cs typeface="Calibri"/>
              </a:rPr>
              <a:t>objeto/instrumento</a:t>
            </a:r>
            <a:r>
              <a:rPr dirty="0" sz="1000" spc="60" b="1">
                <a:solidFill>
                  <a:srgbClr val="073472"/>
                </a:solidFill>
                <a:latin typeface="Calibri"/>
                <a:cs typeface="Calibri"/>
              </a:rPr>
              <a:t> </a:t>
            </a:r>
            <a:r>
              <a:rPr dirty="0" sz="1000" spc="-10" b="1">
                <a:solidFill>
                  <a:srgbClr val="073472"/>
                </a:solidFill>
                <a:latin typeface="Calibri"/>
                <a:cs typeface="Calibri"/>
              </a:rPr>
              <a:t>inteligente</a:t>
            </a: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sz="1000">
              <a:latin typeface="Calibri"/>
              <a:cs typeface="Calibri"/>
            </a:endParaRPr>
          </a:p>
          <a:p>
            <a:pPr algn="ctr" marR="498475">
              <a:lnSpc>
                <a:spcPct val="100000"/>
              </a:lnSpc>
              <a:spcBef>
                <a:spcPts val="5"/>
              </a:spcBef>
            </a:pPr>
            <a:r>
              <a:rPr dirty="0" sz="300" spc="-10">
                <a:latin typeface="Calibri"/>
                <a:cs typeface="Calibri"/>
              </a:rPr>
              <a:t>Fonte:</a:t>
            </a:r>
            <a:r>
              <a:rPr dirty="0" sz="300" spc="60">
                <a:latin typeface="Calibri"/>
                <a:cs typeface="Calibri"/>
              </a:rPr>
              <a:t> </a:t>
            </a:r>
            <a:r>
              <a:rPr dirty="0" sz="300" spc="-10">
                <a:latin typeface="Calibri"/>
                <a:cs typeface="Calibri"/>
              </a:rPr>
              <a:t>Curvello;</a:t>
            </a:r>
            <a:r>
              <a:rPr dirty="0" sz="300" spc="40">
                <a:latin typeface="Calibri"/>
                <a:cs typeface="Calibri"/>
              </a:rPr>
              <a:t> </a:t>
            </a:r>
            <a:r>
              <a:rPr dirty="0" sz="300" spc="-10">
                <a:latin typeface="Calibri"/>
                <a:cs typeface="Calibri"/>
              </a:rPr>
              <a:t>Vieira</a:t>
            </a:r>
            <a:r>
              <a:rPr dirty="0" sz="300" spc="40">
                <a:latin typeface="Calibri"/>
                <a:cs typeface="Calibri"/>
              </a:rPr>
              <a:t> </a:t>
            </a:r>
            <a:r>
              <a:rPr dirty="0" sz="300" spc="-10">
                <a:latin typeface="Calibri"/>
                <a:cs typeface="Calibri"/>
              </a:rPr>
              <a:t>(2019)</a:t>
            </a:r>
            <a:endParaRPr sz="3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16162" y="9378120"/>
            <a:ext cx="168275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 sz="1100" spc="-25">
                <a:solidFill>
                  <a:srgbClr val="262626"/>
                </a:solidFill>
                <a:latin typeface="Calibri"/>
                <a:cs typeface="Calibri"/>
              </a:rPr>
              <a:t>35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920421" y="9378120"/>
            <a:ext cx="168275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 sz="1100" spc="-25">
                <a:solidFill>
                  <a:srgbClr val="262626"/>
                </a:solidFill>
                <a:latin typeface="Calibri"/>
                <a:cs typeface="Calibri"/>
              </a:rPr>
              <a:t>36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16162" y="3145004"/>
            <a:ext cx="168275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25">
                <a:solidFill>
                  <a:srgbClr val="262626"/>
                </a:solidFill>
                <a:latin typeface="Calibri"/>
                <a:cs typeface="Calibri"/>
              </a:rPr>
              <a:t>31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920421" y="3145004"/>
            <a:ext cx="168275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25">
                <a:solidFill>
                  <a:srgbClr val="262626"/>
                </a:solidFill>
                <a:latin typeface="Calibri"/>
                <a:cs typeface="Calibri"/>
              </a:rPr>
              <a:t>32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16162" y="6244806"/>
            <a:ext cx="168275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25">
                <a:solidFill>
                  <a:srgbClr val="262626"/>
                </a:solidFill>
                <a:latin typeface="Calibri"/>
                <a:cs typeface="Calibri"/>
              </a:rPr>
              <a:t>33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920421" y="6244806"/>
            <a:ext cx="168275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25">
                <a:solidFill>
                  <a:srgbClr val="262626"/>
                </a:solidFill>
                <a:latin typeface="Calibri"/>
                <a:cs typeface="Calibri"/>
              </a:rPr>
              <a:t>34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28827" y="1373124"/>
            <a:ext cx="3100070" cy="1743710"/>
            <a:chOff x="528827" y="1373124"/>
            <a:chExt cx="3100070" cy="17437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8827" y="1373124"/>
              <a:ext cx="3099815" cy="174345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34923" y="1379220"/>
              <a:ext cx="3086100" cy="1729739"/>
            </a:xfrm>
            <a:custGeom>
              <a:avLst/>
              <a:gdLst/>
              <a:ahLst/>
              <a:cxnLst/>
              <a:rect l="l" t="t" r="r" b="b"/>
              <a:pathLst>
                <a:path w="3086100" h="1729739">
                  <a:moveTo>
                    <a:pt x="3086100" y="0"/>
                  </a:moveTo>
                  <a:lnTo>
                    <a:pt x="0" y="0"/>
                  </a:lnTo>
                  <a:lnTo>
                    <a:pt x="0" y="1729739"/>
                  </a:lnTo>
                  <a:lnTo>
                    <a:pt x="3086100" y="1729739"/>
                  </a:lnTo>
                  <a:lnTo>
                    <a:pt x="3086100" y="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/>
          <p:nvPr/>
        </p:nvSpPr>
        <p:spPr>
          <a:xfrm>
            <a:off x="516162" y="3145004"/>
            <a:ext cx="168275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25">
                <a:solidFill>
                  <a:srgbClr val="262626"/>
                </a:solidFill>
                <a:latin typeface="Calibri"/>
                <a:cs typeface="Calibri"/>
              </a:rPr>
              <a:t>37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73472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Renato Kazuo</dc:creator>
  <dc:title>Microsoft PowerPoint - SLIDES_AULA_03</dc:title>
  <dcterms:created xsi:type="dcterms:W3CDTF">2026-03-07T14:20:59Z</dcterms:created>
  <dcterms:modified xsi:type="dcterms:W3CDTF">2026-03-07T14:20:59Z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2024-12-14T00:00:00Z</vt:filetime>
  </property>
  <property fmtid="{D5CDD505-2E9C-101B-9397-08002B2CF9AE}" pid="3" name="LastSaved">
    <vt:filetime>2026-03-07T00:00:00Z</vt:filetime>
  </property>
  <property fmtid="{D5CDD505-2E9C-101B-9397-08002B2CF9AE}" pid="4" name="Producer">
    <vt:lpwstr>Microsoft: Print To PDF</vt:lpwstr>
  </property>
</Properties>
</file>